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5FBAD-5A08-EE46-A4B0-89499031B26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3B03D-A333-E64A-AA02-8633557A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4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.png" /><Relationship Id="rId4" Type="http://schemas.openxmlformats.org/officeDocument/2006/relationships/image" Target="../media/image10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822960"/>
            <a:ext cx="1097280" cy="10972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92608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57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ফার্টিলাইজার ট্র্যাকিং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" y="1005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ই-বিল সিস্টেম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365760" y="2057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TRACKING E-BILL SYSTEM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Microservices • Blockchain Architecture • Digital Agriculture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হাইব্রিড মাইক্রোসার্ভিস এবং ব্লকচেইন আর্কিটেকচারাল ব্লুপ্রিন্ট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অতিরিক্ত উপপরিচালক, উদ্যান, কুড়িগ্রাম  |  ২৬ অক্টোবর, ২০২৩  |  সংস্করণ ১.১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বর্তমান সমস্যাসমূহ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IN FERTILIZER DISTRIBUTION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ভর্তুকি চুরি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Diversion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2523744"/>
            <a:ext cx="9144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260604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প্রকৃত কৃষকের কাছে পৌঁছানোর আগেই অসাধু উপায়ে বরাদ্দ হাতবদল হয়ে যায়।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05156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051560"/>
            <a:ext cx="2011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88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ভুয়া সুবিধাভোগী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603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Beneficiaries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017520" y="2523744"/>
            <a:ext cx="9144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78608" y="260604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কাগজে-কলমে কৃষক সেজে ভুয়া ব্যক্তিরা সরকারি সুবিধা ভোগ করে প্রকৃত কৃষককে বঞ্চিত করে।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09160" y="105156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09160" y="1051560"/>
            <a:ext cx="2011680" cy="7315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1887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সার পাচার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006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Smuggling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257800" y="2523744"/>
            <a:ext cx="9144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18888" y="260604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ভর্তুকিযুক্ত সার নির্ধারিত সীমানা পেরিয়ে পাচার হয়। জিওফেন্সিং ব্যবস্থার অভাব।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949440" y="105156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49440" y="1051560"/>
            <a:ext cx="20116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18872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4088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অতিরিক্ত সার ব্যবহার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408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High-use Paradox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498080" y="2523744"/>
            <a:ext cx="9144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59168" y="260604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মাটির প্রয়োজন না বুঝেই অতিরিক্ত সার ব্যবহার — মাটির উর্বরতা নষ্ট ও অর্থের অপচয়।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সাধারণ ডাটাবেসে তথ্য বদলে ফেলা সহজ — কিন্তু ব্লকচেইনে তথ্যের কারচুপি করা অসম্ভব।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ব্লকচেইনের মূল ৩টি স্তম্ভ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BLOCKCHAIN TECHNOLOGY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232336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(হ্যাশিং)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816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ডিজিটাল আঙুলের ছাপ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Algorithm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3410712"/>
            <a:ext cx="1828800" cy="36576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4930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যদি তথ্যের একটি কমা বা একটি সংখ্যাও (যেমন ১০ কেজির বদলে ১১ কেজি) পরিবর্তন করা হয়, তবে পুরো কোডটি বদলে যাবে। ফলে জালিয়াতি ধরা পড়বে মুহূর্তেই।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8688" y="1097280"/>
            <a:ext cx="2743200" cy="3749040"/>
          </a:xfrm>
          <a:prstGeom prst="rect">
            <a:avLst/>
          </a:prstGeom>
          <a:solidFill>
            <a:srgbClr val="232336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69164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10128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(অপরিবর্তনীয়তা)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10128" y="2816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পাথরে খোদাই করা লেখা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10128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Ledger Record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75888" y="3410712"/>
            <a:ext cx="1828800" cy="36576"/>
          </a:xfrm>
          <a:prstGeom prst="rect">
            <a:avLst/>
          </a:prstGeom>
          <a:solidFill>
            <a:srgbClr val="457B9D">
              <a:alpha val="50000"/>
            </a:srgbClr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28416" y="34930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একবার তথ্য জমা হয়ে গেলে তা আর কেউ মুছে বা বদলে ফেলতে পারে না। এটি একটি চিরস্থায়ী ডিজিটাল প্রমাণ যা ভর্তুকি জালিয়াতি রোধ করে।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63056" y="1097280"/>
            <a:ext cx="2743200" cy="3749040"/>
          </a:xfrm>
          <a:prstGeom prst="rect">
            <a:avLst/>
          </a:prstGeom>
          <a:solidFill>
            <a:srgbClr val="232336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63056" y="1097280"/>
            <a:ext cx="27432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54496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169164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54496" y="2816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ডিজিটাল 'গেটকিপার'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54496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Rule Enforcement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620256" y="3410712"/>
            <a:ext cx="1828800" cy="36576"/>
          </a:xfrm>
          <a:prstGeom prst="rect">
            <a:avLst/>
          </a:prstGeom>
          <a:solidFill>
            <a:srgbClr val="D4A017">
              <a:alpha val="5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72784" y="34930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মাটির স্বাস্থ্য কার্ডে ৫ কেজি সারের অনুমতি থাকলে, স্মার্ট কন্ট্রাক্ট স্বয়ংক্রিয়ভাবে ডিলারকে ১০ কেজি সার বিক্রি করতে বাধা দেবে।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সিস্টেম আর্কিটেকচার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MICROSERVICES ARCHITECTURE — LAYER BREAKDOWN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Ant Design + PWA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54680" y="11978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কৃষক ও ডিলারদের ইন্টারফেস; অফলাইন মোড সাপোর্ট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673352"/>
            <a:ext cx="18288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01368"/>
            <a:ext cx="8503920" cy="62179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WAF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1947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অথেন্টিকেশন, রেট লিমিটিং এবং সাইবার হামলা প্রতিরোধ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2423160"/>
            <a:ext cx="18288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51176"/>
            <a:ext cx="832104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Services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6974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ট্রানজাকশন প্রসেসিং, ভর্তুকি ক্যালকুলেশন ও বিজনেস লজিক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3172968"/>
            <a:ext cx="18288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00984"/>
            <a:ext cx="8138160" cy="6217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74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(Off-Chain)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3621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447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বিস্তারিত ট্রানজাকশন, ইউজার প্রোফাইল ও সয়েল হেলথ ডেটা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922776"/>
            <a:ext cx="18288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50792"/>
            <a:ext cx="795528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23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(On-Chain)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197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ট্রানজাকশন হ্যাশ এবং ভর্তুকি অডিট ট্রেইলের ইমিউটেবল স্টোরেজ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9145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Service: এনআইডি (NID) এবং ভূমি রেকর্ড ডাটাবেসের সাথে সিকিউর সংযোগ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অফ-চেইন ডেটা ম্যানেজমেন্ট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ARCHITECTURE — THE OFF-CHAIN LAYER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931920"/>
          </a:xfrm>
          <a:prstGeom prst="rect">
            <a:avLst/>
          </a:prstGeom>
          <a:solidFill>
            <a:srgbClr val="457B9D">
              <a:alpha val="12000"/>
            </a:srgbClr>
          </a:solidFill>
          <a:ln w="12700">
            <a:solidFill>
              <a:srgbClr val="A8DAD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430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কেন PostgreSQL?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2788920"/>
            <a:ext cx="2596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হাই-স্পিড কুয়েরি পারফরম্যান্স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ও ট্রানজাকশনাল ডেটা পৃথক রাখে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স্কেলেবিলিটির জন্য বড় ডেটা অফ-চেইনে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অডিটরদের দ্রুত রিপোর্ট প্রদান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JSONB ফরম্যাটে নমনীয় ডেটা স্টোর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005840"/>
            <a:ext cx="562356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এনক্রিপ্টেড PII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2900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national_id_hash (VARCHAR-64) — এনআইডি হাশ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1783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kyc_status — KYC যাচাইয়ের স্ট্যাটাস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233172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331720"/>
            <a:ext cx="5623560" cy="3840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Cards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STFFT মডেল ভিত্তিক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29000" y="2788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nutrient_levels (JSONB) — N, P, K মান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29000" y="3108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recommended_fertilizer_json — সারের ডোজ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91840" y="365760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1840" y="3657600"/>
            <a:ext cx="562356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Table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কোর ই-বিল সিস্টেম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4114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blockchain_tx_hash (VARCHAR-64) — ব্লকচেইন লিংক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429000" y="44348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location_geo (JSONB) — জিওফেন্সিং ডেটা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91840" y="4160520"/>
            <a:ext cx="5623560" cy="685800"/>
          </a:xfrm>
          <a:prstGeom prst="rect">
            <a:avLst/>
          </a:prstGeom>
          <a:solidFill>
            <a:srgbClr val="1B4332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29000" y="42245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এই অফ-চেইন ডেটা SHA-256 অ্যালগরিদমের মাধ্যমে ব্লকচেইনে 'Source of Truth for Integrity' হিসেবে জমা হয়।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অন-চেইন লেজার ইন্টিগ্রেশন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1A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— PERMISSIONED BLOCKCHAIN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কেন Hyperledger Fabric?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1420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A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Authority (PoA)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বিদ্যুৎ-সাশ্রয়ী ও উচ্চ থ্রুপুট নিশ্চিত করে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1420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A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Network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কেবল অনুমোদিত নোড (কৃষি মন্ত্রণালয়, কেন্দ্রীয় ব্যাংক) অংশ নিতে পারে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1420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A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জাতীয় ডেটা সার্বভৌমত্ব নিশ্চিত করে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343400" cy="3931920"/>
          </a:xfrm>
          <a:prstGeom prst="rect">
            <a:avLst/>
          </a:prstGeom>
          <a:solidFill>
            <a:srgbClr val="0A0F1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05840"/>
            <a:ext cx="43434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42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Chaincode (Smart Contract Logic)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417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submitTransaction(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663440" y="15864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ctx, txHash, dealerId, amount) {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663440" y="17556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663440" y="19248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ডিলার অথোরিটি যাচাই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663440" y="2093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(!isAuthorizedDealer(dealer))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663440" y="22631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1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Error('Access Denied');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663440" y="24323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663440" y="2601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ডুপ্লিকেট ট্রানজাকশন রোধ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663440" y="27706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1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(exists) throw new Error(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663440" y="29397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'Replay Detected');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663440" y="3108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663440" y="32781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লেজারে তথ্য সংরক্ষণ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663440" y="34472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ctx.stub.putState(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63440" y="36164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txHash, {dealerId, amount,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663440" y="37856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'VERIFIED'});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663440" y="39547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663440" y="41239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সরকারি অডিটর ইভেন্ট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663440" y="42931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ctx.setEvent('SubsidyClaim',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663440" y="44622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txHash);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63440" y="46314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ডেটা ইন্টিগ্রিটি ও SHA-256 হ্যাশ-লিংকিং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VERIFICATION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4241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37360"/>
            <a:ext cx="201168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রেকর্ড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24231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ডিলারের মাধ্যমে কৃষকের সার কেনার তথ্য ডাটাবেসে জমা হয়।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2057400"/>
            <a:ext cx="20116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005840"/>
            <a:ext cx="640080" cy="6400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4241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41448" y="173736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737360"/>
            <a:ext cx="2011680" cy="54864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হ্যাশ তৈরি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51176" y="24231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সিস্টেম তাৎক্ষণিকভাবে ট্রানজাকশন ডেটার একটি ইউনিক হ্যাশ তৈরি করে।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53128" y="2057400"/>
            <a:ext cx="20116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10058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4241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54296" y="173736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173736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সাবমিট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64024" y="24231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এই হ্যাশটি Hyperledger Fabric নেটওয়ার্কে স্থায়ীভাবে সংরক্ষিত হয়।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65976" y="2057400"/>
            <a:ext cx="20116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44384" y="1005840"/>
            <a:ext cx="640080" cy="6400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04241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৪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67144" y="173736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67144" y="1737360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8584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অডিট ভেরিফিকেশন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76872" y="24231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ভর্তুকি ছাড়ের আগে ডাটাবেসের হ্যাশ এবং অন-চেইন হ্যাশ মিলিয়ে স্বচ্ছতা নিশ্চিত।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4434840"/>
            <a:ext cx="8686800" cy="594360"/>
          </a:xfrm>
          <a:prstGeom prst="rect">
            <a:avLst/>
          </a:prstGeom>
          <a:solidFill>
            <a:srgbClr val="1B4332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622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যদি কেউ ডাটাবেসে ট্রানজাকশন তথ্য পরিবর্তন করে, সেই তথ্যের হ্যাশ ব্লকচেইনে থাকা অপরিবর্তনীয় হ্যাশের সাথে মিলবে না — জালিয়াতি তাৎক্ষণিকভাবে ধরা পড়বে।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সিকিউরিটি প্রোটোকল ও এক্সেস কন্ট্রোল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SECURITY | ROLE-BASED ACCESS CONTROL (RBAC)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ভেরিফিকেশন ও এক্সেস লেভেল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749808"/>
          </a:xfrm>
          <a:prstGeom prst="rect">
            <a:avLst/>
          </a:prstGeom>
          <a:solidFill>
            <a:srgbClr val="1C2E40"/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109728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ফোন নম্বর + OTP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সয়েল হেলথ কার্ড দেখা ও পরামর্শ গ্রহণ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1C2E40"/>
          </a:solidFill>
          <a:ln w="15240">
            <a:solidFill>
              <a:srgbClr val="457B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109728" cy="7498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+ বায়োমেট্রিক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ভর্তুকিযুক্ত সার ক্রয় এবং ই-ভাউচার ব্যবহার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8595360" cy="749808"/>
          </a:xfrm>
          <a:prstGeom prst="rect">
            <a:avLst/>
          </a:prstGeom>
          <a:solidFill>
            <a:srgbClr val="1C2E40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00400"/>
            <a:ext cx="10972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93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ভূমি রেকর্ড যাচাই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প্রিমিয়াম ভর্তুকি ও ক্লাইমেট-স্মার্ট ইনসেনটিভ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নিরাপত্তা চেকলিস্ট: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480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 — নিরাপদ সেশন ম্যানেজমেন্ট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4480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WAF — SQL Injection ও XSS প্রতিরোধ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DDoS Protection — API এন্ডপয়েন্টে রেট লিমিটিং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AES-256 এনক্রিপশন — ব্যক্তিগত তথ্যের সুরক্ষা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অপারেশনাল ওয়ার্কফ্লো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কৃষক রহিম মিয়ার সার কেনার বাস্তব উদাহরণ | FIELD-LEVEL TRANSACTION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8892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881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১.  নিবন্ধন ও NID যাচাই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এনআইডি দিয়ে নিবন্ধন। বর্গা চাষীদের জন্য সমবায় সার্টিফিকেট।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Validation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57B9D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88920" cy="4572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881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২.  সয়েল হেলথ কার্ড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মাটির N, P, K অনুযায়ী সারের সীমা নির্ধারণ। স্মার্ট কন্ট্রাক্ট প্রয়োগ।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Limit Enforcer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278892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881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৩.  QR কোড স্ক্যান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ডিলার কর্তৃক কৃষকের কিউআর স্ক্যান। জিওফেন্সিং সীমানা যাচাই।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8EC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26080"/>
            <a:ext cx="2788920" cy="4572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08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৪.  হ্যাশ তৈরি ও ব্লকচেইন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4564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সার বিক্রির সাথে সাথে SHA-256 হ্যাশ তৈরি ও ব্লকচেইনে স্থায়ী সংরক্ষণ।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297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&amp; Immutability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78892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08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৫.  স্বয়ংক্রিয় পেমেন্ট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4564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স্মার্ট কন্ট্রাক্ট ব্যাংককে নির্দেশ দেয় ডিলারের ভর্তুকির টাকা পরিশোধ করতে।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4297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Payment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788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26080"/>
            <a:ext cx="27889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08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৬.  অডিট ট্রেইল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4564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সরকারি অডিটররা রিয়েল-টাইমে সব ট্রানজাকশন পর্যবেক্ষণ করতে পারেন।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4297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ব্লকচেইনের সুফল ও অর্জন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BLOCKCHAIN IMPLEMENTATION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783080"/>
          </a:xfrm>
          <a:prstGeom prst="rect">
            <a:avLst/>
          </a:prstGeom>
          <a:solidFill>
            <a:srgbClr val="1C2E40"/>
          </a:solidFill>
          <a:ln w="19050">
            <a:solidFill>
              <a:srgbClr val="52B7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দুর্নীতিমুক্ত স্বচ্ছতা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33272" y="1444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Corruption-Free Transparency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1480" y="1755648"/>
            <a:ext cx="3840480" cy="27432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8470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ব্লকচেইনে তথ্য পরিবর্তন করা যায় না — ভুয়া কৃষক তৈরি বা সারের মজুত নিয়ে জালিয়াতি অসম্ভব। 'Un-fakeable' রেকর্ড সরকারি অডিটকে সহজ করে।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206240" cy="1783080"/>
          </a:xfrm>
          <a:prstGeom prst="rect">
            <a:avLst/>
          </a:prstGeom>
          <a:solidFill>
            <a:srgbClr val="1C2E40"/>
          </a:solidFill>
          <a:ln w="19050">
            <a:solidFill>
              <a:srgbClr val="457B9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ডিলারদের দ্রুত অর্থ প্রাপ্তি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13832" y="1444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Dealer Settlement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92040" y="1755648"/>
            <a:ext cx="3840480" cy="27432"/>
          </a:xfrm>
          <a:prstGeom prst="rect">
            <a:avLst/>
          </a:prstGeom>
          <a:solidFill>
            <a:srgbClr val="457B9D">
              <a:alpha val="50000"/>
            </a:srgbClr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18470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স্মার্ট কন্ট্রাক্টের মাধ্যমে লেনদেন নিশ্চিত হওয়া মাত্রই স্বয়ংক্রিয়ভাবে ডিলারের ব্যাংক অ্যাকাউন্টে ভর্তুকির টাকা চলে যায়।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971800"/>
            <a:ext cx="4206240" cy="1783080"/>
          </a:xfrm>
          <a:prstGeom prst="rect">
            <a:avLst/>
          </a:prstGeom>
          <a:solidFill>
            <a:srgbClr val="1C2E40"/>
          </a:solidFill>
          <a:ln w="19050">
            <a:solidFill>
              <a:srgbClr val="52B78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54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3272" y="3081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পরিবেশ রক্ষা ও NUE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33272" y="34107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11480" y="3721608"/>
            <a:ext cx="3840480" cy="27432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1480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সঠিক মাত্রায় সার ব্যবহারে মাটির স্বাস্থ্য ভালো থাকে এবং Nutrient Use Efficiency (NUE) বৃদ্ধি পায়।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206240" cy="1783080"/>
          </a:xfrm>
          <a:prstGeom prst="rect">
            <a:avLst/>
          </a:prstGeom>
          <a:solidFill>
            <a:srgbClr val="1C2E40"/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13832" y="3081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আন্তর্জাতিক জলবায়ু অর্থায়ন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13832" y="34107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Climate Fund Access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892040" y="3721608"/>
            <a:ext cx="384048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92040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স্বচ্ছ ব্লকচেইন রেকর্ডের কারণে বাংলাদেশ Green Climate Fund (GCF) থেকে আন্তর্জাতিক অনুদান পেতে এগিয়ে থাকবে।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বাস্তবায়ন রোডম্যাপ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4 PHASES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514600"/>
            <a:ext cx="8229600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235915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00584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201168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1033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ধাপ ১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0352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১–৩ মাস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852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কোর ব্যাকএন্ড উন্নয়ন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এনআইডি ভেরিফিকেশন সংযোগ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পাইলট এলাকা নির্বাচন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0" y="2359152"/>
            <a:ext cx="384048" cy="38404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51760" y="100584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57B9D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51760" y="1005840"/>
            <a:ext cx="2011680" cy="3840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24912" y="1033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ধাপ ২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24912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৪–৬ মাস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651760" y="27889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2852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সয়েল হেলথ মডিউল ইন্টিগ্রেশন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0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ডিলার ই-বিলিং চালু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QR কোড সিস্টেম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77840" y="235915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46320" y="100584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1005840"/>
            <a:ext cx="201168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1033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ধাপ ৩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19472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৭–১২ মাস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46320" y="27889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37760" y="2852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Hyperledger Fabric মোতায়েন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937760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স্মার্ট কন্ট্রাক্ট অ্যাক্টিভেশন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3776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সরকারি অডিট ড্যাশবোর্ড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772400" y="2359152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40880" y="100584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040880" y="1005840"/>
            <a:ext cx="201168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14032" y="1033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ধাপ ৪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114032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 বছর+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040880" y="27889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2852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এআই-চালিত কৃষি পরামর্শ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32320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দেশব্যাপী স্কেলিং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13232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GCF সংযোগ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28600" y="4526280"/>
            <a:ext cx="8686800" cy="457200"/>
          </a:xfrm>
          <a:prstGeom prst="rect">
            <a:avLst/>
          </a:prstGeom>
          <a:solidFill>
            <a:srgbClr val="1B4332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5537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ফিলিপাইন ও ভারতের ডিজিটাল কৃষি মডেলের সফল অভিজ্ঞতা থেকে অনুপ্রাণিত এবং বাংলাদেশের প্রান্তিক ও বর্গা চাষীদের জন্য অভিযোজিত।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640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5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উপসংহার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TOWARDS SMART BANGLADESH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325880"/>
            <a:ext cx="4572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463040"/>
            <a:ext cx="914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48132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ভারতের ই-বিল স্বচ্ছতা + চীনের সয়েল হেলথ কার্ড + ফিলিপাইনের সমবায় মডেল — একটি শক্তিশালী সমন্বয়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176272"/>
            <a:ext cx="914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19456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শুধু ভর্তুকি অপচয় কমাবে না — সারের সঠিক ব্যবহারে কৃষির টেকসই উন্নয়ন নিশ্চিত করবে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889504"/>
            <a:ext cx="914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90779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ব্লকচেইন অডিট ট্রেইল Green Climate Fund (GCF) অর্থায়নের পথ খুলে দেবে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602736"/>
            <a:ext cx="914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62102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প্রযুক্তি যখন কৃষকের হাতে পৌঁছায় — কেবল ফসল নয়, হাসে পুরো বাংলাদেশ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কৃষি ও প্রযুক্তির মেলবন্ধনই হবে একটি দুর্নীতিমুক্ত ও সমৃদ্ধ স্মার্ট বাংলাদেশের মূল ভিত্তি।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Fertilizer Tracking E-Bill System - Blockchain Architecture</dc:title>
  <dc:subject>PptxGenJS Presentation</dc:subject>
  <dc:creator>PptxGenJS</dc:creator>
  <cp:lastModifiedBy>Abu Md Moniruzjaman</cp:lastModifiedBy>
  <cp:revision>2</cp:revision>
  <dcterms:created xsi:type="dcterms:W3CDTF">2026-02-28T11:28:35Z</dcterms:created>
  <dcterms:modified xsi:type="dcterms:W3CDTF">2026-02-28T11:32:11Z</dcterms:modified>
</cp:coreProperties>
</file>