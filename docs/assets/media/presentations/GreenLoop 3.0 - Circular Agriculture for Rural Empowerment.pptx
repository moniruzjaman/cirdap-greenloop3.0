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FC5CB-E4F3-3441-9D1B-8FD93C8AE80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666BA2-1C17-C640-8933-89C1F74F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93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nglish.news.cn/d4684f67cc8f6e045415d3dc5010f858d72c8fd2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F3E3B">
                  <a:alpha val="90000"/>
                </a:srgbClr>
              </a:gs>
              <a:gs pos="50000">
                <a:srgbClr val="2F3E3B">
                  <a:alpha val="80000"/>
                </a:srgbClr>
              </a:gs>
              <a:gs pos="100000">
                <a:srgbClr val="4C8A7A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2628900" cy="381000"/>
          </a:xfrm>
          <a:custGeom>
            <a:avLst/>
            <a:gdLst/>
            <a:ahLst/>
            <a:cxnLst/>
            <a:rect l="l" t="t" r="r" b="b"/>
            <a:pathLst>
              <a:path w="2628900" h="381000">
                <a:moveTo>
                  <a:pt x="38100" y="0"/>
                </a:moveTo>
                <a:lnTo>
                  <a:pt x="2590800" y="0"/>
                </a:lnTo>
                <a:cubicBezTo>
                  <a:pt x="2611828" y="0"/>
                  <a:pt x="2628900" y="17072"/>
                  <a:pt x="2628900" y="38100"/>
                </a:cubicBezTo>
                <a:lnTo>
                  <a:pt x="2628900" y="342900"/>
                </a:lnTo>
                <a:cubicBezTo>
                  <a:pt x="2628900" y="363928"/>
                  <a:pt x="2611828" y="381000"/>
                  <a:pt x="25908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572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CIRDAP COMPETITION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59769"/>
            <a:ext cx="8877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GreenLoop 3.0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045619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312319"/>
            <a:ext cx="8705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7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Circular Agriculture for Rural Empowerment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088606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Efficiency-by-Design Architecture Transforming Asia-Pacific Agriculture Through 4IR Technologies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5905500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Master Proposal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21030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7164" y="5905500"/>
            <a:ext cx="1247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09551" y="62865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 Countries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60465" y="5905500"/>
            <a:ext cx="1295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3.0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312852" y="6286500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Layers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08415" y="5905500"/>
            <a:ext cx="1285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$72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660803" y="62865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Income Boost/Acre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457200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CONTEXT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763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High-Use Paradox: A Systemic Crisis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33525"/>
            <a:ext cx="5543550" cy="2009775"/>
          </a:xfrm>
          <a:custGeom>
            <a:avLst/>
            <a:gdLst/>
            <a:ahLst/>
            <a:cxnLst/>
            <a:rect l="l" t="t" r="r" b="b"/>
            <a:pathLst>
              <a:path w="5543550" h="2009775">
                <a:moveTo>
                  <a:pt x="38100" y="0"/>
                </a:moveTo>
                <a:lnTo>
                  <a:pt x="5505445" y="0"/>
                </a:lnTo>
                <a:cubicBezTo>
                  <a:pt x="5526490" y="0"/>
                  <a:pt x="5543550" y="17060"/>
                  <a:pt x="5543550" y="38105"/>
                </a:cubicBezTo>
                <a:lnTo>
                  <a:pt x="5543550" y="1971670"/>
                </a:lnTo>
                <a:cubicBezTo>
                  <a:pt x="5543550" y="1992715"/>
                  <a:pt x="5526490" y="2009775"/>
                  <a:pt x="5505445" y="2009775"/>
                </a:cubicBezTo>
                <a:lnTo>
                  <a:pt x="38100" y="2009775"/>
                </a:lnTo>
                <a:cubicBezTo>
                  <a:pt x="17072" y="2009775"/>
                  <a:pt x="0" y="1992703"/>
                  <a:pt x="0" y="1971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533525"/>
            <a:ext cx="38100" cy="2009775"/>
          </a:xfrm>
          <a:custGeom>
            <a:avLst/>
            <a:gdLst/>
            <a:ahLst/>
            <a:cxnLst/>
            <a:rect l="l" t="t" r="r" b="b"/>
            <a:pathLst>
              <a:path w="38100" h="2009775">
                <a:moveTo>
                  <a:pt x="38100" y="0"/>
                </a:moveTo>
                <a:lnTo>
                  <a:pt x="38100" y="0"/>
                </a:lnTo>
                <a:lnTo>
                  <a:pt x="38100" y="2009775"/>
                </a:lnTo>
                <a:lnTo>
                  <a:pt x="38100" y="2009775"/>
                </a:lnTo>
                <a:cubicBezTo>
                  <a:pt x="17072" y="2009775"/>
                  <a:pt x="0" y="1992703"/>
                  <a:pt x="0" y="1971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Text 5"/>
          <p:cNvSpPr/>
          <p:nvPr/>
        </p:nvSpPr>
        <p:spPr>
          <a:xfrm>
            <a:off x="647700" y="1762125"/>
            <a:ext cx="5162550" cy="1552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agriculture faces a critical paradox:</a:t>
            </a:r>
            <a:r>
              <a:rPr lang="en-US" sz="150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nitrogen fertilizer intensification historically ensured food sovereignty, the legacy model has reached systemic saturation. Nutrient Use Efficiency (NUE) has collapsed significantly, creating a dangerous decoupling of input from productivity.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767138"/>
            <a:ext cx="2705100" cy="1143000"/>
          </a:xfrm>
          <a:custGeom>
            <a:avLst/>
            <a:gdLst/>
            <a:ahLst/>
            <a:cxnLst/>
            <a:rect l="l" t="t" r="r" b="b"/>
            <a:pathLst>
              <a:path w="2705100" h="1143000">
                <a:moveTo>
                  <a:pt x="38096" y="0"/>
                </a:moveTo>
                <a:lnTo>
                  <a:pt x="2667004" y="0"/>
                </a:lnTo>
                <a:cubicBezTo>
                  <a:pt x="2688044" y="0"/>
                  <a:pt x="2705100" y="17056"/>
                  <a:pt x="2705100" y="38096"/>
                </a:cubicBezTo>
                <a:lnTo>
                  <a:pt x="2705100" y="1104904"/>
                </a:lnTo>
                <a:cubicBezTo>
                  <a:pt x="2705100" y="1125944"/>
                  <a:pt x="2688044" y="1143000"/>
                  <a:pt x="2667004" y="1143000"/>
                </a:cubicBezTo>
                <a:lnTo>
                  <a:pt x="38096" y="1143000"/>
                </a:lnTo>
                <a:cubicBezTo>
                  <a:pt x="17056" y="1143000"/>
                  <a:pt x="0" y="1125944"/>
                  <a:pt x="0" y="11049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957638"/>
            <a:ext cx="2552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61%→50%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4491038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China NUE Decline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38500" y="3767138"/>
            <a:ext cx="2705100" cy="1143000"/>
          </a:xfrm>
          <a:custGeom>
            <a:avLst/>
            <a:gdLst/>
            <a:ahLst/>
            <a:cxnLst/>
            <a:rect l="l" t="t" r="r" b="b"/>
            <a:pathLst>
              <a:path w="2705100" h="1143000">
                <a:moveTo>
                  <a:pt x="38096" y="0"/>
                </a:moveTo>
                <a:lnTo>
                  <a:pt x="2667004" y="0"/>
                </a:lnTo>
                <a:cubicBezTo>
                  <a:pt x="2688044" y="0"/>
                  <a:pt x="2705100" y="17056"/>
                  <a:pt x="2705100" y="38096"/>
                </a:cubicBezTo>
                <a:lnTo>
                  <a:pt x="2705100" y="1104904"/>
                </a:lnTo>
                <a:cubicBezTo>
                  <a:pt x="2705100" y="1125944"/>
                  <a:pt x="2688044" y="1143000"/>
                  <a:pt x="2667004" y="1143000"/>
                </a:cubicBezTo>
                <a:lnTo>
                  <a:pt x="38096" y="1143000"/>
                </a:lnTo>
                <a:cubicBezTo>
                  <a:pt x="17056" y="1143000"/>
                  <a:pt x="0" y="1125944"/>
                  <a:pt x="0" y="11049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12" name="Text 10"/>
          <p:cNvSpPr/>
          <p:nvPr/>
        </p:nvSpPr>
        <p:spPr>
          <a:xfrm>
            <a:off x="3314700" y="3957638"/>
            <a:ext cx="2552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50%→42%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90900" y="4491038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 NUE Decline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5138738"/>
            <a:ext cx="5562600" cy="1362075"/>
          </a:xfrm>
          <a:custGeom>
            <a:avLst/>
            <a:gdLst/>
            <a:ahLst/>
            <a:cxnLst/>
            <a:rect l="l" t="t" r="r" b="b"/>
            <a:pathLst>
              <a:path w="5562600" h="1362075">
                <a:moveTo>
                  <a:pt x="38097" y="0"/>
                </a:moveTo>
                <a:lnTo>
                  <a:pt x="5524503" y="0"/>
                </a:lnTo>
                <a:cubicBezTo>
                  <a:pt x="5545543" y="0"/>
                  <a:pt x="5562600" y="17057"/>
                  <a:pt x="5562600" y="38097"/>
                </a:cubicBezTo>
                <a:lnTo>
                  <a:pt x="5562600" y="1323978"/>
                </a:lnTo>
                <a:cubicBezTo>
                  <a:pt x="5562600" y="1345018"/>
                  <a:pt x="5545543" y="1362075"/>
                  <a:pt x="5524503" y="1362075"/>
                </a:cubicBezTo>
                <a:lnTo>
                  <a:pt x="38097" y="1362075"/>
                </a:lnTo>
                <a:cubicBezTo>
                  <a:pt x="17057" y="1362075"/>
                  <a:pt x="0" y="1345018"/>
                  <a:pt x="0" y="1323978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9600" y="53387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6" name="Text 14"/>
          <p:cNvSpPr/>
          <p:nvPr/>
        </p:nvSpPr>
        <p:spPr>
          <a:xfrm>
            <a:off x="1081088" y="5329238"/>
            <a:ext cx="2305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Inorganic Value Leaks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5748338"/>
            <a:ext cx="52673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Ghost beneficiaries and subsidy diversion account for </a:t>
            </a:r>
            <a:r>
              <a:rPr lang="en-US" sz="1350" b="1" dirty="0">
                <a:solidFill>
                  <a:srgbClr val="2F3E3B"/>
                </a:solidFill>
                <a:highlight>
                  <a:srgbClr val="8FB7A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6-20% of total sales value </a:t>
            </a:r>
            <a:r>
              <a:rPr lang="en-US" sz="13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undermining fiscal governance and farmer trust.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8400" y="1633538"/>
            <a:ext cx="5562600" cy="2743200"/>
          </a:xfrm>
          <a:custGeom>
            <a:avLst/>
            <a:gdLst/>
            <a:ahLst/>
            <a:cxnLst/>
            <a:rect l="l" t="t" r="r" b="b"/>
            <a:pathLst>
              <a:path w="5562600" h="2743200">
                <a:moveTo>
                  <a:pt x="38103" y="0"/>
                </a:moveTo>
                <a:lnTo>
                  <a:pt x="5524497" y="0"/>
                </a:lnTo>
                <a:cubicBezTo>
                  <a:pt x="5545541" y="0"/>
                  <a:pt x="5562600" y="17059"/>
                  <a:pt x="5562600" y="38103"/>
                </a:cubicBezTo>
                <a:lnTo>
                  <a:pt x="5562600" y="2705097"/>
                </a:lnTo>
                <a:cubicBezTo>
                  <a:pt x="5562600" y="2726141"/>
                  <a:pt x="5545541" y="2743200"/>
                  <a:pt x="5524497" y="2743200"/>
                </a:cubicBezTo>
                <a:lnTo>
                  <a:pt x="38103" y="2743200"/>
                </a:lnTo>
                <a:cubicBezTo>
                  <a:pt x="17059" y="2743200"/>
                  <a:pt x="0" y="2726141"/>
                  <a:pt x="0" y="27050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4150" y="190023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228600"/>
                </a:moveTo>
                <a:cubicBezTo>
                  <a:pt x="38398" y="228600"/>
                  <a:pt x="0" y="190202"/>
                  <a:pt x="0" y="142875"/>
                </a:cubicBezTo>
                <a:cubicBezTo>
                  <a:pt x="0" y="102156"/>
                  <a:pt x="58132" y="20494"/>
                  <a:pt x="74384" y="-1563"/>
                </a:cubicBezTo>
                <a:cubicBezTo>
                  <a:pt x="77019" y="-5135"/>
                  <a:pt x="81171" y="-7144"/>
                  <a:pt x="85636" y="-7144"/>
                </a:cubicBezTo>
                <a:lnTo>
                  <a:pt x="85814" y="-7144"/>
                </a:lnTo>
                <a:cubicBezTo>
                  <a:pt x="90279" y="-7144"/>
                  <a:pt x="94431" y="-5135"/>
                  <a:pt x="97066" y="-1563"/>
                </a:cubicBezTo>
                <a:cubicBezTo>
                  <a:pt x="113318" y="20494"/>
                  <a:pt x="171450" y="102156"/>
                  <a:pt x="171450" y="142875"/>
                </a:cubicBezTo>
                <a:cubicBezTo>
                  <a:pt x="171450" y="190202"/>
                  <a:pt x="133052" y="228600"/>
                  <a:pt x="85725" y="228600"/>
                </a:cubicBezTo>
                <a:close/>
                <a:moveTo>
                  <a:pt x="50006" y="139303"/>
                </a:moveTo>
                <a:cubicBezTo>
                  <a:pt x="50006" y="133365"/>
                  <a:pt x="45229" y="128588"/>
                  <a:pt x="39291" y="128588"/>
                </a:cubicBezTo>
                <a:cubicBezTo>
                  <a:pt x="33352" y="128588"/>
                  <a:pt x="28575" y="133365"/>
                  <a:pt x="28575" y="139303"/>
                </a:cubicBezTo>
                <a:cubicBezTo>
                  <a:pt x="28575" y="172834"/>
                  <a:pt x="55766" y="200025"/>
                  <a:pt x="89297" y="200025"/>
                </a:cubicBezTo>
                <a:cubicBezTo>
                  <a:pt x="95235" y="200025"/>
                  <a:pt x="100013" y="195248"/>
                  <a:pt x="100013" y="189309"/>
                </a:cubicBezTo>
                <a:cubicBezTo>
                  <a:pt x="100013" y="183371"/>
                  <a:pt x="95235" y="178594"/>
                  <a:pt x="89297" y="178594"/>
                </a:cubicBezTo>
                <a:cubicBezTo>
                  <a:pt x="67598" y="178594"/>
                  <a:pt x="50006" y="161002"/>
                  <a:pt x="50006" y="139303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0" name="Text 18"/>
          <p:cNvSpPr/>
          <p:nvPr/>
        </p:nvSpPr>
        <p:spPr>
          <a:xfrm>
            <a:off x="6762750" y="1862138"/>
            <a:ext cx="493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Water Inefficiency Crisis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7000" y="2319338"/>
            <a:ext cx="5105400" cy="1219200"/>
          </a:xfrm>
          <a:custGeom>
            <a:avLst/>
            <a:gdLst/>
            <a:ahLst/>
            <a:cxnLst/>
            <a:rect l="l" t="t" r="r" b="b"/>
            <a:pathLst>
              <a:path w="5105400" h="1219200">
                <a:moveTo>
                  <a:pt x="38100" y="0"/>
                </a:moveTo>
                <a:lnTo>
                  <a:pt x="5067300" y="0"/>
                </a:lnTo>
                <a:cubicBezTo>
                  <a:pt x="5088328" y="0"/>
                  <a:pt x="5105400" y="17072"/>
                  <a:pt x="5105400" y="38100"/>
                </a:cubicBezTo>
                <a:lnTo>
                  <a:pt x="5105400" y="1181100"/>
                </a:lnTo>
                <a:cubicBezTo>
                  <a:pt x="5105400" y="1202128"/>
                  <a:pt x="5088328" y="1219200"/>
                  <a:pt x="50673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2471738"/>
            <a:ext cx="5086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4C8A7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78%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3119438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Boro rice irrigation water is used inefficiently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7000" y="3652838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represents massive resource waste in a region where water scarcity is intensifying due to climate change.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48400" y="4567238"/>
            <a:ext cx="5562600" cy="1828800"/>
          </a:xfrm>
          <a:custGeom>
            <a:avLst/>
            <a:gdLst/>
            <a:ahLst/>
            <a:cxnLst/>
            <a:rect l="l" t="t" r="r" b="b"/>
            <a:pathLst>
              <a:path w="5562600" h="1828800">
                <a:moveTo>
                  <a:pt x="38094" y="0"/>
                </a:moveTo>
                <a:lnTo>
                  <a:pt x="5524506" y="0"/>
                </a:lnTo>
                <a:cubicBezTo>
                  <a:pt x="5545545" y="0"/>
                  <a:pt x="5562600" y="17055"/>
                  <a:pt x="5562600" y="38094"/>
                </a:cubicBezTo>
                <a:lnTo>
                  <a:pt x="5562600" y="1790706"/>
                </a:lnTo>
                <a:cubicBezTo>
                  <a:pt x="5562600" y="1811745"/>
                  <a:pt x="5545545" y="1828800"/>
                  <a:pt x="5524506" y="1828800"/>
                </a:cubicBezTo>
                <a:lnTo>
                  <a:pt x="38094" y="1828800"/>
                </a:lnTo>
                <a:cubicBezTo>
                  <a:pt x="17055" y="1828800"/>
                  <a:pt x="0" y="1811745"/>
                  <a:pt x="0" y="1790706"/>
                </a:cubicBezTo>
                <a:lnTo>
                  <a:pt x="0" y="38094"/>
                </a:lnTo>
                <a:cubicBezTo>
                  <a:pt x="0" y="17055"/>
                  <a:pt x="17055" y="0"/>
                  <a:pt x="38094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4156" y="4986338"/>
            <a:ext cx="214313" cy="342900"/>
          </a:xfrm>
          <a:custGeom>
            <a:avLst/>
            <a:gdLst/>
            <a:ahLst/>
            <a:cxnLst/>
            <a:rect l="l" t="t" r="r" b="b"/>
            <a:pathLst>
              <a:path w="214313" h="342900">
                <a:moveTo>
                  <a:pt x="91083" y="16073"/>
                </a:moveTo>
                <a:cubicBezTo>
                  <a:pt x="91083" y="7166"/>
                  <a:pt x="98249" y="0"/>
                  <a:pt x="107156" y="0"/>
                </a:cubicBezTo>
                <a:cubicBezTo>
                  <a:pt x="116064" y="0"/>
                  <a:pt x="123230" y="7166"/>
                  <a:pt x="123230" y="16073"/>
                </a:cubicBezTo>
                <a:lnTo>
                  <a:pt x="123230" y="42863"/>
                </a:lnTo>
                <a:lnTo>
                  <a:pt x="160734" y="42863"/>
                </a:lnTo>
                <a:cubicBezTo>
                  <a:pt x="172589" y="42863"/>
                  <a:pt x="182166" y="52440"/>
                  <a:pt x="182166" y="64294"/>
                </a:cubicBezTo>
                <a:cubicBezTo>
                  <a:pt x="182166" y="76148"/>
                  <a:pt x="172589" y="85725"/>
                  <a:pt x="160734" y="85725"/>
                </a:cubicBezTo>
                <a:lnTo>
                  <a:pt x="83783" y="85725"/>
                </a:lnTo>
                <a:cubicBezTo>
                  <a:pt x="67107" y="85725"/>
                  <a:pt x="53578" y="99253"/>
                  <a:pt x="53578" y="115930"/>
                </a:cubicBezTo>
                <a:cubicBezTo>
                  <a:pt x="53578" y="130999"/>
                  <a:pt x="64629" y="143723"/>
                  <a:pt x="79497" y="145866"/>
                </a:cubicBezTo>
                <a:lnTo>
                  <a:pt x="140843" y="154640"/>
                </a:lnTo>
                <a:cubicBezTo>
                  <a:pt x="176875" y="159797"/>
                  <a:pt x="203597" y="190604"/>
                  <a:pt x="203597" y="226970"/>
                </a:cubicBezTo>
                <a:cubicBezTo>
                  <a:pt x="203597" y="267355"/>
                  <a:pt x="170847" y="300038"/>
                  <a:pt x="130530" y="300038"/>
                </a:cubicBezTo>
                <a:lnTo>
                  <a:pt x="123230" y="300038"/>
                </a:lnTo>
                <a:lnTo>
                  <a:pt x="123230" y="326827"/>
                </a:lnTo>
                <a:cubicBezTo>
                  <a:pt x="123230" y="335734"/>
                  <a:pt x="116064" y="342900"/>
                  <a:pt x="107156" y="342900"/>
                </a:cubicBezTo>
                <a:cubicBezTo>
                  <a:pt x="98249" y="342900"/>
                  <a:pt x="91083" y="335734"/>
                  <a:pt x="91083" y="326827"/>
                </a:cubicBezTo>
                <a:lnTo>
                  <a:pt x="91083" y="300038"/>
                </a:lnTo>
                <a:lnTo>
                  <a:pt x="42863" y="300038"/>
                </a:lnTo>
                <a:cubicBezTo>
                  <a:pt x="31008" y="300038"/>
                  <a:pt x="21431" y="290460"/>
                  <a:pt x="21431" y="278606"/>
                </a:cubicBezTo>
                <a:cubicBezTo>
                  <a:pt x="21431" y="266752"/>
                  <a:pt x="31008" y="257175"/>
                  <a:pt x="42863" y="257175"/>
                </a:cubicBezTo>
                <a:lnTo>
                  <a:pt x="130530" y="257175"/>
                </a:lnTo>
                <a:cubicBezTo>
                  <a:pt x="147206" y="257175"/>
                  <a:pt x="160734" y="243647"/>
                  <a:pt x="160734" y="226970"/>
                </a:cubicBezTo>
                <a:cubicBezTo>
                  <a:pt x="160734" y="211901"/>
                  <a:pt x="149684" y="199177"/>
                  <a:pt x="134816" y="197034"/>
                </a:cubicBezTo>
                <a:lnTo>
                  <a:pt x="73469" y="188260"/>
                </a:lnTo>
                <a:cubicBezTo>
                  <a:pt x="37438" y="183170"/>
                  <a:pt x="10716" y="152296"/>
                  <a:pt x="10716" y="115930"/>
                </a:cubicBezTo>
                <a:cubicBezTo>
                  <a:pt x="10716" y="75612"/>
                  <a:pt x="43465" y="42863"/>
                  <a:pt x="83783" y="42863"/>
                </a:cubicBezTo>
                <a:lnTo>
                  <a:pt x="91083" y="42863"/>
                </a:lnTo>
                <a:lnTo>
                  <a:pt x="91083" y="1607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058025" y="4795838"/>
            <a:ext cx="2152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$8B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58025" y="5253038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Fiscal Drain (India)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7000" y="5672138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economic burden of inefficient input-heavy models demands urgent architectural intervention.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45720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GreenLoop 3.0: Efficiency-by-Design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43025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three-layer integrated system targeting the 3.5% efficiency gain potential inherent in digital transformation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704975"/>
            <a:ext cx="3686175" cy="2705100"/>
          </a:xfrm>
          <a:custGeom>
            <a:avLst/>
            <a:gdLst/>
            <a:ahLst/>
            <a:cxnLst/>
            <a:rect l="l" t="t" r="r" b="b"/>
            <a:pathLst>
              <a:path w="3686175" h="2705100">
                <a:moveTo>
                  <a:pt x="38088" y="0"/>
                </a:moveTo>
                <a:lnTo>
                  <a:pt x="3648087" y="0"/>
                </a:lnTo>
                <a:cubicBezTo>
                  <a:pt x="3669123" y="0"/>
                  <a:pt x="3686175" y="17052"/>
                  <a:pt x="3686175" y="38088"/>
                </a:cubicBezTo>
                <a:lnTo>
                  <a:pt x="3686175" y="2667012"/>
                </a:lnTo>
                <a:cubicBezTo>
                  <a:pt x="3686175" y="2688048"/>
                  <a:pt x="3669123" y="2705100"/>
                  <a:pt x="3648087" y="2705100"/>
                </a:cubicBezTo>
                <a:lnTo>
                  <a:pt x="38088" y="2705100"/>
                </a:lnTo>
                <a:cubicBezTo>
                  <a:pt x="17052" y="2705100"/>
                  <a:pt x="0" y="2688048"/>
                  <a:pt x="0" y="2667012"/>
                </a:cubicBezTo>
                <a:lnTo>
                  <a:pt x="0" y="38088"/>
                </a:lnTo>
                <a:cubicBezTo>
                  <a:pt x="0" y="17067"/>
                  <a:pt x="17067" y="0"/>
                  <a:pt x="380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1000" y="1704975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914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Shape 7"/>
          <p:cNvSpPr/>
          <p:nvPr/>
        </p:nvSpPr>
        <p:spPr>
          <a:xfrm>
            <a:off x="723900" y="2066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952625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2143125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Physical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562225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Hardware-driven precision restoring soil health and mitigating environmental externalities through low-latency data loops.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0550" y="3467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814388" y="3419475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12-Parameter Sensor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0550" y="3752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6" name="Text 14"/>
          <p:cNvSpPr/>
          <p:nvPr/>
        </p:nvSpPr>
        <p:spPr>
          <a:xfrm>
            <a:off x="814388" y="3705225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3F4D+MD Irrigation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0550" y="4038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8" name="Text 16"/>
          <p:cNvSpPr/>
          <p:nvPr/>
        </p:nvSpPr>
        <p:spPr>
          <a:xfrm>
            <a:off x="814388" y="3990975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Solar Cold Chain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54482" y="1704975"/>
            <a:ext cx="3686175" cy="2705100"/>
          </a:xfrm>
          <a:custGeom>
            <a:avLst/>
            <a:gdLst/>
            <a:ahLst/>
            <a:cxnLst/>
            <a:rect l="l" t="t" r="r" b="b"/>
            <a:pathLst>
              <a:path w="3686175" h="2705100">
                <a:moveTo>
                  <a:pt x="38088" y="0"/>
                </a:moveTo>
                <a:lnTo>
                  <a:pt x="3648087" y="0"/>
                </a:lnTo>
                <a:cubicBezTo>
                  <a:pt x="3669123" y="0"/>
                  <a:pt x="3686175" y="17052"/>
                  <a:pt x="3686175" y="38088"/>
                </a:cubicBezTo>
                <a:lnTo>
                  <a:pt x="3686175" y="2667012"/>
                </a:lnTo>
                <a:cubicBezTo>
                  <a:pt x="3686175" y="2688048"/>
                  <a:pt x="3669123" y="2705100"/>
                  <a:pt x="3648087" y="2705100"/>
                </a:cubicBezTo>
                <a:lnTo>
                  <a:pt x="38088" y="2705100"/>
                </a:lnTo>
                <a:cubicBezTo>
                  <a:pt x="17052" y="2705100"/>
                  <a:pt x="0" y="2688048"/>
                  <a:pt x="0" y="2667012"/>
                </a:cubicBezTo>
                <a:lnTo>
                  <a:pt x="0" y="38088"/>
                </a:lnTo>
                <a:cubicBezTo>
                  <a:pt x="0" y="17067"/>
                  <a:pt x="17067" y="0"/>
                  <a:pt x="380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4482" y="1704975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21" name="Shape 19"/>
          <p:cNvSpPr/>
          <p:nvPr/>
        </p:nvSpPr>
        <p:spPr>
          <a:xfrm>
            <a:off x="4444982" y="1914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3095" y="20669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92682" y="195262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92682" y="2143125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Digital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44982" y="2562225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Transitioning from fragmented data silos to "Data Sovereignty" and immutable transparency through blockchain governance.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64032" y="3467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27" name="Text 25"/>
          <p:cNvSpPr/>
          <p:nvPr/>
        </p:nvSpPr>
        <p:spPr>
          <a:xfrm>
            <a:off x="4687870" y="341947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Data Strategy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64032" y="3752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29" name="Text 27"/>
          <p:cNvSpPr/>
          <p:nvPr/>
        </p:nvSpPr>
        <p:spPr>
          <a:xfrm>
            <a:off x="4687870" y="3705225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Hyperledger Fabric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64032" y="4038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31" name="Text 29"/>
          <p:cNvSpPr/>
          <p:nvPr/>
        </p:nvSpPr>
        <p:spPr>
          <a:xfrm>
            <a:off x="4687870" y="399097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5-Point Security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27964" y="1704975"/>
            <a:ext cx="3686175" cy="2705100"/>
          </a:xfrm>
          <a:custGeom>
            <a:avLst/>
            <a:gdLst/>
            <a:ahLst/>
            <a:cxnLst/>
            <a:rect l="l" t="t" r="r" b="b"/>
            <a:pathLst>
              <a:path w="3686175" h="2705100">
                <a:moveTo>
                  <a:pt x="38088" y="0"/>
                </a:moveTo>
                <a:lnTo>
                  <a:pt x="3648087" y="0"/>
                </a:lnTo>
                <a:cubicBezTo>
                  <a:pt x="3669123" y="0"/>
                  <a:pt x="3686175" y="17052"/>
                  <a:pt x="3686175" y="38088"/>
                </a:cubicBezTo>
                <a:lnTo>
                  <a:pt x="3686175" y="2667012"/>
                </a:lnTo>
                <a:cubicBezTo>
                  <a:pt x="3686175" y="2688048"/>
                  <a:pt x="3669123" y="2705100"/>
                  <a:pt x="3648087" y="2705100"/>
                </a:cubicBezTo>
                <a:lnTo>
                  <a:pt x="38088" y="2705100"/>
                </a:lnTo>
                <a:cubicBezTo>
                  <a:pt x="17052" y="2705100"/>
                  <a:pt x="0" y="2688048"/>
                  <a:pt x="0" y="2667012"/>
                </a:cubicBezTo>
                <a:lnTo>
                  <a:pt x="0" y="38088"/>
                </a:lnTo>
                <a:cubicBezTo>
                  <a:pt x="0" y="17067"/>
                  <a:pt x="17067" y="0"/>
                  <a:pt x="380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27964" y="1704975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4" name="Shape 32"/>
          <p:cNvSpPr/>
          <p:nvPr/>
        </p:nvSpPr>
        <p:spPr>
          <a:xfrm>
            <a:off x="8318464" y="1914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5" name="Shape 33"/>
          <p:cNvSpPr/>
          <p:nvPr/>
        </p:nvSpPr>
        <p:spPr>
          <a:xfrm>
            <a:off x="8470864" y="2066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966164" y="1952625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C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66164" y="2047875"/>
            <a:ext cx="17256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18464" y="2562225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Converting raw data into actionable knowledge for low-literacy environments through Participatory MEL framework.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37514" y="3467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0" name="Text 38"/>
          <p:cNvSpPr/>
          <p:nvPr/>
        </p:nvSpPr>
        <p:spPr>
          <a:xfrm>
            <a:off x="8561352" y="341947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Advisory Interface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37514" y="3752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2" name="Text 40"/>
          <p:cNvSpPr/>
          <p:nvPr/>
        </p:nvSpPr>
        <p:spPr>
          <a:xfrm>
            <a:off x="8561352" y="370522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NEET Youth Network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37514" y="4038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4" name="Text 42"/>
          <p:cNvSpPr/>
          <p:nvPr/>
        </p:nvSpPr>
        <p:spPr>
          <a:xfrm>
            <a:off x="8561352" y="399097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4A Learning System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1000" y="4486275"/>
            <a:ext cx="11430000" cy="2362200"/>
          </a:xfrm>
          <a:custGeom>
            <a:avLst/>
            <a:gdLst/>
            <a:ahLst/>
            <a:cxnLst/>
            <a:rect l="l" t="t" r="r" b="b"/>
            <a:pathLst>
              <a:path w="11430000" h="2362200">
                <a:moveTo>
                  <a:pt x="38102" y="0"/>
                </a:moveTo>
                <a:lnTo>
                  <a:pt x="11391898" y="0"/>
                </a:lnTo>
                <a:cubicBezTo>
                  <a:pt x="11412927" y="0"/>
                  <a:pt x="11430000" y="17073"/>
                  <a:pt x="11430000" y="38102"/>
                </a:cubicBezTo>
                <a:lnTo>
                  <a:pt x="11430000" y="2324098"/>
                </a:lnTo>
                <a:cubicBezTo>
                  <a:pt x="11430000" y="2345141"/>
                  <a:pt x="11412941" y="2362200"/>
                  <a:pt x="11391898" y="2362200"/>
                </a:cubicBezTo>
                <a:lnTo>
                  <a:pt x="38102" y="2362200"/>
                </a:lnTo>
                <a:cubicBezTo>
                  <a:pt x="17073" y="2362200"/>
                  <a:pt x="0" y="2345127"/>
                  <a:pt x="0" y="23240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95300" y="4600575"/>
            <a:ext cx="1128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Legacy Models vs. GreenLoop 3.0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95300" y="4943475"/>
            <a:ext cx="5524500" cy="419100"/>
          </a:xfrm>
          <a:custGeom>
            <a:avLst/>
            <a:gdLst/>
            <a:ahLst/>
            <a:cxnLst/>
            <a:rect l="l" t="t" r="r" b="b"/>
            <a:pathLst>
              <a:path w="5524500" h="419100">
                <a:moveTo>
                  <a:pt x="38100" y="0"/>
                </a:moveTo>
                <a:lnTo>
                  <a:pt x="5486400" y="0"/>
                </a:lnTo>
                <a:cubicBezTo>
                  <a:pt x="5507442" y="0"/>
                  <a:pt x="5524500" y="17058"/>
                  <a:pt x="5524500" y="38100"/>
                </a:cubicBezTo>
                <a:lnTo>
                  <a:pt x="5524500" y="381000"/>
                </a:lnTo>
                <a:cubicBezTo>
                  <a:pt x="5524500" y="402042"/>
                  <a:pt x="5507442" y="419100"/>
                  <a:pt x="54864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71500" y="5019675"/>
            <a:ext cx="544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Input-Heavy Legacy Models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95300" y="54387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1506" y="5438775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Declining NUE (China: 50%, India: 42%)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95300" y="57054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1506" y="5705475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78% irrigation water inefficiency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95300" y="59721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1506" y="5972175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6-20% value leaks from diversion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95300" y="62388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1506" y="6238875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Massive subsidy drain (&gt;$8B India)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95300" y="65055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21506" y="6505575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One-way "broadcast" knowledge model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72200" y="4943475"/>
            <a:ext cx="5524500" cy="419100"/>
          </a:xfrm>
          <a:custGeom>
            <a:avLst/>
            <a:gdLst/>
            <a:ahLst/>
            <a:cxnLst/>
            <a:rect l="l" t="t" r="r" b="b"/>
            <a:pathLst>
              <a:path w="5524500" h="419100">
                <a:moveTo>
                  <a:pt x="38100" y="0"/>
                </a:moveTo>
                <a:lnTo>
                  <a:pt x="5486400" y="0"/>
                </a:lnTo>
                <a:cubicBezTo>
                  <a:pt x="5507442" y="0"/>
                  <a:pt x="5524500" y="17058"/>
                  <a:pt x="5524500" y="38100"/>
                </a:cubicBezTo>
                <a:lnTo>
                  <a:pt x="5524500" y="381000"/>
                </a:lnTo>
                <a:cubicBezTo>
                  <a:pt x="5524500" y="402042"/>
                  <a:pt x="5507442" y="419100"/>
                  <a:pt x="54864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248400" y="5019675"/>
            <a:ext cx="544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GreenLoop 3.0 Efficiency-by-Design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07919" y="54768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62" name="Text 60"/>
          <p:cNvSpPr/>
          <p:nvPr/>
        </p:nvSpPr>
        <p:spPr>
          <a:xfrm>
            <a:off x="6415088" y="5438775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precision</a:t>
            </a:r>
            <a:r>
              <a:rPr lang="en-US" sz="120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12-parameter sensing &amp; ML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207919" y="57435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64" name="Text 62"/>
          <p:cNvSpPr/>
          <p:nvPr/>
        </p:nvSpPr>
        <p:spPr>
          <a:xfrm>
            <a:off x="6415088" y="5705475"/>
            <a:ext cx="3609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57% water reduction</a:t>
            </a:r>
            <a:r>
              <a:rPr lang="en-US" sz="120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precision 3F4D+MD irrigation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207919" y="60102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66" name="Text 64"/>
          <p:cNvSpPr/>
          <p:nvPr/>
        </p:nvSpPr>
        <p:spPr>
          <a:xfrm>
            <a:off x="6415088" y="5972175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Zero-leakage</a:t>
            </a:r>
            <a:r>
              <a:rPr lang="en-US" sz="120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POS-triggered e-Bill &amp; SHA-256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207919" y="62769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68" name="Text 66"/>
          <p:cNvSpPr/>
          <p:nvPr/>
        </p:nvSpPr>
        <p:spPr>
          <a:xfrm>
            <a:off x="6415088" y="6238875"/>
            <a:ext cx="3009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Immutable audit trails</a:t>
            </a:r>
            <a:r>
              <a:rPr lang="en-US" sz="120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Hyperledger Fabric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207919" y="65436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0" name="Text 68"/>
          <p:cNvSpPr/>
          <p:nvPr/>
        </p:nvSpPr>
        <p:spPr>
          <a:xfrm>
            <a:off x="6415088" y="6505575"/>
            <a:ext cx="427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Two-way "Learning System"</a:t>
            </a:r>
            <a:r>
              <a:rPr lang="en-US" sz="120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farmer knowledge production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229" y="367229"/>
            <a:ext cx="55084" cy="367229"/>
          </a:xfrm>
          <a:custGeom>
            <a:avLst/>
            <a:gdLst/>
            <a:ahLst/>
            <a:cxnLst/>
            <a:rect l="l" t="t" r="r" b="b"/>
            <a:pathLst>
              <a:path w="55084" h="367229">
                <a:moveTo>
                  <a:pt x="0" y="0"/>
                </a:moveTo>
                <a:lnTo>
                  <a:pt x="55084" y="0"/>
                </a:lnTo>
                <a:lnTo>
                  <a:pt x="55084" y="367229"/>
                </a:lnTo>
                <a:lnTo>
                  <a:pt x="0" y="367229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" name="Text 1"/>
          <p:cNvSpPr/>
          <p:nvPr/>
        </p:nvSpPr>
        <p:spPr>
          <a:xfrm>
            <a:off x="532482" y="440675"/>
            <a:ext cx="2598145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kern="0" spc="58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A: PHYSICAL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7229" y="844627"/>
            <a:ext cx="11622795" cy="413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Precision Hardware for Circular Farming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590" y="1441373"/>
            <a:ext cx="6160265" cy="2634867"/>
          </a:xfrm>
          <a:custGeom>
            <a:avLst/>
            <a:gdLst/>
            <a:ahLst/>
            <a:cxnLst/>
            <a:rect l="l" t="t" r="r" b="b"/>
            <a:pathLst>
              <a:path w="6160265" h="2634867">
                <a:moveTo>
                  <a:pt x="36723" y="0"/>
                </a:moveTo>
                <a:lnTo>
                  <a:pt x="6123535" y="0"/>
                </a:lnTo>
                <a:cubicBezTo>
                  <a:pt x="6143820" y="0"/>
                  <a:pt x="6160265" y="16445"/>
                  <a:pt x="6160265" y="36730"/>
                </a:cubicBezTo>
                <a:lnTo>
                  <a:pt x="6160265" y="2598137"/>
                </a:lnTo>
                <a:cubicBezTo>
                  <a:pt x="6160265" y="2618423"/>
                  <a:pt x="6143820" y="2634867"/>
                  <a:pt x="6123535" y="2634867"/>
                </a:cubicBezTo>
                <a:lnTo>
                  <a:pt x="36723" y="2634867"/>
                </a:lnTo>
                <a:cubicBezTo>
                  <a:pt x="16441" y="2634867"/>
                  <a:pt x="0" y="2618426"/>
                  <a:pt x="0" y="2598145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542" dist="918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5590" y="1441373"/>
            <a:ext cx="36723" cy="2634867"/>
          </a:xfrm>
          <a:custGeom>
            <a:avLst/>
            <a:gdLst/>
            <a:ahLst/>
            <a:cxnLst/>
            <a:rect l="l" t="t" r="r" b="b"/>
            <a:pathLst>
              <a:path w="36723" h="2634867">
                <a:moveTo>
                  <a:pt x="36723" y="0"/>
                </a:moveTo>
                <a:lnTo>
                  <a:pt x="36723" y="0"/>
                </a:lnTo>
                <a:lnTo>
                  <a:pt x="36723" y="2634867"/>
                </a:lnTo>
                <a:lnTo>
                  <a:pt x="36723" y="2634867"/>
                </a:lnTo>
                <a:cubicBezTo>
                  <a:pt x="16441" y="2634867"/>
                  <a:pt x="0" y="2618426"/>
                  <a:pt x="0" y="2598145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587566" y="1849916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36723" y="0"/>
                </a:moveTo>
                <a:lnTo>
                  <a:pt x="550843" y="0"/>
                </a:lnTo>
                <a:cubicBezTo>
                  <a:pt x="571125" y="0"/>
                  <a:pt x="587566" y="16441"/>
                  <a:pt x="587566" y="36723"/>
                </a:cubicBezTo>
                <a:lnTo>
                  <a:pt x="587566" y="550843"/>
                </a:lnTo>
                <a:cubicBezTo>
                  <a:pt x="587566" y="571125"/>
                  <a:pt x="571125" y="587566"/>
                  <a:pt x="550843" y="587566"/>
                </a:cubicBezTo>
                <a:lnTo>
                  <a:pt x="36723" y="587566"/>
                </a:lnTo>
                <a:cubicBezTo>
                  <a:pt x="16441" y="587566"/>
                  <a:pt x="0" y="571125"/>
                  <a:pt x="0" y="550843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Shape 6"/>
          <p:cNvSpPr/>
          <p:nvPr/>
        </p:nvSpPr>
        <p:spPr>
          <a:xfrm>
            <a:off x="763148" y="2005988"/>
            <a:ext cx="240994" cy="275422"/>
          </a:xfrm>
          <a:custGeom>
            <a:avLst/>
            <a:gdLst/>
            <a:ahLst/>
            <a:cxnLst/>
            <a:rect l="l" t="t" r="r" b="b"/>
            <a:pathLst>
              <a:path w="240994" h="275422">
                <a:moveTo>
                  <a:pt x="154925" y="0"/>
                </a:moveTo>
                <a:lnTo>
                  <a:pt x="68855" y="0"/>
                </a:lnTo>
                <a:cubicBezTo>
                  <a:pt x="59334" y="0"/>
                  <a:pt x="51642" y="7692"/>
                  <a:pt x="51642" y="17214"/>
                </a:cubicBezTo>
                <a:cubicBezTo>
                  <a:pt x="51642" y="26735"/>
                  <a:pt x="59334" y="34428"/>
                  <a:pt x="68855" y="34428"/>
                </a:cubicBezTo>
                <a:lnTo>
                  <a:pt x="68855" y="115925"/>
                </a:lnTo>
                <a:lnTo>
                  <a:pt x="4034" y="229321"/>
                </a:lnTo>
                <a:cubicBezTo>
                  <a:pt x="1399" y="234001"/>
                  <a:pt x="0" y="239219"/>
                  <a:pt x="0" y="244598"/>
                </a:cubicBezTo>
                <a:cubicBezTo>
                  <a:pt x="0" y="261651"/>
                  <a:pt x="13771" y="275422"/>
                  <a:pt x="30824" y="275422"/>
                </a:cubicBezTo>
                <a:lnTo>
                  <a:pt x="210170" y="275422"/>
                </a:lnTo>
                <a:cubicBezTo>
                  <a:pt x="227169" y="275422"/>
                  <a:pt x="240994" y="261651"/>
                  <a:pt x="240994" y="244598"/>
                </a:cubicBezTo>
                <a:cubicBezTo>
                  <a:pt x="240994" y="239219"/>
                  <a:pt x="239595" y="233947"/>
                  <a:pt x="236959" y="229321"/>
                </a:cubicBezTo>
                <a:lnTo>
                  <a:pt x="172139" y="115925"/>
                </a:lnTo>
                <a:lnTo>
                  <a:pt x="172139" y="34428"/>
                </a:lnTo>
                <a:cubicBezTo>
                  <a:pt x="181660" y="34428"/>
                  <a:pt x="189352" y="26735"/>
                  <a:pt x="189352" y="17214"/>
                </a:cubicBezTo>
                <a:cubicBezTo>
                  <a:pt x="189352" y="7692"/>
                  <a:pt x="181660" y="0"/>
                  <a:pt x="172139" y="0"/>
                </a:cubicBezTo>
                <a:lnTo>
                  <a:pt x="154925" y="0"/>
                </a:lnTo>
                <a:close/>
                <a:moveTo>
                  <a:pt x="103283" y="115925"/>
                </a:moveTo>
                <a:lnTo>
                  <a:pt x="103283" y="34428"/>
                </a:lnTo>
                <a:lnTo>
                  <a:pt x="137711" y="34428"/>
                </a:lnTo>
                <a:lnTo>
                  <a:pt x="137711" y="115925"/>
                </a:lnTo>
                <a:cubicBezTo>
                  <a:pt x="137711" y="121896"/>
                  <a:pt x="139271" y="127813"/>
                  <a:pt x="142229" y="133031"/>
                </a:cubicBezTo>
                <a:lnTo>
                  <a:pt x="164607" y="172139"/>
                </a:lnTo>
                <a:lnTo>
                  <a:pt x="76386" y="172139"/>
                </a:lnTo>
                <a:lnTo>
                  <a:pt x="98764" y="133031"/>
                </a:lnTo>
                <a:cubicBezTo>
                  <a:pt x="101723" y="127813"/>
                  <a:pt x="103283" y="121949"/>
                  <a:pt x="103283" y="1159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22024" y="1849916"/>
            <a:ext cx="5132024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12-Parameter Soil Sensor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2024" y="2180422"/>
            <a:ext cx="5113663" cy="71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ML-enabled handheld sensor analyzing </a:t>
            </a:r>
            <a:r>
              <a:rPr lang="en-US" sz="1157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critical parameters</a:t>
            </a:r>
            <a:r>
              <a:rPr lang="en-US" sz="1157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pH, EC, NPK, Ca, Mg, S, Fe, Zn, Mn, B, SOM, and </a:t>
            </a:r>
            <a:r>
              <a:rPr lang="en-US" sz="1157" dirty="0">
                <a:solidFill>
                  <a:srgbClr val="2F3E3B"/>
                </a:solidFill>
                <a:highlight>
                  <a:srgbClr val="8FB7A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Redox Potential </a:t>
            </a:r>
            <a:r>
              <a:rPr lang="en-US" sz="1157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—critical for ML estimation of micronutrient bioavailability.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22024" y="3006687"/>
            <a:ext cx="1175133" cy="661012"/>
          </a:xfrm>
          <a:custGeom>
            <a:avLst/>
            <a:gdLst/>
            <a:ahLst/>
            <a:cxnLst/>
            <a:rect l="l" t="t" r="r" b="b"/>
            <a:pathLst>
              <a:path w="1175133" h="661012">
                <a:moveTo>
                  <a:pt x="36726" y="0"/>
                </a:moveTo>
                <a:lnTo>
                  <a:pt x="1138407" y="0"/>
                </a:lnTo>
                <a:cubicBezTo>
                  <a:pt x="1158690" y="0"/>
                  <a:pt x="1175133" y="16443"/>
                  <a:pt x="1175133" y="36726"/>
                </a:cubicBezTo>
                <a:lnTo>
                  <a:pt x="1175133" y="624286"/>
                </a:lnTo>
                <a:cubicBezTo>
                  <a:pt x="1175133" y="644569"/>
                  <a:pt x="1158690" y="661012"/>
                  <a:pt x="1138407" y="661012"/>
                </a:cubicBezTo>
                <a:lnTo>
                  <a:pt x="36726" y="661012"/>
                </a:lnTo>
                <a:cubicBezTo>
                  <a:pt x="16443" y="661012"/>
                  <a:pt x="0" y="644569"/>
                  <a:pt x="0" y="624286"/>
                </a:cubicBezTo>
                <a:lnTo>
                  <a:pt x="0" y="36726"/>
                </a:lnTo>
                <a:cubicBezTo>
                  <a:pt x="0" y="16456"/>
                  <a:pt x="16456" y="0"/>
                  <a:pt x="36726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468916" y="3080133"/>
            <a:ext cx="991518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b="1" dirty="0">
                <a:solidFill>
                  <a:srgbClr val="4C8A7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20-32%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8916" y="3373916"/>
            <a:ext cx="954795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Increase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46291" y="3006687"/>
            <a:ext cx="1404651" cy="661012"/>
          </a:xfrm>
          <a:custGeom>
            <a:avLst/>
            <a:gdLst/>
            <a:ahLst/>
            <a:cxnLst/>
            <a:rect l="l" t="t" r="r" b="b"/>
            <a:pathLst>
              <a:path w="1404651" h="661012">
                <a:moveTo>
                  <a:pt x="36726" y="0"/>
                </a:moveTo>
                <a:lnTo>
                  <a:pt x="1367925" y="0"/>
                </a:lnTo>
                <a:cubicBezTo>
                  <a:pt x="1388208" y="0"/>
                  <a:pt x="1404651" y="16443"/>
                  <a:pt x="1404651" y="36726"/>
                </a:cubicBezTo>
                <a:lnTo>
                  <a:pt x="1404651" y="624286"/>
                </a:lnTo>
                <a:cubicBezTo>
                  <a:pt x="1404651" y="644569"/>
                  <a:pt x="1388208" y="661012"/>
                  <a:pt x="1367925" y="661012"/>
                </a:cubicBezTo>
                <a:lnTo>
                  <a:pt x="36726" y="661012"/>
                </a:lnTo>
                <a:cubicBezTo>
                  <a:pt x="16443" y="661012"/>
                  <a:pt x="0" y="644569"/>
                  <a:pt x="0" y="624286"/>
                </a:cubicBezTo>
                <a:lnTo>
                  <a:pt x="0" y="36726"/>
                </a:lnTo>
                <a:cubicBezTo>
                  <a:pt x="0" y="16456"/>
                  <a:pt x="16456" y="0"/>
                  <a:pt x="36726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793183" y="3080133"/>
            <a:ext cx="1221036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b="1" dirty="0">
                <a:solidFill>
                  <a:srgbClr val="4C8A7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93183" y="3373916"/>
            <a:ext cx="1184313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Profitability Boost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590" y="4223133"/>
            <a:ext cx="6160265" cy="2634867"/>
          </a:xfrm>
          <a:custGeom>
            <a:avLst/>
            <a:gdLst/>
            <a:ahLst/>
            <a:cxnLst/>
            <a:rect l="l" t="t" r="r" b="b"/>
            <a:pathLst>
              <a:path w="6160265" h="2634867">
                <a:moveTo>
                  <a:pt x="36723" y="0"/>
                </a:moveTo>
                <a:lnTo>
                  <a:pt x="6123535" y="0"/>
                </a:lnTo>
                <a:cubicBezTo>
                  <a:pt x="6143820" y="0"/>
                  <a:pt x="6160265" y="16445"/>
                  <a:pt x="6160265" y="36730"/>
                </a:cubicBezTo>
                <a:lnTo>
                  <a:pt x="6160265" y="2598137"/>
                </a:lnTo>
                <a:cubicBezTo>
                  <a:pt x="6160265" y="2618423"/>
                  <a:pt x="6143820" y="2634867"/>
                  <a:pt x="6123535" y="2634867"/>
                </a:cubicBezTo>
                <a:lnTo>
                  <a:pt x="36723" y="2634867"/>
                </a:lnTo>
                <a:cubicBezTo>
                  <a:pt x="16441" y="2634867"/>
                  <a:pt x="0" y="2618426"/>
                  <a:pt x="0" y="2598145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542" dist="918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5590" y="4223133"/>
            <a:ext cx="36723" cy="2634867"/>
          </a:xfrm>
          <a:custGeom>
            <a:avLst/>
            <a:gdLst/>
            <a:ahLst/>
            <a:cxnLst/>
            <a:rect l="l" t="t" r="r" b="b"/>
            <a:pathLst>
              <a:path w="36723" h="2634867">
                <a:moveTo>
                  <a:pt x="36723" y="0"/>
                </a:moveTo>
                <a:lnTo>
                  <a:pt x="36723" y="0"/>
                </a:lnTo>
                <a:lnTo>
                  <a:pt x="36723" y="2634867"/>
                </a:lnTo>
                <a:lnTo>
                  <a:pt x="36723" y="2634867"/>
                </a:lnTo>
                <a:cubicBezTo>
                  <a:pt x="16441" y="2634867"/>
                  <a:pt x="0" y="2618426"/>
                  <a:pt x="0" y="2598145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19" name="Shape 17"/>
          <p:cNvSpPr/>
          <p:nvPr/>
        </p:nvSpPr>
        <p:spPr>
          <a:xfrm>
            <a:off x="587566" y="4751024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36723" y="0"/>
                </a:moveTo>
                <a:lnTo>
                  <a:pt x="550843" y="0"/>
                </a:lnTo>
                <a:cubicBezTo>
                  <a:pt x="571125" y="0"/>
                  <a:pt x="587566" y="16441"/>
                  <a:pt x="587566" y="36723"/>
                </a:cubicBezTo>
                <a:lnTo>
                  <a:pt x="587566" y="550843"/>
                </a:lnTo>
                <a:cubicBezTo>
                  <a:pt x="587566" y="571125"/>
                  <a:pt x="571125" y="587566"/>
                  <a:pt x="550843" y="587566"/>
                </a:cubicBezTo>
                <a:lnTo>
                  <a:pt x="36723" y="587566"/>
                </a:lnTo>
                <a:cubicBezTo>
                  <a:pt x="16441" y="587566"/>
                  <a:pt x="0" y="571125"/>
                  <a:pt x="0" y="550843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20" name="Shape 18"/>
          <p:cNvSpPr/>
          <p:nvPr/>
        </p:nvSpPr>
        <p:spPr>
          <a:xfrm>
            <a:off x="745934" y="4907096"/>
            <a:ext cx="275422" cy="275422"/>
          </a:xfrm>
          <a:custGeom>
            <a:avLst/>
            <a:gdLst/>
            <a:ahLst/>
            <a:cxnLst/>
            <a:rect l="l" t="t" r="r" b="b"/>
            <a:pathLst>
              <a:path w="275422" h="275422">
                <a:moveTo>
                  <a:pt x="220875" y="66757"/>
                </a:moveTo>
                <a:cubicBezTo>
                  <a:pt x="232010" y="75149"/>
                  <a:pt x="245620" y="83272"/>
                  <a:pt x="260790" y="85316"/>
                </a:cubicBezTo>
                <a:cubicBezTo>
                  <a:pt x="267837" y="86284"/>
                  <a:pt x="274346" y="81282"/>
                  <a:pt x="275314" y="74235"/>
                </a:cubicBezTo>
                <a:cubicBezTo>
                  <a:pt x="276282" y="67188"/>
                  <a:pt x="271280" y="60679"/>
                  <a:pt x="264233" y="59711"/>
                </a:cubicBezTo>
                <a:cubicBezTo>
                  <a:pt x="255680" y="58581"/>
                  <a:pt x="246373" y="53632"/>
                  <a:pt x="236422" y="46155"/>
                </a:cubicBezTo>
                <a:cubicBezTo>
                  <a:pt x="215765" y="30555"/>
                  <a:pt x="187739" y="30555"/>
                  <a:pt x="167028" y="46155"/>
                </a:cubicBezTo>
                <a:cubicBezTo>
                  <a:pt x="154118" y="55891"/>
                  <a:pt x="145134" y="60302"/>
                  <a:pt x="137711" y="60302"/>
                </a:cubicBezTo>
                <a:cubicBezTo>
                  <a:pt x="130287" y="60302"/>
                  <a:pt x="121304" y="55891"/>
                  <a:pt x="108393" y="46155"/>
                </a:cubicBezTo>
                <a:cubicBezTo>
                  <a:pt x="87737" y="30555"/>
                  <a:pt x="59711" y="30555"/>
                  <a:pt x="39000" y="46155"/>
                </a:cubicBezTo>
                <a:cubicBezTo>
                  <a:pt x="29048" y="53632"/>
                  <a:pt x="19742" y="58581"/>
                  <a:pt x="11189" y="59711"/>
                </a:cubicBezTo>
                <a:cubicBezTo>
                  <a:pt x="4142" y="60679"/>
                  <a:pt x="-861" y="67134"/>
                  <a:pt x="108" y="74235"/>
                </a:cubicBezTo>
                <a:cubicBezTo>
                  <a:pt x="1076" y="81335"/>
                  <a:pt x="7531" y="86284"/>
                  <a:pt x="14632" y="85316"/>
                </a:cubicBezTo>
                <a:cubicBezTo>
                  <a:pt x="29801" y="83272"/>
                  <a:pt x="43465" y="75149"/>
                  <a:pt x="54546" y="66757"/>
                </a:cubicBezTo>
                <a:cubicBezTo>
                  <a:pt x="66004" y="58097"/>
                  <a:pt x="81389" y="58097"/>
                  <a:pt x="92847" y="66757"/>
                </a:cubicBezTo>
                <a:cubicBezTo>
                  <a:pt x="105865" y="76602"/>
                  <a:pt x="120981" y="86069"/>
                  <a:pt x="137711" y="86069"/>
                </a:cubicBezTo>
                <a:cubicBezTo>
                  <a:pt x="154441" y="86069"/>
                  <a:pt x="169503" y="76548"/>
                  <a:pt x="182574" y="66757"/>
                </a:cubicBezTo>
                <a:cubicBezTo>
                  <a:pt x="194032" y="58097"/>
                  <a:pt x="209417" y="58097"/>
                  <a:pt x="220875" y="66757"/>
                </a:cubicBezTo>
                <a:close/>
                <a:moveTo>
                  <a:pt x="220875" y="144220"/>
                </a:moveTo>
                <a:cubicBezTo>
                  <a:pt x="232010" y="152612"/>
                  <a:pt x="245620" y="160734"/>
                  <a:pt x="260790" y="162779"/>
                </a:cubicBezTo>
                <a:cubicBezTo>
                  <a:pt x="267837" y="163747"/>
                  <a:pt x="274346" y="158744"/>
                  <a:pt x="275314" y="151697"/>
                </a:cubicBezTo>
                <a:cubicBezTo>
                  <a:pt x="276282" y="144650"/>
                  <a:pt x="271280" y="138141"/>
                  <a:pt x="264233" y="137173"/>
                </a:cubicBezTo>
                <a:cubicBezTo>
                  <a:pt x="255680" y="136043"/>
                  <a:pt x="246373" y="131094"/>
                  <a:pt x="236422" y="123617"/>
                </a:cubicBezTo>
                <a:cubicBezTo>
                  <a:pt x="215765" y="108017"/>
                  <a:pt x="187739" y="108017"/>
                  <a:pt x="167028" y="123617"/>
                </a:cubicBezTo>
                <a:cubicBezTo>
                  <a:pt x="154118" y="133354"/>
                  <a:pt x="145134" y="137765"/>
                  <a:pt x="137711" y="137765"/>
                </a:cubicBezTo>
                <a:cubicBezTo>
                  <a:pt x="130287" y="137765"/>
                  <a:pt x="121304" y="133354"/>
                  <a:pt x="108393" y="123617"/>
                </a:cubicBezTo>
                <a:cubicBezTo>
                  <a:pt x="87737" y="108017"/>
                  <a:pt x="59711" y="108017"/>
                  <a:pt x="39000" y="123617"/>
                </a:cubicBezTo>
                <a:cubicBezTo>
                  <a:pt x="29048" y="131094"/>
                  <a:pt x="19742" y="136043"/>
                  <a:pt x="11189" y="137173"/>
                </a:cubicBezTo>
                <a:cubicBezTo>
                  <a:pt x="4142" y="138087"/>
                  <a:pt x="-861" y="144596"/>
                  <a:pt x="108" y="151697"/>
                </a:cubicBezTo>
                <a:cubicBezTo>
                  <a:pt x="1076" y="158798"/>
                  <a:pt x="7531" y="163747"/>
                  <a:pt x="14632" y="162779"/>
                </a:cubicBezTo>
                <a:cubicBezTo>
                  <a:pt x="29801" y="160734"/>
                  <a:pt x="43465" y="152612"/>
                  <a:pt x="54546" y="144220"/>
                </a:cubicBezTo>
                <a:cubicBezTo>
                  <a:pt x="66004" y="135559"/>
                  <a:pt x="81389" y="135559"/>
                  <a:pt x="92847" y="144220"/>
                </a:cubicBezTo>
                <a:cubicBezTo>
                  <a:pt x="105865" y="154064"/>
                  <a:pt x="120981" y="163532"/>
                  <a:pt x="137711" y="163532"/>
                </a:cubicBezTo>
                <a:cubicBezTo>
                  <a:pt x="154441" y="163532"/>
                  <a:pt x="169503" y="154010"/>
                  <a:pt x="182574" y="144220"/>
                </a:cubicBezTo>
                <a:cubicBezTo>
                  <a:pt x="194032" y="135559"/>
                  <a:pt x="209417" y="135559"/>
                  <a:pt x="220875" y="144220"/>
                </a:cubicBezTo>
                <a:close/>
                <a:moveTo>
                  <a:pt x="182574" y="221682"/>
                </a:moveTo>
                <a:cubicBezTo>
                  <a:pt x="194032" y="213021"/>
                  <a:pt x="209417" y="213021"/>
                  <a:pt x="220875" y="221682"/>
                </a:cubicBezTo>
                <a:cubicBezTo>
                  <a:pt x="232010" y="230074"/>
                  <a:pt x="245620" y="238197"/>
                  <a:pt x="260790" y="240241"/>
                </a:cubicBezTo>
                <a:cubicBezTo>
                  <a:pt x="267837" y="241209"/>
                  <a:pt x="274346" y="236206"/>
                  <a:pt x="275314" y="229159"/>
                </a:cubicBezTo>
                <a:cubicBezTo>
                  <a:pt x="276282" y="222113"/>
                  <a:pt x="271280" y="215604"/>
                  <a:pt x="264233" y="214635"/>
                </a:cubicBezTo>
                <a:cubicBezTo>
                  <a:pt x="255680" y="213506"/>
                  <a:pt x="246373" y="208557"/>
                  <a:pt x="236422" y="201079"/>
                </a:cubicBezTo>
                <a:cubicBezTo>
                  <a:pt x="215765" y="185479"/>
                  <a:pt x="187739" y="185479"/>
                  <a:pt x="167028" y="201079"/>
                </a:cubicBezTo>
                <a:cubicBezTo>
                  <a:pt x="154118" y="210816"/>
                  <a:pt x="145134" y="215227"/>
                  <a:pt x="137711" y="215227"/>
                </a:cubicBezTo>
                <a:cubicBezTo>
                  <a:pt x="130287" y="215227"/>
                  <a:pt x="121304" y="210816"/>
                  <a:pt x="108393" y="201079"/>
                </a:cubicBezTo>
                <a:cubicBezTo>
                  <a:pt x="87737" y="185479"/>
                  <a:pt x="59711" y="185479"/>
                  <a:pt x="39000" y="201079"/>
                </a:cubicBezTo>
                <a:cubicBezTo>
                  <a:pt x="29048" y="208557"/>
                  <a:pt x="19742" y="213506"/>
                  <a:pt x="11189" y="214635"/>
                </a:cubicBezTo>
                <a:cubicBezTo>
                  <a:pt x="4142" y="215604"/>
                  <a:pt x="-861" y="222059"/>
                  <a:pt x="108" y="229159"/>
                </a:cubicBezTo>
                <a:cubicBezTo>
                  <a:pt x="1076" y="236260"/>
                  <a:pt x="7531" y="241209"/>
                  <a:pt x="14632" y="240241"/>
                </a:cubicBezTo>
                <a:cubicBezTo>
                  <a:pt x="29801" y="238197"/>
                  <a:pt x="43465" y="230074"/>
                  <a:pt x="54546" y="221682"/>
                </a:cubicBezTo>
                <a:cubicBezTo>
                  <a:pt x="66004" y="213021"/>
                  <a:pt x="81389" y="213021"/>
                  <a:pt x="92847" y="221682"/>
                </a:cubicBezTo>
                <a:cubicBezTo>
                  <a:pt x="105865" y="231526"/>
                  <a:pt x="120981" y="240994"/>
                  <a:pt x="137711" y="240994"/>
                </a:cubicBezTo>
                <a:cubicBezTo>
                  <a:pt x="154441" y="240994"/>
                  <a:pt x="169503" y="231473"/>
                  <a:pt x="182574" y="2216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322024" y="4751024"/>
            <a:ext cx="5132024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3F4D+MD Irrigation Protocol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2024" y="5081530"/>
            <a:ext cx="5113663" cy="47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"Three-Phase Four-Day + Modified Depth" creates specific </a:t>
            </a:r>
            <a:r>
              <a:rPr lang="en-US" sz="1157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aerobic soil conditions</a:t>
            </a:r>
            <a:r>
              <a:rPr lang="en-US" sz="1157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facilitating </a:t>
            </a:r>
            <a:r>
              <a:rPr lang="en-US" sz="1157" dirty="0">
                <a:solidFill>
                  <a:srgbClr val="2F3E3B"/>
                </a:solidFill>
                <a:highlight>
                  <a:srgbClr val="8FB7A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Iron Oxide re-precipitation </a:t>
            </a:r>
            <a:r>
              <a:rPr lang="en-US" sz="1157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arsenic immobilization.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22024" y="5669096"/>
            <a:ext cx="1579084" cy="661012"/>
          </a:xfrm>
          <a:custGeom>
            <a:avLst/>
            <a:gdLst/>
            <a:ahLst/>
            <a:cxnLst/>
            <a:rect l="l" t="t" r="r" b="b"/>
            <a:pathLst>
              <a:path w="1579084" h="661012">
                <a:moveTo>
                  <a:pt x="36726" y="0"/>
                </a:moveTo>
                <a:lnTo>
                  <a:pt x="1542359" y="0"/>
                </a:lnTo>
                <a:cubicBezTo>
                  <a:pt x="1562642" y="0"/>
                  <a:pt x="1579084" y="16443"/>
                  <a:pt x="1579084" y="36726"/>
                </a:cubicBezTo>
                <a:lnTo>
                  <a:pt x="1579084" y="624286"/>
                </a:lnTo>
                <a:cubicBezTo>
                  <a:pt x="1579084" y="644569"/>
                  <a:pt x="1562642" y="661012"/>
                  <a:pt x="1542359" y="661012"/>
                </a:cubicBezTo>
                <a:lnTo>
                  <a:pt x="36726" y="661012"/>
                </a:lnTo>
                <a:cubicBezTo>
                  <a:pt x="16443" y="661012"/>
                  <a:pt x="0" y="644569"/>
                  <a:pt x="0" y="624286"/>
                </a:cubicBezTo>
                <a:lnTo>
                  <a:pt x="0" y="36726"/>
                </a:lnTo>
                <a:cubicBezTo>
                  <a:pt x="0" y="16456"/>
                  <a:pt x="16456" y="0"/>
                  <a:pt x="36726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468916" y="5742542"/>
            <a:ext cx="1395470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b="1" dirty="0">
                <a:solidFill>
                  <a:srgbClr val="5F6F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57%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8916" y="6036325"/>
            <a:ext cx="1358747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Conservation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046279" y="5669096"/>
            <a:ext cx="1450554" cy="661012"/>
          </a:xfrm>
          <a:custGeom>
            <a:avLst/>
            <a:gdLst/>
            <a:ahLst/>
            <a:cxnLst/>
            <a:rect l="l" t="t" r="r" b="b"/>
            <a:pathLst>
              <a:path w="1450554" h="661012">
                <a:moveTo>
                  <a:pt x="36726" y="0"/>
                </a:moveTo>
                <a:lnTo>
                  <a:pt x="1413828" y="0"/>
                </a:lnTo>
                <a:cubicBezTo>
                  <a:pt x="1434112" y="0"/>
                  <a:pt x="1450554" y="16443"/>
                  <a:pt x="1450554" y="36726"/>
                </a:cubicBezTo>
                <a:lnTo>
                  <a:pt x="1450554" y="624286"/>
                </a:lnTo>
                <a:cubicBezTo>
                  <a:pt x="1450554" y="644569"/>
                  <a:pt x="1434112" y="661012"/>
                  <a:pt x="1413828" y="661012"/>
                </a:cubicBezTo>
                <a:lnTo>
                  <a:pt x="36726" y="661012"/>
                </a:lnTo>
                <a:cubicBezTo>
                  <a:pt x="16443" y="661012"/>
                  <a:pt x="0" y="644569"/>
                  <a:pt x="0" y="624286"/>
                </a:cubicBezTo>
                <a:lnTo>
                  <a:pt x="0" y="36726"/>
                </a:lnTo>
                <a:cubicBezTo>
                  <a:pt x="0" y="16456"/>
                  <a:pt x="16456" y="0"/>
                  <a:pt x="36726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193170" y="5742542"/>
            <a:ext cx="1266940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b="1" dirty="0">
                <a:solidFill>
                  <a:srgbClr val="5F6F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9-21%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193170" y="6036325"/>
            <a:ext cx="1230217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Arsenic Reduction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68019" y="1441373"/>
            <a:ext cx="5058578" cy="3819181"/>
          </a:xfrm>
          <a:custGeom>
            <a:avLst/>
            <a:gdLst/>
            <a:ahLst/>
            <a:cxnLst/>
            <a:rect l="l" t="t" r="r" b="b"/>
            <a:pathLst>
              <a:path w="5058578" h="3819181">
                <a:moveTo>
                  <a:pt x="36741" y="0"/>
                </a:moveTo>
                <a:lnTo>
                  <a:pt x="5021838" y="0"/>
                </a:lnTo>
                <a:cubicBezTo>
                  <a:pt x="5042129" y="0"/>
                  <a:pt x="5058578" y="16449"/>
                  <a:pt x="5058578" y="36741"/>
                </a:cubicBezTo>
                <a:lnTo>
                  <a:pt x="5058578" y="3782440"/>
                </a:lnTo>
                <a:cubicBezTo>
                  <a:pt x="5058578" y="3802731"/>
                  <a:pt x="5042129" y="3819181"/>
                  <a:pt x="5021838" y="3819181"/>
                </a:cubicBezTo>
                <a:lnTo>
                  <a:pt x="36741" y="3819181"/>
                </a:lnTo>
                <a:cubicBezTo>
                  <a:pt x="16449" y="3819181"/>
                  <a:pt x="0" y="3802731"/>
                  <a:pt x="0" y="3782440"/>
                </a:cubicBezTo>
                <a:lnTo>
                  <a:pt x="0" y="36741"/>
                </a:lnTo>
                <a:cubicBezTo>
                  <a:pt x="0" y="16463"/>
                  <a:pt x="16463" y="0"/>
                  <a:pt x="367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542" dist="9181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30" name="Image 0" descr="https://kimi-web-img.moonshot.cn/img/sdgprivatefinance.undp.org/ed198c6fdfce3ea85a693cf5b97b349fdff74272.JPG"/>
          <p:cNvPicPr>
            <a:picLocks noChangeAspect="1"/>
          </p:cNvPicPr>
          <p:nvPr/>
        </p:nvPicPr>
        <p:blipFill>
          <a:blip r:embed="rId3"/>
          <a:srcRect t="32577" b="32577"/>
          <a:stretch/>
        </p:blipFill>
        <p:spPr>
          <a:xfrm>
            <a:off x="6768019" y="1441373"/>
            <a:ext cx="5058578" cy="1175133"/>
          </a:xfrm>
          <a:prstGeom prst="roundRect">
            <a:avLst>
              <a:gd name="adj" fmla="val 962"/>
            </a:avLst>
          </a:prstGeom>
        </p:spPr>
      </p:pic>
      <p:sp>
        <p:nvSpPr>
          <p:cNvPr id="31" name="Shape 28"/>
          <p:cNvSpPr/>
          <p:nvPr/>
        </p:nvSpPr>
        <p:spPr>
          <a:xfrm>
            <a:off x="6974585" y="2836843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103355" y="0"/>
                </a:moveTo>
                <a:cubicBezTo>
                  <a:pt x="103355" y="-6348"/>
                  <a:pt x="98227" y="-11476"/>
                  <a:pt x="91879" y="-11476"/>
                </a:cubicBezTo>
                <a:cubicBezTo>
                  <a:pt x="85531" y="-11476"/>
                  <a:pt x="80403" y="-6348"/>
                  <a:pt x="80403" y="0"/>
                </a:cubicBezTo>
                <a:lnTo>
                  <a:pt x="80403" y="22270"/>
                </a:lnTo>
                <a:lnTo>
                  <a:pt x="75024" y="16891"/>
                </a:lnTo>
                <a:cubicBezTo>
                  <a:pt x="71653" y="13520"/>
                  <a:pt x="66202" y="13520"/>
                  <a:pt x="62866" y="16891"/>
                </a:cubicBezTo>
                <a:cubicBezTo>
                  <a:pt x="59531" y="20262"/>
                  <a:pt x="59495" y="25713"/>
                  <a:pt x="62866" y="29048"/>
                </a:cubicBezTo>
                <a:lnTo>
                  <a:pt x="80439" y="46621"/>
                </a:lnTo>
                <a:lnTo>
                  <a:pt x="80439" y="71940"/>
                </a:lnTo>
                <a:lnTo>
                  <a:pt x="58491" y="59280"/>
                </a:lnTo>
                <a:lnTo>
                  <a:pt x="52072" y="35288"/>
                </a:lnTo>
                <a:cubicBezTo>
                  <a:pt x="50853" y="30698"/>
                  <a:pt x="46119" y="27973"/>
                  <a:pt x="41528" y="29192"/>
                </a:cubicBezTo>
                <a:cubicBezTo>
                  <a:pt x="36938" y="30411"/>
                  <a:pt x="34177" y="35145"/>
                  <a:pt x="35396" y="39735"/>
                </a:cubicBezTo>
                <a:lnTo>
                  <a:pt x="37368" y="47087"/>
                </a:lnTo>
                <a:lnTo>
                  <a:pt x="18110" y="35970"/>
                </a:lnTo>
                <a:cubicBezTo>
                  <a:pt x="12623" y="32814"/>
                  <a:pt x="5595" y="34679"/>
                  <a:pt x="2439" y="40166"/>
                </a:cubicBezTo>
                <a:cubicBezTo>
                  <a:pt x="-717" y="45653"/>
                  <a:pt x="1148" y="52682"/>
                  <a:pt x="6635" y="55837"/>
                </a:cubicBezTo>
                <a:lnTo>
                  <a:pt x="25893" y="66955"/>
                </a:lnTo>
                <a:lnTo>
                  <a:pt x="18541" y="68927"/>
                </a:lnTo>
                <a:cubicBezTo>
                  <a:pt x="13950" y="70146"/>
                  <a:pt x="11225" y="74880"/>
                  <a:pt x="12444" y="79471"/>
                </a:cubicBezTo>
                <a:cubicBezTo>
                  <a:pt x="13663" y="84061"/>
                  <a:pt x="18397" y="86787"/>
                  <a:pt x="22988" y="85567"/>
                </a:cubicBezTo>
                <a:lnTo>
                  <a:pt x="46979" y="79148"/>
                </a:lnTo>
                <a:lnTo>
                  <a:pt x="68927" y="91807"/>
                </a:lnTo>
                <a:lnTo>
                  <a:pt x="46979" y="104467"/>
                </a:lnTo>
                <a:lnTo>
                  <a:pt x="22988" y="98047"/>
                </a:lnTo>
                <a:cubicBezTo>
                  <a:pt x="18397" y="96828"/>
                  <a:pt x="13663" y="99553"/>
                  <a:pt x="12444" y="104144"/>
                </a:cubicBezTo>
                <a:cubicBezTo>
                  <a:pt x="11225" y="108734"/>
                  <a:pt x="13950" y="113468"/>
                  <a:pt x="18541" y="114687"/>
                </a:cubicBezTo>
                <a:lnTo>
                  <a:pt x="25893" y="116660"/>
                </a:lnTo>
                <a:lnTo>
                  <a:pt x="6635" y="127777"/>
                </a:lnTo>
                <a:cubicBezTo>
                  <a:pt x="1148" y="130933"/>
                  <a:pt x="-717" y="137962"/>
                  <a:pt x="2439" y="143449"/>
                </a:cubicBezTo>
                <a:cubicBezTo>
                  <a:pt x="5595" y="148936"/>
                  <a:pt x="12623" y="150836"/>
                  <a:pt x="18110" y="147645"/>
                </a:cubicBezTo>
                <a:lnTo>
                  <a:pt x="37368" y="136527"/>
                </a:lnTo>
                <a:lnTo>
                  <a:pt x="35396" y="143879"/>
                </a:lnTo>
                <a:cubicBezTo>
                  <a:pt x="34177" y="148470"/>
                  <a:pt x="36902" y="153203"/>
                  <a:pt x="41493" y="154423"/>
                </a:cubicBezTo>
                <a:cubicBezTo>
                  <a:pt x="46083" y="155642"/>
                  <a:pt x="50817" y="152916"/>
                  <a:pt x="52036" y="148326"/>
                </a:cubicBezTo>
                <a:lnTo>
                  <a:pt x="58455" y="124334"/>
                </a:lnTo>
                <a:lnTo>
                  <a:pt x="80403" y="111675"/>
                </a:lnTo>
                <a:lnTo>
                  <a:pt x="80403" y="136994"/>
                </a:lnTo>
                <a:lnTo>
                  <a:pt x="62831" y="154566"/>
                </a:lnTo>
                <a:cubicBezTo>
                  <a:pt x="59460" y="157937"/>
                  <a:pt x="59460" y="163388"/>
                  <a:pt x="62831" y="166723"/>
                </a:cubicBezTo>
                <a:cubicBezTo>
                  <a:pt x="66202" y="170059"/>
                  <a:pt x="71653" y="170094"/>
                  <a:pt x="74988" y="166723"/>
                </a:cubicBezTo>
                <a:lnTo>
                  <a:pt x="80367" y="161344"/>
                </a:lnTo>
                <a:lnTo>
                  <a:pt x="80367" y="183614"/>
                </a:lnTo>
                <a:cubicBezTo>
                  <a:pt x="80367" y="189962"/>
                  <a:pt x="85495" y="195090"/>
                  <a:pt x="91843" y="195090"/>
                </a:cubicBezTo>
                <a:cubicBezTo>
                  <a:pt x="98191" y="195090"/>
                  <a:pt x="103319" y="189962"/>
                  <a:pt x="103319" y="183614"/>
                </a:cubicBezTo>
                <a:lnTo>
                  <a:pt x="103319" y="161344"/>
                </a:lnTo>
                <a:lnTo>
                  <a:pt x="108698" y="166723"/>
                </a:lnTo>
                <a:cubicBezTo>
                  <a:pt x="112069" y="170094"/>
                  <a:pt x="117520" y="170094"/>
                  <a:pt x="120856" y="166723"/>
                </a:cubicBezTo>
                <a:cubicBezTo>
                  <a:pt x="124191" y="163352"/>
                  <a:pt x="124227" y="157901"/>
                  <a:pt x="120856" y="154566"/>
                </a:cubicBezTo>
                <a:lnTo>
                  <a:pt x="103283" y="136994"/>
                </a:lnTo>
                <a:lnTo>
                  <a:pt x="103283" y="111675"/>
                </a:lnTo>
                <a:lnTo>
                  <a:pt x="125231" y="124334"/>
                </a:lnTo>
                <a:lnTo>
                  <a:pt x="131650" y="148326"/>
                </a:lnTo>
                <a:cubicBezTo>
                  <a:pt x="132869" y="152916"/>
                  <a:pt x="137603" y="155642"/>
                  <a:pt x="142194" y="154423"/>
                </a:cubicBezTo>
                <a:cubicBezTo>
                  <a:pt x="146784" y="153203"/>
                  <a:pt x="149510" y="148470"/>
                  <a:pt x="148290" y="143879"/>
                </a:cubicBezTo>
                <a:lnTo>
                  <a:pt x="146318" y="136527"/>
                </a:lnTo>
                <a:lnTo>
                  <a:pt x="165576" y="147645"/>
                </a:lnTo>
                <a:cubicBezTo>
                  <a:pt x="171063" y="150801"/>
                  <a:pt x="178092" y="148936"/>
                  <a:pt x="181248" y="143449"/>
                </a:cubicBezTo>
                <a:cubicBezTo>
                  <a:pt x="184403" y="137962"/>
                  <a:pt x="182539" y="130933"/>
                  <a:pt x="177052" y="127777"/>
                </a:cubicBezTo>
                <a:lnTo>
                  <a:pt x="157794" y="116660"/>
                </a:lnTo>
                <a:lnTo>
                  <a:pt x="165145" y="114687"/>
                </a:lnTo>
                <a:cubicBezTo>
                  <a:pt x="169736" y="113468"/>
                  <a:pt x="172461" y="108734"/>
                  <a:pt x="171242" y="104144"/>
                </a:cubicBezTo>
                <a:cubicBezTo>
                  <a:pt x="170023" y="99553"/>
                  <a:pt x="165289" y="96828"/>
                  <a:pt x="160699" y="98047"/>
                </a:cubicBezTo>
                <a:lnTo>
                  <a:pt x="136707" y="104467"/>
                </a:lnTo>
                <a:lnTo>
                  <a:pt x="114759" y="91807"/>
                </a:lnTo>
                <a:lnTo>
                  <a:pt x="136707" y="79148"/>
                </a:lnTo>
                <a:lnTo>
                  <a:pt x="160699" y="85567"/>
                </a:lnTo>
                <a:cubicBezTo>
                  <a:pt x="165289" y="86787"/>
                  <a:pt x="170023" y="84061"/>
                  <a:pt x="171242" y="79471"/>
                </a:cubicBezTo>
                <a:cubicBezTo>
                  <a:pt x="172461" y="74880"/>
                  <a:pt x="169736" y="70146"/>
                  <a:pt x="165145" y="68927"/>
                </a:cubicBezTo>
                <a:lnTo>
                  <a:pt x="157794" y="66955"/>
                </a:lnTo>
                <a:lnTo>
                  <a:pt x="177052" y="55837"/>
                </a:lnTo>
                <a:cubicBezTo>
                  <a:pt x="182539" y="52682"/>
                  <a:pt x="184439" y="45653"/>
                  <a:pt x="181248" y="40166"/>
                </a:cubicBezTo>
                <a:cubicBezTo>
                  <a:pt x="178056" y="34679"/>
                  <a:pt x="171063" y="32814"/>
                  <a:pt x="165576" y="35970"/>
                </a:cubicBezTo>
                <a:lnTo>
                  <a:pt x="146318" y="47087"/>
                </a:lnTo>
                <a:lnTo>
                  <a:pt x="148290" y="39735"/>
                </a:lnTo>
                <a:cubicBezTo>
                  <a:pt x="149510" y="35145"/>
                  <a:pt x="146784" y="30411"/>
                  <a:pt x="142194" y="29192"/>
                </a:cubicBezTo>
                <a:cubicBezTo>
                  <a:pt x="137603" y="27973"/>
                  <a:pt x="132869" y="30698"/>
                  <a:pt x="131650" y="35288"/>
                </a:cubicBezTo>
                <a:lnTo>
                  <a:pt x="125231" y="59280"/>
                </a:lnTo>
                <a:lnTo>
                  <a:pt x="103283" y="71940"/>
                </a:lnTo>
                <a:lnTo>
                  <a:pt x="103283" y="46621"/>
                </a:lnTo>
                <a:lnTo>
                  <a:pt x="120856" y="29048"/>
                </a:lnTo>
                <a:cubicBezTo>
                  <a:pt x="124227" y="25677"/>
                  <a:pt x="124227" y="20226"/>
                  <a:pt x="120856" y="16891"/>
                </a:cubicBezTo>
                <a:cubicBezTo>
                  <a:pt x="117485" y="13556"/>
                  <a:pt x="112034" y="13520"/>
                  <a:pt x="108698" y="16891"/>
                </a:cubicBezTo>
                <a:lnTo>
                  <a:pt x="103319" y="22270"/>
                </a:lnTo>
                <a:lnTo>
                  <a:pt x="103319" y="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2" name="Text 29"/>
          <p:cNvSpPr/>
          <p:nvPr/>
        </p:nvSpPr>
        <p:spPr>
          <a:xfrm>
            <a:off x="7181151" y="2800120"/>
            <a:ext cx="4553639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Solar Cold Chain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951633" y="3130627"/>
            <a:ext cx="4764795" cy="47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10-ton solar-grid hybrid units operating at </a:t>
            </a:r>
            <a:r>
              <a:rPr lang="en-US" sz="1157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2°C-8°C</a:t>
            </a:r>
            <a:r>
              <a:rPr lang="en-US" sz="1157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stop 25-40% post-harvest value destruction with 70% lower operating costs.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951633" y="3718193"/>
            <a:ext cx="4691349" cy="403952"/>
          </a:xfrm>
          <a:custGeom>
            <a:avLst/>
            <a:gdLst/>
            <a:ahLst/>
            <a:cxnLst/>
            <a:rect l="l" t="t" r="r" b="b"/>
            <a:pathLst>
              <a:path w="4691349" h="403952">
                <a:moveTo>
                  <a:pt x="36723" y="0"/>
                </a:moveTo>
                <a:lnTo>
                  <a:pt x="4654626" y="0"/>
                </a:lnTo>
                <a:cubicBezTo>
                  <a:pt x="4674908" y="0"/>
                  <a:pt x="4691349" y="16442"/>
                  <a:pt x="4691349" y="36723"/>
                </a:cubicBezTo>
                <a:lnTo>
                  <a:pt x="4691349" y="367229"/>
                </a:lnTo>
                <a:cubicBezTo>
                  <a:pt x="4691349" y="387510"/>
                  <a:pt x="4674908" y="403952"/>
                  <a:pt x="4654626" y="403952"/>
                </a:cubicBezTo>
                <a:lnTo>
                  <a:pt x="36723" y="403952"/>
                </a:lnTo>
                <a:cubicBezTo>
                  <a:pt x="16455" y="403952"/>
                  <a:pt x="0" y="387497"/>
                  <a:pt x="0" y="367229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7061802" y="3810000"/>
            <a:ext cx="1239398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CO₂ Sequestration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289556" y="3791639"/>
            <a:ext cx="1322024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3,500kg/unit/year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951633" y="4195590"/>
            <a:ext cx="4691349" cy="403952"/>
          </a:xfrm>
          <a:custGeom>
            <a:avLst/>
            <a:gdLst/>
            <a:ahLst/>
            <a:cxnLst/>
            <a:rect l="l" t="t" r="r" b="b"/>
            <a:pathLst>
              <a:path w="4691349" h="403952">
                <a:moveTo>
                  <a:pt x="36723" y="0"/>
                </a:moveTo>
                <a:lnTo>
                  <a:pt x="4654626" y="0"/>
                </a:lnTo>
                <a:cubicBezTo>
                  <a:pt x="4674908" y="0"/>
                  <a:pt x="4691349" y="16442"/>
                  <a:pt x="4691349" y="36723"/>
                </a:cubicBezTo>
                <a:lnTo>
                  <a:pt x="4691349" y="367229"/>
                </a:lnTo>
                <a:cubicBezTo>
                  <a:pt x="4691349" y="387510"/>
                  <a:pt x="4674908" y="403952"/>
                  <a:pt x="4654626" y="403952"/>
                </a:cubicBezTo>
                <a:lnTo>
                  <a:pt x="36723" y="403952"/>
                </a:lnTo>
                <a:cubicBezTo>
                  <a:pt x="16455" y="403952"/>
                  <a:pt x="0" y="387497"/>
                  <a:pt x="0" y="367229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7061802" y="4287398"/>
            <a:ext cx="284602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056355" y="4269036"/>
            <a:ext cx="560024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14.47%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951633" y="4672988"/>
            <a:ext cx="4691349" cy="403952"/>
          </a:xfrm>
          <a:custGeom>
            <a:avLst/>
            <a:gdLst/>
            <a:ahLst/>
            <a:cxnLst/>
            <a:rect l="l" t="t" r="r" b="b"/>
            <a:pathLst>
              <a:path w="4691349" h="403952">
                <a:moveTo>
                  <a:pt x="36723" y="0"/>
                </a:moveTo>
                <a:lnTo>
                  <a:pt x="4654626" y="0"/>
                </a:lnTo>
                <a:cubicBezTo>
                  <a:pt x="4674908" y="0"/>
                  <a:pt x="4691349" y="16442"/>
                  <a:pt x="4691349" y="36723"/>
                </a:cubicBezTo>
                <a:lnTo>
                  <a:pt x="4691349" y="367229"/>
                </a:lnTo>
                <a:cubicBezTo>
                  <a:pt x="4691349" y="387510"/>
                  <a:pt x="4674908" y="403952"/>
                  <a:pt x="4654626" y="403952"/>
                </a:cubicBezTo>
                <a:lnTo>
                  <a:pt x="36723" y="403952"/>
                </a:lnTo>
                <a:cubicBezTo>
                  <a:pt x="16455" y="403952"/>
                  <a:pt x="0" y="387497"/>
                  <a:pt x="0" y="367229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061802" y="4764795"/>
            <a:ext cx="1211855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 Status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0747653" y="4746434"/>
            <a:ext cx="862988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PPP-Ready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768019" y="5407446"/>
            <a:ext cx="5058578" cy="1450554"/>
          </a:xfrm>
          <a:custGeom>
            <a:avLst/>
            <a:gdLst/>
            <a:ahLst/>
            <a:cxnLst/>
            <a:rect l="l" t="t" r="r" b="b"/>
            <a:pathLst>
              <a:path w="5058578" h="1450554">
                <a:moveTo>
                  <a:pt x="36728" y="0"/>
                </a:moveTo>
                <a:lnTo>
                  <a:pt x="5021850" y="0"/>
                </a:lnTo>
                <a:cubicBezTo>
                  <a:pt x="5042135" y="0"/>
                  <a:pt x="5058578" y="16444"/>
                  <a:pt x="5058578" y="36728"/>
                </a:cubicBezTo>
                <a:lnTo>
                  <a:pt x="5058578" y="1413826"/>
                </a:lnTo>
                <a:cubicBezTo>
                  <a:pt x="5058578" y="1434111"/>
                  <a:pt x="5042135" y="1450554"/>
                  <a:pt x="5021850" y="1450554"/>
                </a:cubicBezTo>
                <a:lnTo>
                  <a:pt x="36728" y="1450554"/>
                </a:lnTo>
                <a:cubicBezTo>
                  <a:pt x="16444" y="1450554"/>
                  <a:pt x="0" y="1434111"/>
                  <a:pt x="0" y="1413826"/>
                </a:cubicBezTo>
                <a:lnTo>
                  <a:pt x="0" y="36728"/>
                </a:lnTo>
                <a:cubicBezTo>
                  <a:pt x="0" y="16444"/>
                  <a:pt x="16444" y="0"/>
                  <a:pt x="36728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44" name="Shape 41"/>
          <p:cNvSpPr/>
          <p:nvPr/>
        </p:nvSpPr>
        <p:spPr>
          <a:xfrm>
            <a:off x="6995242" y="5636964"/>
            <a:ext cx="123940" cy="165253"/>
          </a:xfrm>
          <a:custGeom>
            <a:avLst/>
            <a:gdLst/>
            <a:ahLst/>
            <a:cxnLst/>
            <a:rect l="l" t="t" r="r" b="b"/>
            <a:pathLst>
              <a:path w="123940" h="165253">
                <a:moveTo>
                  <a:pt x="94536" y="123940"/>
                </a:moveTo>
                <a:cubicBezTo>
                  <a:pt x="96892" y="116742"/>
                  <a:pt x="101605" y="110222"/>
                  <a:pt x="106930" y="104606"/>
                </a:cubicBezTo>
                <a:cubicBezTo>
                  <a:pt x="117485" y="93504"/>
                  <a:pt x="123940" y="78495"/>
                  <a:pt x="123940" y="61970"/>
                </a:cubicBezTo>
                <a:cubicBezTo>
                  <a:pt x="123940" y="27757"/>
                  <a:pt x="96182" y="0"/>
                  <a:pt x="61970" y="0"/>
                </a:cubicBezTo>
                <a:cubicBezTo>
                  <a:pt x="27757" y="0"/>
                  <a:pt x="0" y="27757"/>
                  <a:pt x="0" y="61970"/>
                </a:cubicBezTo>
                <a:cubicBezTo>
                  <a:pt x="0" y="78495"/>
                  <a:pt x="6455" y="93504"/>
                  <a:pt x="17009" y="104606"/>
                </a:cubicBezTo>
                <a:cubicBezTo>
                  <a:pt x="22335" y="110222"/>
                  <a:pt x="27080" y="116742"/>
                  <a:pt x="29403" y="123940"/>
                </a:cubicBezTo>
                <a:lnTo>
                  <a:pt x="94504" y="123940"/>
                </a:lnTo>
                <a:close/>
                <a:moveTo>
                  <a:pt x="92955" y="139432"/>
                </a:moveTo>
                <a:lnTo>
                  <a:pt x="30985" y="139432"/>
                </a:lnTo>
                <a:lnTo>
                  <a:pt x="30985" y="144596"/>
                </a:lnTo>
                <a:cubicBezTo>
                  <a:pt x="30985" y="158862"/>
                  <a:pt x="42540" y="170417"/>
                  <a:pt x="56806" y="170417"/>
                </a:cubicBezTo>
                <a:lnTo>
                  <a:pt x="67134" y="170417"/>
                </a:lnTo>
                <a:cubicBezTo>
                  <a:pt x="81400" y="170417"/>
                  <a:pt x="92955" y="158862"/>
                  <a:pt x="92955" y="144596"/>
                </a:cubicBezTo>
                <a:lnTo>
                  <a:pt x="92955" y="139432"/>
                </a:lnTo>
                <a:close/>
                <a:moveTo>
                  <a:pt x="59388" y="36149"/>
                </a:moveTo>
                <a:cubicBezTo>
                  <a:pt x="46542" y="36149"/>
                  <a:pt x="36149" y="46542"/>
                  <a:pt x="36149" y="59388"/>
                </a:cubicBezTo>
                <a:cubicBezTo>
                  <a:pt x="36149" y="63681"/>
                  <a:pt x="32696" y="67134"/>
                  <a:pt x="28403" y="67134"/>
                </a:cubicBezTo>
                <a:cubicBezTo>
                  <a:pt x="24110" y="67134"/>
                  <a:pt x="20657" y="63681"/>
                  <a:pt x="20657" y="59388"/>
                </a:cubicBezTo>
                <a:cubicBezTo>
                  <a:pt x="20657" y="37989"/>
                  <a:pt x="37989" y="20657"/>
                  <a:pt x="59388" y="20657"/>
                </a:cubicBezTo>
                <a:cubicBezTo>
                  <a:pt x="63681" y="20657"/>
                  <a:pt x="67134" y="24110"/>
                  <a:pt x="67134" y="28403"/>
                </a:cubicBezTo>
                <a:cubicBezTo>
                  <a:pt x="67134" y="32696"/>
                  <a:pt x="63681" y="36149"/>
                  <a:pt x="59388" y="3614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7162790" y="5591060"/>
            <a:ext cx="4562819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951633" y="5958289"/>
            <a:ext cx="4764795" cy="71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115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Redox Potential</a:t>
            </a:r>
            <a:r>
              <a:rPr lang="en-US" sz="115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parameter enables ML-based prediction of micronutrient bioavailability, transforming blanket fertilization into site-specific precision agriculture.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0855" y="330855"/>
            <a:ext cx="49628" cy="330855"/>
          </a:xfrm>
          <a:custGeom>
            <a:avLst/>
            <a:gdLst/>
            <a:ahLst/>
            <a:cxnLst/>
            <a:rect l="l" t="t" r="r" b="b"/>
            <a:pathLst>
              <a:path w="49628" h="330855">
                <a:moveTo>
                  <a:pt x="0" y="0"/>
                </a:moveTo>
                <a:lnTo>
                  <a:pt x="49628" y="0"/>
                </a:lnTo>
                <a:lnTo>
                  <a:pt x="49628" y="330855"/>
                </a:lnTo>
                <a:lnTo>
                  <a:pt x="0" y="330855"/>
                </a:lnTo>
                <a:lnTo>
                  <a:pt x="0" y="0"/>
                </a:ln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3" name="Text 1"/>
          <p:cNvSpPr/>
          <p:nvPr/>
        </p:nvSpPr>
        <p:spPr>
          <a:xfrm>
            <a:off x="479739" y="397026"/>
            <a:ext cx="2216727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kern="0" spc="5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B: DIGITAL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0855" y="727881"/>
            <a:ext cx="11679175" cy="3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45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Blockchain Governance &amp; Data Sovereignty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0855" y="1166263"/>
            <a:ext cx="11604733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Transitioning from fragmented data silos to immutable transparency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0855" y="1546746"/>
            <a:ext cx="4532711" cy="3672488"/>
          </a:xfrm>
          <a:custGeom>
            <a:avLst/>
            <a:gdLst/>
            <a:ahLst/>
            <a:cxnLst/>
            <a:rect l="l" t="t" r="r" b="b"/>
            <a:pathLst>
              <a:path w="4532711" h="3672488">
                <a:moveTo>
                  <a:pt x="33085" y="0"/>
                </a:moveTo>
                <a:lnTo>
                  <a:pt x="4499626" y="0"/>
                </a:lnTo>
                <a:cubicBezTo>
                  <a:pt x="4517898" y="0"/>
                  <a:pt x="4532711" y="14813"/>
                  <a:pt x="4532711" y="33085"/>
                </a:cubicBezTo>
                <a:lnTo>
                  <a:pt x="4532711" y="3639399"/>
                </a:lnTo>
                <a:cubicBezTo>
                  <a:pt x="4532711" y="3657674"/>
                  <a:pt x="4517896" y="3672488"/>
                  <a:pt x="4499622" y="3672488"/>
                </a:cubicBezTo>
                <a:lnTo>
                  <a:pt x="33089" y="3672488"/>
                </a:lnTo>
                <a:cubicBezTo>
                  <a:pt x="14815" y="3672488"/>
                  <a:pt x="0" y="3657674"/>
                  <a:pt x="0" y="3639399"/>
                </a:cubicBez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814" dist="82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0855" y="1546746"/>
            <a:ext cx="4532711" cy="33085"/>
          </a:xfrm>
          <a:custGeom>
            <a:avLst/>
            <a:gdLst/>
            <a:ahLst/>
            <a:cxnLst/>
            <a:rect l="l" t="t" r="r" b="b"/>
            <a:pathLst>
              <a:path w="4532711" h="33085">
                <a:moveTo>
                  <a:pt x="33085" y="0"/>
                </a:moveTo>
                <a:lnTo>
                  <a:pt x="4499626" y="0"/>
                </a:lnTo>
                <a:cubicBezTo>
                  <a:pt x="4517898" y="0"/>
                  <a:pt x="4532711" y="14813"/>
                  <a:pt x="4532711" y="33085"/>
                </a:cubicBezTo>
                <a:lnTo>
                  <a:pt x="4532711" y="33085"/>
                </a:lnTo>
                <a:lnTo>
                  <a:pt x="0" y="33085"/>
                </a:ln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Shape 6"/>
          <p:cNvSpPr/>
          <p:nvPr/>
        </p:nvSpPr>
        <p:spPr>
          <a:xfrm>
            <a:off x="494214" y="2175370"/>
            <a:ext cx="144749" cy="165427"/>
          </a:xfrm>
          <a:custGeom>
            <a:avLst/>
            <a:gdLst/>
            <a:ahLst/>
            <a:cxnLst/>
            <a:rect l="l" t="t" r="r" b="b"/>
            <a:pathLst>
              <a:path w="144749" h="165427">
                <a:moveTo>
                  <a:pt x="144749" y="66494"/>
                </a:moveTo>
                <a:cubicBezTo>
                  <a:pt x="139967" y="69660"/>
                  <a:pt x="134474" y="72213"/>
                  <a:pt x="128756" y="74248"/>
                </a:cubicBezTo>
                <a:cubicBezTo>
                  <a:pt x="113570" y="79677"/>
                  <a:pt x="93634" y="82714"/>
                  <a:pt x="72374" y="82714"/>
                </a:cubicBezTo>
                <a:cubicBezTo>
                  <a:pt x="51114" y="82714"/>
                  <a:pt x="31147" y="79644"/>
                  <a:pt x="15993" y="74248"/>
                </a:cubicBezTo>
                <a:cubicBezTo>
                  <a:pt x="10307" y="72213"/>
                  <a:pt x="4782" y="69660"/>
                  <a:pt x="0" y="66494"/>
                </a:cubicBezTo>
                <a:lnTo>
                  <a:pt x="0" y="93053"/>
                </a:lnTo>
                <a:cubicBezTo>
                  <a:pt x="0" y="107334"/>
                  <a:pt x="32407" y="118901"/>
                  <a:pt x="72374" y="118901"/>
                </a:cubicBezTo>
                <a:cubicBezTo>
                  <a:pt x="112342" y="118901"/>
                  <a:pt x="144749" y="107334"/>
                  <a:pt x="144749" y="93053"/>
                </a:cubicBezTo>
                <a:lnTo>
                  <a:pt x="144749" y="66494"/>
                </a:lnTo>
                <a:close/>
                <a:moveTo>
                  <a:pt x="144749" y="41357"/>
                </a:moveTo>
                <a:lnTo>
                  <a:pt x="144749" y="25848"/>
                </a:lnTo>
                <a:cubicBezTo>
                  <a:pt x="144749" y="11567"/>
                  <a:pt x="112342" y="0"/>
                  <a:pt x="72374" y="0"/>
                </a:cubicBezTo>
                <a:cubicBezTo>
                  <a:pt x="32407" y="0"/>
                  <a:pt x="0" y="11567"/>
                  <a:pt x="0" y="25848"/>
                </a:cubicBezTo>
                <a:lnTo>
                  <a:pt x="0" y="41357"/>
                </a:lnTo>
                <a:cubicBezTo>
                  <a:pt x="0" y="55638"/>
                  <a:pt x="32407" y="67205"/>
                  <a:pt x="72374" y="67205"/>
                </a:cubicBezTo>
                <a:cubicBezTo>
                  <a:pt x="112342" y="67205"/>
                  <a:pt x="144749" y="55638"/>
                  <a:pt x="144749" y="41357"/>
                </a:cubicBezTo>
                <a:close/>
                <a:moveTo>
                  <a:pt x="128756" y="125945"/>
                </a:moveTo>
                <a:cubicBezTo>
                  <a:pt x="113602" y="131340"/>
                  <a:pt x="93667" y="134410"/>
                  <a:pt x="72374" y="134410"/>
                </a:cubicBezTo>
                <a:cubicBezTo>
                  <a:pt x="51082" y="134410"/>
                  <a:pt x="31147" y="131340"/>
                  <a:pt x="15993" y="125945"/>
                </a:cubicBezTo>
                <a:cubicBezTo>
                  <a:pt x="10307" y="123909"/>
                  <a:pt x="4782" y="121357"/>
                  <a:pt x="0" y="118190"/>
                </a:cubicBezTo>
                <a:lnTo>
                  <a:pt x="0" y="139579"/>
                </a:lnTo>
                <a:cubicBezTo>
                  <a:pt x="0" y="153860"/>
                  <a:pt x="32407" y="165427"/>
                  <a:pt x="72374" y="165427"/>
                </a:cubicBezTo>
                <a:cubicBezTo>
                  <a:pt x="112342" y="165427"/>
                  <a:pt x="144749" y="153860"/>
                  <a:pt x="144749" y="139579"/>
                </a:cubicBezTo>
                <a:lnTo>
                  <a:pt x="144749" y="118190"/>
                </a:lnTo>
                <a:cubicBezTo>
                  <a:pt x="139967" y="121357"/>
                  <a:pt x="134474" y="123909"/>
                  <a:pt x="128756" y="125945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669981" y="2142285"/>
            <a:ext cx="4143957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Hybrid Data Strategy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3197" y="2473140"/>
            <a:ext cx="4268027" cy="1141449"/>
          </a:xfrm>
          <a:custGeom>
            <a:avLst/>
            <a:gdLst/>
            <a:ahLst/>
            <a:cxnLst/>
            <a:rect l="l" t="t" r="r" b="b"/>
            <a:pathLst>
              <a:path w="4268027" h="1141449">
                <a:moveTo>
                  <a:pt x="33091" y="0"/>
                </a:moveTo>
                <a:lnTo>
                  <a:pt x="4234937" y="0"/>
                </a:lnTo>
                <a:cubicBezTo>
                  <a:pt x="4253212" y="0"/>
                  <a:pt x="4268027" y="14815"/>
                  <a:pt x="4268027" y="33091"/>
                </a:cubicBezTo>
                <a:lnTo>
                  <a:pt x="4268027" y="1108359"/>
                </a:lnTo>
                <a:cubicBezTo>
                  <a:pt x="4268027" y="1126634"/>
                  <a:pt x="4253212" y="1141449"/>
                  <a:pt x="4234937" y="1141449"/>
                </a:cubicBezTo>
                <a:lnTo>
                  <a:pt x="33091" y="1141449"/>
                </a:lnTo>
                <a:cubicBezTo>
                  <a:pt x="14815" y="1141449"/>
                  <a:pt x="0" y="1126634"/>
                  <a:pt x="0" y="1108359"/>
                </a:cubicBezTo>
                <a:lnTo>
                  <a:pt x="0" y="33091"/>
                </a:lnTo>
                <a:cubicBezTo>
                  <a:pt x="0" y="14815"/>
                  <a:pt x="14815" y="0"/>
                  <a:pt x="33091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2453" y="2572396"/>
            <a:ext cx="264684" cy="264684"/>
          </a:xfrm>
          <a:custGeom>
            <a:avLst/>
            <a:gdLst/>
            <a:ahLst/>
            <a:cxnLst/>
            <a:rect l="l" t="t" r="r" b="b"/>
            <a:pathLst>
              <a:path w="264684" h="264684">
                <a:moveTo>
                  <a:pt x="33085" y="0"/>
                </a:moveTo>
                <a:lnTo>
                  <a:pt x="231598" y="0"/>
                </a:lnTo>
                <a:cubicBezTo>
                  <a:pt x="249871" y="0"/>
                  <a:pt x="264684" y="14813"/>
                  <a:pt x="264684" y="33085"/>
                </a:cubicBezTo>
                <a:lnTo>
                  <a:pt x="264684" y="231598"/>
                </a:lnTo>
                <a:cubicBezTo>
                  <a:pt x="264684" y="249871"/>
                  <a:pt x="249871" y="264684"/>
                  <a:pt x="231598" y="264684"/>
                </a:cubicBezTo>
                <a:lnTo>
                  <a:pt x="33085" y="264684"/>
                </a:lnTo>
                <a:cubicBezTo>
                  <a:pt x="14813" y="264684"/>
                  <a:pt x="0" y="249871"/>
                  <a:pt x="0" y="231598"/>
                </a:cubicBez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6201" y="2646839"/>
            <a:ext cx="101324" cy="115799"/>
          </a:xfrm>
          <a:custGeom>
            <a:avLst/>
            <a:gdLst/>
            <a:ahLst/>
            <a:cxnLst/>
            <a:rect l="l" t="t" r="r" b="b"/>
            <a:pathLst>
              <a:path w="101324" h="115799">
                <a:moveTo>
                  <a:pt x="14475" y="7237"/>
                </a:moveTo>
                <a:cubicBezTo>
                  <a:pt x="6491" y="7237"/>
                  <a:pt x="0" y="13729"/>
                  <a:pt x="0" y="21712"/>
                </a:cubicBezTo>
                <a:lnTo>
                  <a:pt x="0" y="36187"/>
                </a:lnTo>
                <a:cubicBezTo>
                  <a:pt x="0" y="44171"/>
                  <a:pt x="6491" y="50662"/>
                  <a:pt x="14475" y="50662"/>
                </a:cubicBezTo>
                <a:lnTo>
                  <a:pt x="86849" y="50662"/>
                </a:lnTo>
                <a:cubicBezTo>
                  <a:pt x="94833" y="50662"/>
                  <a:pt x="101324" y="44171"/>
                  <a:pt x="101324" y="36187"/>
                </a:cubicBezTo>
                <a:lnTo>
                  <a:pt x="101324" y="21712"/>
                </a:lnTo>
                <a:cubicBezTo>
                  <a:pt x="101324" y="13729"/>
                  <a:pt x="94833" y="7237"/>
                  <a:pt x="86849" y="7237"/>
                </a:cubicBezTo>
                <a:lnTo>
                  <a:pt x="14475" y="7237"/>
                </a:lnTo>
                <a:close/>
                <a:moveTo>
                  <a:pt x="63328" y="23522"/>
                </a:moveTo>
                <a:cubicBezTo>
                  <a:pt x="66324" y="23522"/>
                  <a:pt x="68756" y="25954"/>
                  <a:pt x="68756" y="28950"/>
                </a:cubicBezTo>
                <a:cubicBezTo>
                  <a:pt x="68756" y="31946"/>
                  <a:pt x="66324" y="34378"/>
                  <a:pt x="63328" y="34378"/>
                </a:cubicBezTo>
                <a:cubicBezTo>
                  <a:pt x="60332" y="34378"/>
                  <a:pt x="57900" y="31946"/>
                  <a:pt x="57900" y="28950"/>
                </a:cubicBezTo>
                <a:cubicBezTo>
                  <a:pt x="57900" y="25954"/>
                  <a:pt x="60332" y="23522"/>
                  <a:pt x="63328" y="23522"/>
                </a:cubicBezTo>
                <a:close/>
                <a:moveTo>
                  <a:pt x="75993" y="28950"/>
                </a:moveTo>
                <a:cubicBezTo>
                  <a:pt x="75993" y="25954"/>
                  <a:pt x="78425" y="23522"/>
                  <a:pt x="81421" y="23522"/>
                </a:cubicBezTo>
                <a:cubicBezTo>
                  <a:pt x="84417" y="23522"/>
                  <a:pt x="86849" y="25954"/>
                  <a:pt x="86849" y="28950"/>
                </a:cubicBezTo>
                <a:cubicBezTo>
                  <a:pt x="86849" y="31946"/>
                  <a:pt x="84417" y="34378"/>
                  <a:pt x="81421" y="34378"/>
                </a:cubicBezTo>
                <a:cubicBezTo>
                  <a:pt x="78425" y="34378"/>
                  <a:pt x="75993" y="31946"/>
                  <a:pt x="75993" y="28950"/>
                </a:cubicBezTo>
                <a:close/>
                <a:moveTo>
                  <a:pt x="14475" y="65137"/>
                </a:moveTo>
                <a:cubicBezTo>
                  <a:pt x="6491" y="65137"/>
                  <a:pt x="0" y="71628"/>
                  <a:pt x="0" y="79612"/>
                </a:cubicBezTo>
                <a:lnTo>
                  <a:pt x="0" y="94087"/>
                </a:lnTo>
                <a:cubicBezTo>
                  <a:pt x="0" y="102071"/>
                  <a:pt x="6491" y="108562"/>
                  <a:pt x="14475" y="108562"/>
                </a:cubicBezTo>
                <a:lnTo>
                  <a:pt x="86849" y="108562"/>
                </a:lnTo>
                <a:cubicBezTo>
                  <a:pt x="94833" y="108562"/>
                  <a:pt x="101324" y="102071"/>
                  <a:pt x="101324" y="94087"/>
                </a:cubicBezTo>
                <a:lnTo>
                  <a:pt x="101324" y="79612"/>
                </a:lnTo>
                <a:cubicBezTo>
                  <a:pt x="101324" y="71628"/>
                  <a:pt x="94833" y="65137"/>
                  <a:pt x="86849" y="65137"/>
                </a:cubicBezTo>
                <a:lnTo>
                  <a:pt x="14475" y="65137"/>
                </a:lnTo>
                <a:close/>
                <a:moveTo>
                  <a:pt x="63328" y="81421"/>
                </a:moveTo>
                <a:cubicBezTo>
                  <a:pt x="66324" y="81421"/>
                  <a:pt x="68756" y="83854"/>
                  <a:pt x="68756" y="86849"/>
                </a:cubicBezTo>
                <a:cubicBezTo>
                  <a:pt x="68756" y="89845"/>
                  <a:pt x="66324" y="92277"/>
                  <a:pt x="63328" y="92277"/>
                </a:cubicBezTo>
                <a:cubicBezTo>
                  <a:pt x="60332" y="92277"/>
                  <a:pt x="57900" y="89845"/>
                  <a:pt x="57900" y="86849"/>
                </a:cubicBezTo>
                <a:cubicBezTo>
                  <a:pt x="57900" y="83854"/>
                  <a:pt x="60332" y="81421"/>
                  <a:pt x="63328" y="81421"/>
                </a:cubicBezTo>
                <a:close/>
                <a:moveTo>
                  <a:pt x="75993" y="86849"/>
                </a:moveTo>
                <a:cubicBezTo>
                  <a:pt x="75993" y="83854"/>
                  <a:pt x="78425" y="81421"/>
                  <a:pt x="81421" y="81421"/>
                </a:cubicBezTo>
                <a:cubicBezTo>
                  <a:pt x="84417" y="81421"/>
                  <a:pt x="86849" y="83854"/>
                  <a:pt x="86849" y="86849"/>
                </a:cubicBezTo>
                <a:cubicBezTo>
                  <a:pt x="86849" y="89845"/>
                  <a:pt x="84417" y="92277"/>
                  <a:pt x="81421" y="92277"/>
                </a:cubicBezTo>
                <a:cubicBezTo>
                  <a:pt x="78425" y="92277"/>
                  <a:pt x="75993" y="89845"/>
                  <a:pt x="75993" y="8684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93308" y="2588939"/>
            <a:ext cx="1604646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PostgreSQL (Off-chain)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2453" y="2870166"/>
            <a:ext cx="4135685" cy="64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2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"Source of Truth for Details"</a:t>
            </a:r>
            <a:r>
              <a:rPr lang="en-US" sz="104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—Manages high-throughput PII and soil records with low-latency processing while ensuring data privacy compliance.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3197" y="3713845"/>
            <a:ext cx="4268027" cy="926393"/>
          </a:xfrm>
          <a:custGeom>
            <a:avLst/>
            <a:gdLst/>
            <a:ahLst/>
            <a:cxnLst/>
            <a:rect l="l" t="t" r="r" b="b"/>
            <a:pathLst>
              <a:path w="4268027" h="926393">
                <a:moveTo>
                  <a:pt x="33082" y="0"/>
                </a:moveTo>
                <a:lnTo>
                  <a:pt x="4234946" y="0"/>
                </a:lnTo>
                <a:cubicBezTo>
                  <a:pt x="4253216" y="0"/>
                  <a:pt x="4268027" y="14811"/>
                  <a:pt x="4268027" y="33082"/>
                </a:cubicBezTo>
                <a:lnTo>
                  <a:pt x="4268027" y="893312"/>
                </a:lnTo>
                <a:cubicBezTo>
                  <a:pt x="4268027" y="911582"/>
                  <a:pt x="4253216" y="926393"/>
                  <a:pt x="4234946" y="926393"/>
                </a:cubicBezTo>
                <a:lnTo>
                  <a:pt x="33082" y="926393"/>
                </a:lnTo>
                <a:cubicBezTo>
                  <a:pt x="14811" y="926393"/>
                  <a:pt x="0" y="911582"/>
                  <a:pt x="0" y="893312"/>
                </a:cubicBezTo>
                <a:lnTo>
                  <a:pt x="0" y="33082"/>
                </a:lnTo>
                <a:cubicBezTo>
                  <a:pt x="0" y="14811"/>
                  <a:pt x="14811" y="0"/>
                  <a:pt x="33082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62453" y="3813102"/>
            <a:ext cx="264684" cy="264684"/>
          </a:xfrm>
          <a:custGeom>
            <a:avLst/>
            <a:gdLst/>
            <a:ahLst/>
            <a:cxnLst/>
            <a:rect l="l" t="t" r="r" b="b"/>
            <a:pathLst>
              <a:path w="264684" h="264684">
                <a:moveTo>
                  <a:pt x="33085" y="0"/>
                </a:moveTo>
                <a:lnTo>
                  <a:pt x="231598" y="0"/>
                </a:lnTo>
                <a:cubicBezTo>
                  <a:pt x="249871" y="0"/>
                  <a:pt x="264684" y="14813"/>
                  <a:pt x="264684" y="33085"/>
                </a:cubicBezTo>
                <a:lnTo>
                  <a:pt x="264684" y="231598"/>
                </a:lnTo>
                <a:cubicBezTo>
                  <a:pt x="264684" y="249871"/>
                  <a:pt x="249871" y="264684"/>
                  <a:pt x="231598" y="264684"/>
                </a:cubicBezTo>
                <a:lnTo>
                  <a:pt x="33085" y="264684"/>
                </a:lnTo>
                <a:cubicBezTo>
                  <a:pt x="14813" y="264684"/>
                  <a:pt x="0" y="249871"/>
                  <a:pt x="0" y="231598"/>
                </a:cubicBez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1726" y="3887544"/>
            <a:ext cx="130274" cy="115799"/>
          </a:xfrm>
          <a:custGeom>
            <a:avLst/>
            <a:gdLst/>
            <a:ahLst/>
            <a:cxnLst/>
            <a:rect l="l" t="t" r="r" b="b"/>
            <a:pathLst>
              <a:path w="130274" h="115799">
                <a:moveTo>
                  <a:pt x="94878" y="21712"/>
                </a:moveTo>
                <a:cubicBezTo>
                  <a:pt x="91124" y="21712"/>
                  <a:pt x="87483" y="22730"/>
                  <a:pt x="84294" y="24585"/>
                </a:cubicBezTo>
                <a:cubicBezTo>
                  <a:pt x="80720" y="20966"/>
                  <a:pt x="76559" y="17935"/>
                  <a:pt x="71967" y="15651"/>
                </a:cubicBezTo>
                <a:cubicBezTo>
                  <a:pt x="78345" y="10223"/>
                  <a:pt x="86465" y="7237"/>
                  <a:pt x="94878" y="7237"/>
                </a:cubicBezTo>
                <a:cubicBezTo>
                  <a:pt x="114420" y="7237"/>
                  <a:pt x="130274" y="23069"/>
                  <a:pt x="130274" y="42633"/>
                </a:cubicBezTo>
                <a:cubicBezTo>
                  <a:pt x="130274" y="52019"/>
                  <a:pt x="126542" y="61021"/>
                  <a:pt x="119915" y="67648"/>
                </a:cubicBezTo>
                <a:lnTo>
                  <a:pt x="103835" y="83728"/>
                </a:lnTo>
                <a:cubicBezTo>
                  <a:pt x="97208" y="90355"/>
                  <a:pt x="88206" y="94087"/>
                  <a:pt x="78820" y="94087"/>
                </a:cubicBezTo>
                <a:cubicBezTo>
                  <a:pt x="59279" y="94087"/>
                  <a:pt x="43425" y="78255"/>
                  <a:pt x="43425" y="58691"/>
                </a:cubicBezTo>
                <a:cubicBezTo>
                  <a:pt x="43425" y="58352"/>
                  <a:pt x="43425" y="58013"/>
                  <a:pt x="43447" y="57673"/>
                </a:cubicBezTo>
                <a:cubicBezTo>
                  <a:pt x="43560" y="53670"/>
                  <a:pt x="46885" y="50526"/>
                  <a:pt x="50888" y="50640"/>
                </a:cubicBezTo>
                <a:cubicBezTo>
                  <a:pt x="54892" y="50753"/>
                  <a:pt x="58035" y="54077"/>
                  <a:pt x="57922" y="58081"/>
                </a:cubicBezTo>
                <a:cubicBezTo>
                  <a:pt x="57922" y="58284"/>
                  <a:pt x="57922" y="58488"/>
                  <a:pt x="57922" y="58669"/>
                </a:cubicBezTo>
                <a:cubicBezTo>
                  <a:pt x="57922" y="70226"/>
                  <a:pt x="67286" y="79589"/>
                  <a:pt x="78843" y="79589"/>
                </a:cubicBezTo>
                <a:cubicBezTo>
                  <a:pt x="84384" y="79589"/>
                  <a:pt x="89699" y="77395"/>
                  <a:pt x="93634" y="73460"/>
                </a:cubicBezTo>
                <a:lnTo>
                  <a:pt x="109715" y="57379"/>
                </a:lnTo>
                <a:cubicBezTo>
                  <a:pt x="113628" y="53467"/>
                  <a:pt x="115844" y="48129"/>
                  <a:pt x="115844" y="42588"/>
                </a:cubicBezTo>
                <a:cubicBezTo>
                  <a:pt x="115844" y="31031"/>
                  <a:pt x="106481" y="21667"/>
                  <a:pt x="94924" y="21667"/>
                </a:cubicBezTo>
                <a:close/>
                <a:moveTo>
                  <a:pt x="62242" y="39195"/>
                </a:moveTo>
                <a:cubicBezTo>
                  <a:pt x="61812" y="39014"/>
                  <a:pt x="61383" y="38766"/>
                  <a:pt x="60998" y="38494"/>
                </a:cubicBezTo>
                <a:cubicBezTo>
                  <a:pt x="58148" y="37024"/>
                  <a:pt x="54892" y="36187"/>
                  <a:pt x="51476" y="36187"/>
                </a:cubicBezTo>
                <a:cubicBezTo>
                  <a:pt x="45935" y="36187"/>
                  <a:pt x="40620" y="38381"/>
                  <a:pt x="36685" y="42316"/>
                </a:cubicBezTo>
                <a:lnTo>
                  <a:pt x="20604" y="58397"/>
                </a:lnTo>
                <a:cubicBezTo>
                  <a:pt x="16691" y="62310"/>
                  <a:pt x="14475" y="67648"/>
                  <a:pt x="14475" y="73189"/>
                </a:cubicBezTo>
                <a:cubicBezTo>
                  <a:pt x="14475" y="84746"/>
                  <a:pt x="23838" y="94109"/>
                  <a:pt x="35396" y="94109"/>
                </a:cubicBezTo>
                <a:cubicBezTo>
                  <a:pt x="39127" y="94109"/>
                  <a:pt x="42769" y="93114"/>
                  <a:pt x="45958" y="91260"/>
                </a:cubicBezTo>
                <a:cubicBezTo>
                  <a:pt x="49531" y="94878"/>
                  <a:pt x="53693" y="97909"/>
                  <a:pt x="58307" y="100193"/>
                </a:cubicBezTo>
                <a:cubicBezTo>
                  <a:pt x="51929" y="105599"/>
                  <a:pt x="43832" y="108607"/>
                  <a:pt x="35396" y="108607"/>
                </a:cubicBezTo>
                <a:cubicBezTo>
                  <a:pt x="15855" y="108607"/>
                  <a:pt x="0" y="92775"/>
                  <a:pt x="0" y="73211"/>
                </a:cubicBezTo>
                <a:cubicBezTo>
                  <a:pt x="0" y="63825"/>
                  <a:pt x="3732" y="54824"/>
                  <a:pt x="10359" y="48197"/>
                </a:cubicBezTo>
                <a:lnTo>
                  <a:pt x="26439" y="32116"/>
                </a:lnTo>
                <a:cubicBezTo>
                  <a:pt x="33066" y="25489"/>
                  <a:pt x="42068" y="21758"/>
                  <a:pt x="51454" y="21758"/>
                </a:cubicBezTo>
                <a:cubicBezTo>
                  <a:pt x="71040" y="21758"/>
                  <a:pt x="86849" y="37725"/>
                  <a:pt x="86849" y="57244"/>
                </a:cubicBezTo>
                <a:cubicBezTo>
                  <a:pt x="86849" y="57538"/>
                  <a:pt x="86849" y="57832"/>
                  <a:pt x="86849" y="58126"/>
                </a:cubicBezTo>
                <a:cubicBezTo>
                  <a:pt x="86759" y="62129"/>
                  <a:pt x="83434" y="65273"/>
                  <a:pt x="79431" y="65182"/>
                </a:cubicBezTo>
                <a:cubicBezTo>
                  <a:pt x="75428" y="65092"/>
                  <a:pt x="72284" y="61767"/>
                  <a:pt x="72374" y="57764"/>
                </a:cubicBezTo>
                <a:cubicBezTo>
                  <a:pt x="72374" y="57583"/>
                  <a:pt x="72374" y="57425"/>
                  <a:pt x="72374" y="57244"/>
                </a:cubicBezTo>
                <a:cubicBezTo>
                  <a:pt x="72374" y="49622"/>
                  <a:pt x="68303" y="42927"/>
                  <a:pt x="62242" y="392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93308" y="3829645"/>
            <a:ext cx="2043028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Hyperledger Fabric (On-chain)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2453" y="4110871"/>
            <a:ext cx="4135685" cy="43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2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"Source of Truth for Integrity"</a:t>
            </a:r>
            <a:r>
              <a:rPr lang="en-US" sz="104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</a:t>
            </a:r>
            <a:r>
              <a:rPr lang="en-US" sz="1042" dirty="0">
                <a:solidFill>
                  <a:srgbClr val="2F3E3B"/>
                </a:solidFill>
                <a:highlight>
                  <a:srgbClr val="8FB7A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Proof of Authority (PoA) </a:t>
            </a:r>
            <a:r>
              <a:rPr lang="en-US" sz="104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consensus for energy-efficient rural nodes.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0855" y="5318491"/>
            <a:ext cx="4532711" cy="1207620"/>
          </a:xfrm>
          <a:custGeom>
            <a:avLst/>
            <a:gdLst/>
            <a:ahLst/>
            <a:cxnLst/>
            <a:rect l="l" t="t" r="r" b="b"/>
            <a:pathLst>
              <a:path w="4532711" h="1207620">
                <a:moveTo>
                  <a:pt x="33089" y="0"/>
                </a:moveTo>
                <a:lnTo>
                  <a:pt x="4499622" y="0"/>
                </a:lnTo>
                <a:cubicBezTo>
                  <a:pt x="4517897" y="0"/>
                  <a:pt x="4532711" y="14814"/>
                  <a:pt x="4532711" y="33089"/>
                </a:cubicBezTo>
                <a:lnTo>
                  <a:pt x="4532711" y="1174531"/>
                </a:lnTo>
                <a:cubicBezTo>
                  <a:pt x="4532711" y="1192806"/>
                  <a:pt x="4517897" y="1207620"/>
                  <a:pt x="4499622" y="1207620"/>
                </a:cubicBezTo>
                <a:lnTo>
                  <a:pt x="33089" y="1207620"/>
                </a:lnTo>
                <a:cubicBezTo>
                  <a:pt x="14814" y="1207620"/>
                  <a:pt x="0" y="1192806"/>
                  <a:pt x="0" y="1174531"/>
                </a:cubicBezTo>
                <a:lnTo>
                  <a:pt x="0" y="33089"/>
                </a:lnTo>
                <a:cubicBezTo>
                  <a:pt x="0" y="14827"/>
                  <a:pt x="14827" y="0"/>
                  <a:pt x="33089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83875" y="5492190"/>
            <a:ext cx="148885" cy="148885"/>
          </a:xfrm>
          <a:custGeom>
            <a:avLst/>
            <a:gdLst/>
            <a:ahLst/>
            <a:cxnLst/>
            <a:rect l="l" t="t" r="r" b="b"/>
            <a:pathLst>
              <a:path w="148885" h="148885">
                <a:moveTo>
                  <a:pt x="74442" y="0"/>
                </a:moveTo>
                <a:cubicBezTo>
                  <a:pt x="75780" y="0"/>
                  <a:pt x="77118" y="291"/>
                  <a:pt x="78339" y="843"/>
                </a:cubicBezTo>
                <a:lnTo>
                  <a:pt x="133124" y="24077"/>
                </a:lnTo>
                <a:cubicBezTo>
                  <a:pt x="139521" y="26782"/>
                  <a:pt x="144290" y="33092"/>
                  <a:pt x="144261" y="40711"/>
                </a:cubicBezTo>
                <a:cubicBezTo>
                  <a:pt x="144116" y="69557"/>
                  <a:pt x="132251" y="122336"/>
                  <a:pt x="82148" y="146326"/>
                </a:cubicBezTo>
                <a:cubicBezTo>
                  <a:pt x="77292" y="148652"/>
                  <a:pt x="71651" y="148652"/>
                  <a:pt x="66795" y="146326"/>
                </a:cubicBezTo>
                <a:cubicBezTo>
                  <a:pt x="16662" y="122336"/>
                  <a:pt x="4827" y="69557"/>
                  <a:pt x="4682" y="40711"/>
                </a:cubicBezTo>
                <a:cubicBezTo>
                  <a:pt x="4653" y="33092"/>
                  <a:pt x="9422" y="26782"/>
                  <a:pt x="15819" y="24077"/>
                </a:cubicBezTo>
                <a:lnTo>
                  <a:pt x="70575" y="843"/>
                </a:lnTo>
                <a:cubicBezTo>
                  <a:pt x="71796" y="291"/>
                  <a:pt x="73105" y="0"/>
                  <a:pt x="74442" y="0"/>
                </a:cubicBezTo>
                <a:close/>
                <a:moveTo>
                  <a:pt x="74442" y="19425"/>
                </a:moveTo>
                <a:lnTo>
                  <a:pt x="74442" y="129373"/>
                </a:lnTo>
                <a:cubicBezTo>
                  <a:pt x="114571" y="109948"/>
                  <a:pt x="125360" y="66911"/>
                  <a:pt x="125621" y="41147"/>
                </a:cubicBezTo>
                <a:lnTo>
                  <a:pt x="74442" y="19454"/>
                </a:lnTo>
                <a:lnTo>
                  <a:pt x="74442" y="19454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2" name="Text 20"/>
          <p:cNvSpPr/>
          <p:nvPr/>
        </p:nvSpPr>
        <p:spPr>
          <a:xfrm>
            <a:off x="653438" y="5450833"/>
            <a:ext cx="4152228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Security Architecture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3197" y="5748602"/>
            <a:ext cx="4334198" cy="64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SHA-256 hashing ensures every transaction is hash-linked. Only the hash is stored on-chain, preserving record integrity while keeping detailed PII secure off-chain.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95156" y="1530204"/>
            <a:ext cx="6865237" cy="4995908"/>
          </a:xfrm>
          <a:custGeom>
            <a:avLst/>
            <a:gdLst/>
            <a:ahLst/>
            <a:cxnLst/>
            <a:rect l="l" t="t" r="r" b="b"/>
            <a:pathLst>
              <a:path w="6865237" h="4995908">
                <a:moveTo>
                  <a:pt x="33073" y="0"/>
                </a:moveTo>
                <a:lnTo>
                  <a:pt x="6832165" y="0"/>
                </a:lnTo>
                <a:cubicBezTo>
                  <a:pt x="6850430" y="0"/>
                  <a:pt x="6865237" y="14807"/>
                  <a:pt x="6865237" y="33073"/>
                </a:cubicBezTo>
                <a:lnTo>
                  <a:pt x="6865237" y="4962835"/>
                </a:lnTo>
                <a:cubicBezTo>
                  <a:pt x="6865237" y="4981100"/>
                  <a:pt x="6850430" y="4995908"/>
                  <a:pt x="6832165" y="4995908"/>
                </a:cubicBezTo>
                <a:lnTo>
                  <a:pt x="33073" y="4995908"/>
                </a:lnTo>
                <a:cubicBezTo>
                  <a:pt x="14807" y="4995908"/>
                  <a:pt x="0" y="4981100"/>
                  <a:pt x="0" y="4962835"/>
                </a:cubicBezTo>
                <a:lnTo>
                  <a:pt x="0" y="33073"/>
                </a:lnTo>
                <a:cubicBezTo>
                  <a:pt x="0" y="14807"/>
                  <a:pt x="14807" y="0"/>
                  <a:pt x="3307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814" dist="82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68855" y="1695631"/>
            <a:ext cx="124071" cy="165427"/>
          </a:xfrm>
          <a:custGeom>
            <a:avLst/>
            <a:gdLst/>
            <a:ahLst/>
            <a:cxnLst/>
            <a:rect l="l" t="t" r="r" b="b"/>
            <a:pathLst>
              <a:path w="124071" h="165427">
                <a:moveTo>
                  <a:pt x="41357" y="31018"/>
                </a:moveTo>
                <a:lnTo>
                  <a:pt x="41357" y="51696"/>
                </a:lnTo>
                <a:lnTo>
                  <a:pt x="82714" y="51696"/>
                </a:lnTo>
                <a:lnTo>
                  <a:pt x="82714" y="31018"/>
                </a:lnTo>
                <a:cubicBezTo>
                  <a:pt x="82714" y="19612"/>
                  <a:pt x="73441" y="10339"/>
                  <a:pt x="62035" y="10339"/>
                </a:cubicBezTo>
                <a:cubicBezTo>
                  <a:pt x="50630" y="10339"/>
                  <a:pt x="41357" y="19612"/>
                  <a:pt x="41357" y="31018"/>
                </a:cubicBezTo>
                <a:close/>
                <a:moveTo>
                  <a:pt x="20678" y="51696"/>
                </a:moveTo>
                <a:lnTo>
                  <a:pt x="20678" y="31018"/>
                </a:lnTo>
                <a:cubicBezTo>
                  <a:pt x="20678" y="8174"/>
                  <a:pt x="39192" y="-10339"/>
                  <a:pt x="62035" y="-10339"/>
                </a:cubicBezTo>
                <a:cubicBezTo>
                  <a:pt x="84878" y="-10339"/>
                  <a:pt x="103392" y="8174"/>
                  <a:pt x="103392" y="31018"/>
                </a:cubicBezTo>
                <a:lnTo>
                  <a:pt x="103392" y="51696"/>
                </a:lnTo>
                <a:cubicBezTo>
                  <a:pt x="114798" y="51696"/>
                  <a:pt x="124071" y="60969"/>
                  <a:pt x="124071" y="72374"/>
                </a:cubicBezTo>
                <a:lnTo>
                  <a:pt x="124071" y="144749"/>
                </a:lnTo>
                <a:cubicBezTo>
                  <a:pt x="124071" y="156154"/>
                  <a:pt x="114798" y="165427"/>
                  <a:pt x="103392" y="165427"/>
                </a:cubicBezTo>
                <a:lnTo>
                  <a:pt x="20678" y="165427"/>
                </a:lnTo>
                <a:cubicBezTo>
                  <a:pt x="9273" y="165427"/>
                  <a:pt x="0" y="156154"/>
                  <a:pt x="0" y="144749"/>
                </a:cubicBezTo>
                <a:lnTo>
                  <a:pt x="0" y="72374"/>
                </a:lnTo>
                <a:cubicBezTo>
                  <a:pt x="0" y="60969"/>
                  <a:pt x="9273" y="51696"/>
                  <a:pt x="20678" y="51696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26" name="Text 24"/>
          <p:cNvSpPr/>
          <p:nvPr/>
        </p:nvSpPr>
        <p:spPr>
          <a:xfrm>
            <a:off x="5334282" y="1662545"/>
            <a:ext cx="6476483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5-Point Security Framework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27498" y="1993400"/>
            <a:ext cx="6600554" cy="893308"/>
          </a:xfrm>
          <a:custGeom>
            <a:avLst/>
            <a:gdLst/>
            <a:ahLst/>
            <a:cxnLst/>
            <a:rect l="l" t="t" r="r" b="b"/>
            <a:pathLst>
              <a:path w="6600554" h="893308">
                <a:moveTo>
                  <a:pt x="33088" y="0"/>
                </a:moveTo>
                <a:lnTo>
                  <a:pt x="6567465" y="0"/>
                </a:lnTo>
                <a:cubicBezTo>
                  <a:pt x="6585740" y="0"/>
                  <a:pt x="6600554" y="14814"/>
                  <a:pt x="6600554" y="33088"/>
                </a:cubicBezTo>
                <a:lnTo>
                  <a:pt x="6600554" y="860220"/>
                </a:lnTo>
                <a:cubicBezTo>
                  <a:pt x="6600554" y="878494"/>
                  <a:pt x="6585740" y="893308"/>
                  <a:pt x="6567465" y="893308"/>
                </a:cubicBezTo>
                <a:lnTo>
                  <a:pt x="33088" y="893308"/>
                </a:lnTo>
                <a:cubicBezTo>
                  <a:pt x="14814" y="893308"/>
                  <a:pt x="0" y="878494"/>
                  <a:pt x="0" y="860220"/>
                </a:cubicBezTo>
                <a:lnTo>
                  <a:pt x="0" y="33088"/>
                </a:lnTo>
                <a:cubicBezTo>
                  <a:pt x="0" y="14814"/>
                  <a:pt x="14814" y="0"/>
                  <a:pt x="33088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8" name="Shape 26"/>
          <p:cNvSpPr/>
          <p:nvPr/>
        </p:nvSpPr>
        <p:spPr>
          <a:xfrm>
            <a:off x="5226754" y="2092657"/>
            <a:ext cx="330855" cy="330855"/>
          </a:xfrm>
          <a:custGeom>
            <a:avLst/>
            <a:gdLst/>
            <a:ahLst/>
            <a:cxnLst/>
            <a:rect l="l" t="t" r="r" b="b"/>
            <a:pathLst>
              <a:path w="330855" h="330855">
                <a:moveTo>
                  <a:pt x="33085" y="0"/>
                </a:moveTo>
                <a:lnTo>
                  <a:pt x="297769" y="0"/>
                </a:lnTo>
                <a:cubicBezTo>
                  <a:pt x="316030" y="0"/>
                  <a:pt x="330855" y="14825"/>
                  <a:pt x="330855" y="33085"/>
                </a:cubicBezTo>
                <a:lnTo>
                  <a:pt x="330855" y="297769"/>
                </a:lnTo>
                <a:cubicBezTo>
                  <a:pt x="330855" y="316042"/>
                  <a:pt x="316042" y="330855"/>
                  <a:pt x="297769" y="330855"/>
                </a:cubicBezTo>
                <a:lnTo>
                  <a:pt x="33085" y="330855"/>
                </a:lnTo>
                <a:cubicBezTo>
                  <a:pt x="14825" y="330855"/>
                  <a:pt x="0" y="316030"/>
                  <a:pt x="0" y="297769"/>
                </a:cubicBez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9" name="Text 27"/>
          <p:cNvSpPr/>
          <p:nvPr/>
        </p:nvSpPr>
        <p:spPr>
          <a:xfrm>
            <a:off x="5364031" y="2142285"/>
            <a:ext cx="140613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56866" y="2092657"/>
            <a:ext cx="6046372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Smart Farmer Card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56866" y="2357341"/>
            <a:ext cx="6038100" cy="43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NID-linked identity storing soil health rating and financial credit score, creating a unified farmer digital profile.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27498" y="2977693"/>
            <a:ext cx="6600554" cy="893308"/>
          </a:xfrm>
          <a:custGeom>
            <a:avLst/>
            <a:gdLst/>
            <a:ahLst/>
            <a:cxnLst/>
            <a:rect l="l" t="t" r="r" b="b"/>
            <a:pathLst>
              <a:path w="6600554" h="893308">
                <a:moveTo>
                  <a:pt x="33088" y="0"/>
                </a:moveTo>
                <a:lnTo>
                  <a:pt x="6567465" y="0"/>
                </a:lnTo>
                <a:cubicBezTo>
                  <a:pt x="6585740" y="0"/>
                  <a:pt x="6600554" y="14814"/>
                  <a:pt x="6600554" y="33088"/>
                </a:cubicBezTo>
                <a:lnTo>
                  <a:pt x="6600554" y="860220"/>
                </a:lnTo>
                <a:cubicBezTo>
                  <a:pt x="6600554" y="878494"/>
                  <a:pt x="6585740" y="893308"/>
                  <a:pt x="6567465" y="893308"/>
                </a:cubicBezTo>
                <a:lnTo>
                  <a:pt x="33088" y="893308"/>
                </a:lnTo>
                <a:cubicBezTo>
                  <a:pt x="14814" y="893308"/>
                  <a:pt x="0" y="878494"/>
                  <a:pt x="0" y="860220"/>
                </a:cubicBezTo>
                <a:lnTo>
                  <a:pt x="0" y="33088"/>
                </a:lnTo>
                <a:cubicBezTo>
                  <a:pt x="0" y="14814"/>
                  <a:pt x="14814" y="0"/>
                  <a:pt x="33088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3" name="Shape 31"/>
          <p:cNvSpPr/>
          <p:nvPr/>
        </p:nvSpPr>
        <p:spPr>
          <a:xfrm>
            <a:off x="5226754" y="3076950"/>
            <a:ext cx="330855" cy="330855"/>
          </a:xfrm>
          <a:custGeom>
            <a:avLst/>
            <a:gdLst/>
            <a:ahLst/>
            <a:cxnLst/>
            <a:rect l="l" t="t" r="r" b="b"/>
            <a:pathLst>
              <a:path w="330855" h="330855">
                <a:moveTo>
                  <a:pt x="33085" y="0"/>
                </a:moveTo>
                <a:lnTo>
                  <a:pt x="297769" y="0"/>
                </a:lnTo>
                <a:cubicBezTo>
                  <a:pt x="316030" y="0"/>
                  <a:pt x="330855" y="14825"/>
                  <a:pt x="330855" y="33085"/>
                </a:cubicBezTo>
                <a:lnTo>
                  <a:pt x="330855" y="297769"/>
                </a:lnTo>
                <a:cubicBezTo>
                  <a:pt x="330855" y="316042"/>
                  <a:pt x="316042" y="330855"/>
                  <a:pt x="297769" y="330855"/>
                </a:cubicBezTo>
                <a:lnTo>
                  <a:pt x="33085" y="330855"/>
                </a:lnTo>
                <a:cubicBezTo>
                  <a:pt x="14825" y="330855"/>
                  <a:pt x="0" y="316030"/>
                  <a:pt x="0" y="297769"/>
                </a:cubicBez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4" name="Text 32"/>
          <p:cNvSpPr/>
          <p:nvPr/>
        </p:nvSpPr>
        <p:spPr>
          <a:xfrm>
            <a:off x="5353457" y="3126578"/>
            <a:ext cx="157156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56866" y="3076950"/>
            <a:ext cx="6046372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e-Bill System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56866" y="3341634"/>
            <a:ext cx="6038100" cy="43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POS-triggered disbursement where subsidies are only triggered upon verified agricultural sales, eliminating diversion to industrial sectors.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27498" y="3961986"/>
            <a:ext cx="6600554" cy="678252"/>
          </a:xfrm>
          <a:custGeom>
            <a:avLst/>
            <a:gdLst/>
            <a:ahLst/>
            <a:cxnLst/>
            <a:rect l="l" t="t" r="r" b="b"/>
            <a:pathLst>
              <a:path w="6600554" h="678252">
                <a:moveTo>
                  <a:pt x="33085" y="0"/>
                </a:moveTo>
                <a:lnTo>
                  <a:pt x="6567468" y="0"/>
                </a:lnTo>
                <a:cubicBezTo>
                  <a:pt x="6585741" y="0"/>
                  <a:pt x="6600554" y="14813"/>
                  <a:pt x="6600554" y="33085"/>
                </a:cubicBezTo>
                <a:lnTo>
                  <a:pt x="6600554" y="645167"/>
                </a:lnTo>
                <a:cubicBezTo>
                  <a:pt x="6600554" y="663440"/>
                  <a:pt x="6585741" y="678252"/>
                  <a:pt x="6567468" y="678252"/>
                </a:cubicBezTo>
                <a:lnTo>
                  <a:pt x="33085" y="678252"/>
                </a:lnTo>
                <a:cubicBezTo>
                  <a:pt x="14825" y="678252"/>
                  <a:pt x="0" y="663427"/>
                  <a:pt x="0" y="645167"/>
                </a:cubicBez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8" name="Shape 36"/>
          <p:cNvSpPr/>
          <p:nvPr/>
        </p:nvSpPr>
        <p:spPr>
          <a:xfrm>
            <a:off x="5226754" y="4061243"/>
            <a:ext cx="330855" cy="330855"/>
          </a:xfrm>
          <a:custGeom>
            <a:avLst/>
            <a:gdLst/>
            <a:ahLst/>
            <a:cxnLst/>
            <a:rect l="l" t="t" r="r" b="b"/>
            <a:pathLst>
              <a:path w="330855" h="330855">
                <a:moveTo>
                  <a:pt x="33085" y="0"/>
                </a:moveTo>
                <a:lnTo>
                  <a:pt x="297769" y="0"/>
                </a:lnTo>
                <a:cubicBezTo>
                  <a:pt x="316030" y="0"/>
                  <a:pt x="330855" y="14825"/>
                  <a:pt x="330855" y="33085"/>
                </a:cubicBezTo>
                <a:lnTo>
                  <a:pt x="330855" y="297769"/>
                </a:lnTo>
                <a:cubicBezTo>
                  <a:pt x="330855" y="316042"/>
                  <a:pt x="316042" y="330855"/>
                  <a:pt x="297769" y="330855"/>
                </a:cubicBezTo>
                <a:lnTo>
                  <a:pt x="33085" y="330855"/>
                </a:lnTo>
                <a:cubicBezTo>
                  <a:pt x="14825" y="330855"/>
                  <a:pt x="0" y="316030"/>
                  <a:pt x="0" y="297769"/>
                </a:cubicBez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39" name="Text 37"/>
          <p:cNvSpPr/>
          <p:nvPr/>
        </p:nvSpPr>
        <p:spPr>
          <a:xfrm>
            <a:off x="5358720" y="4110871"/>
            <a:ext cx="148885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656866" y="4061243"/>
            <a:ext cx="6046372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Hyperledger Fabric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56866" y="4325927"/>
            <a:ext cx="6038100" cy="21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Immutable ledger for subsidy claims ensuring inter-agency interoperability and transparent governance.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27498" y="4731224"/>
            <a:ext cx="6600554" cy="678252"/>
          </a:xfrm>
          <a:custGeom>
            <a:avLst/>
            <a:gdLst/>
            <a:ahLst/>
            <a:cxnLst/>
            <a:rect l="l" t="t" r="r" b="b"/>
            <a:pathLst>
              <a:path w="6600554" h="678252">
                <a:moveTo>
                  <a:pt x="33085" y="0"/>
                </a:moveTo>
                <a:lnTo>
                  <a:pt x="6567468" y="0"/>
                </a:lnTo>
                <a:cubicBezTo>
                  <a:pt x="6585741" y="0"/>
                  <a:pt x="6600554" y="14813"/>
                  <a:pt x="6600554" y="33085"/>
                </a:cubicBezTo>
                <a:lnTo>
                  <a:pt x="6600554" y="645167"/>
                </a:lnTo>
                <a:cubicBezTo>
                  <a:pt x="6600554" y="663440"/>
                  <a:pt x="6585741" y="678252"/>
                  <a:pt x="6567468" y="678252"/>
                </a:cubicBezTo>
                <a:lnTo>
                  <a:pt x="33085" y="678252"/>
                </a:lnTo>
                <a:cubicBezTo>
                  <a:pt x="14825" y="678252"/>
                  <a:pt x="0" y="663427"/>
                  <a:pt x="0" y="645167"/>
                </a:cubicBez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43" name="Shape 41"/>
          <p:cNvSpPr/>
          <p:nvPr/>
        </p:nvSpPr>
        <p:spPr>
          <a:xfrm>
            <a:off x="5226754" y="4830480"/>
            <a:ext cx="330855" cy="330855"/>
          </a:xfrm>
          <a:custGeom>
            <a:avLst/>
            <a:gdLst/>
            <a:ahLst/>
            <a:cxnLst/>
            <a:rect l="l" t="t" r="r" b="b"/>
            <a:pathLst>
              <a:path w="330855" h="330855">
                <a:moveTo>
                  <a:pt x="33085" y="0"/>
                </a:moveTo>
                <a:lnTo>
                  <a:pt x="297769" y="0"/>
                </a:lnTo>
                <a:cubicBezTo>
                  <a:pt x="316030" y="0"/>
                  <a:pt x="330855" y="14825"/>
                  <a:pt x="330855" y="33085"/>
                </a:cubicBezTo>
                <a:lnTo>
                  <a:pt x="330855" y="297769"/>
                </a:lnTo>
                <a:cubicBezTo>
                  <a:pt x="330855" y="316042"/>
                  <a:pt x="316042" y="330855"/>
                  <a:pt x="297769" y="330855"/>
                </a:cubicBezTo>
                <a:lnTo>
                  <a:pt x="33085" y="330855"/>
                </a:lnTo>
                <a:cubicBezTo>
                  <a:pt x="14825" y="330855"/>
                  <a:pt x="0" y="316030"/>
                  <a:pt x="0" y="297769"/>
                </a:cubicBez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44" name="Text 42"/>
          <p:cNvSpPr/>
          <p:nvPr/>
        </p:nvSpPr>
        <p:spPr>
          <a:xfrm>
            <a:off x="5350449" y="4880109"/>
            <a:ext cx="165427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656866" y="4830480"/>
            <a:ext cx="6046372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656866" y="5095164"/>
            <a:ext cx="6038100" cy="21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high-volume transaction histories and granular field data for real-time advisory services.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127498" y="5500461"/>
            <a:ext cx="6600554" cy="893308"/>
          </a:xfrm>
          <a:custGeom>
            <a:avLst/>
            <a:gdLst/>
            <a:ahLst/>
            <a:cxnLst/>
            <a:rect l="l" t="t" r="r" b="b"/>
            <a:pathLst>
              <a:path w="6600554" h="893308">
                <a:moveTo>
                  <a:pt x="33088" y="0"/>
                </a:moveTo>
                <a:lnTo>
                  <a:pt x="6567465" y="0"/>
                </a:lnTo>
                <a:cubicBezTo>
                  <a:pt x="6585740" y="0"/>
                  <a:pt x="6600554" y="14814"/>
                  <a:pt x="6600554" y="33088"/>
                </a:cubicBezTo>
                <a:lnTo>
                  <a:pt x="6600554" y="860220"/>
                </a:lnTo>
                <a:cubicBezTo>
                  <a:pt x="6600554" y="878494"/>
                  <a:pt x="6585740" y="893308"/>
                  <a:pt x="6567465" y="893308"/>
                </a:cubicBezTo>
                <a:lnTo>
                  <a:pt x="33088" y="893308"/>
                </a:lnTo>
                <a:cubicBezTo>
                  <a:pt x="14814" y="893308"/>
                  <a:pt x="0" y="878494"/>
                  <a:pt x="0" y="860220"/>
                </a:cubicBezTo>
                <a:lnTo>
                  <a:pt x="0" y="33088"/>
                </a:lnTo>
                <a:cubicBezTo>
                  <a:pt x="0" y="14814"/>
                  <a:pt x="14814" y="0"/>
                  <a:pt x="33088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48" name="Shape 46"/>
          <p:cNvSpPr/>
          <p:nvPr/>
        </p:nvSpPr>
        <p:spPr>
          <a:xfrm>
            <a:off x="5226754" y="5599718"/>
            <a:ext cx="330855" cy="330855"/>
          </a:xfrm>
          <a:custGeom>
            <a:avLst/>
            <a:gdLst/>
            <a:ahLst/>
            <a:cxnLst/>
            <a:rect l="l" t="t" r="r" b="b"/>
            <a:pathLst>
              <a:path w="330855" h="330855">
                <a:moveTo>
                  <a:pt x="33085" y="0"/>
                </a:moveTo>
                <a:lnTo>
                  <a:pt x="297769" y="0"/>
                </a:lnTo>
                <a:cubicBezTo>
                  <a:pt x="316030" y="0"/>
                  <a:pt x="330855" y="14825"/>
                  <a:pt x="330855" y="33085"/>
                </a:cubicBezTo>
                <a:lnTo>
                  <a:pt x="330855" y="297769"/>
                </a:lnTo>
                <a:cubicBezTo>
                  <a:pt x="330855" y="316042"/>
                  <a:pt x="316042" y="330855"/>
                  <a:pt x="297769" y="330855"/>
                </a:cubicBezTo>
                <a:lnTo>
                  <a:pt x="33085" y="330855"/>
                </a:lnTo>
                <a:cubicBezTo>
                  <a:pt x="14825" y="330855"/>
                  <a:pt x="0" y="316030"/>
                  <a:pt x="0" y="297769"/>
                </a:cubicBez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9" name="Text 47"/>
          <p:cNvSpPr/>
          <p:nvPr/>
        </p:nvSpPr>
        <p:spPr>
          <a:xfrm>
            <a:off x="5363890" y="5649346"/>
            <a:ext cx="140613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656866" y="5599718"/>
            <a:ext cx="6046372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SHA-256 Hashing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656866" y="5864402"/>
            <a:ext cx="6038100" cy="43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transaction is hash-linked with only the hash stored on-chain, ensuring record integrity while protecting PII.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0" y="0"/>
                </a:moveTo>
                <a:lnTo>
                  <a:pt x="47625" y="0"/>
                </a:lnTo>
                <a:lnTo>
                  <a:pt x="47625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" name="Text 1"/>
          <p:cNvSpPr/>
          <p:nvPr/>
        </p:nvSpPr>
        <p:spPr>
          <a:xfrm>
            <a:off x="460375" y="38100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C: INTELLIGENCE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98500"/>
            <a:ext cx="1169987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Advisory &amp; Human Capital Development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1119188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Converting raw data into actionable knowledge for low-literacy environments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375" y="1436688"/>
            <a:ext cx="5699125" cy="1968500"/>
          </a:xfrm>
          <a:custGeom>
            <a:avLst/>
            <a:gdLst/>
            <a:ahLst/>
            <a:cxnLst/>
            <a:rect l="l" t="t" r="r" b="b"/>
            <a:pathLst>
              <a:path w="5699125" h="1968500">
                <a:moveTo>
                  <a:pt x="31750" y="0"/>
                </a:moveTo>
                <a:lnTo>
                  <a:pt x="5667373" y="0"/>
                </a:lnTo>
                <a:cubicBezTo>
                  <a:pt x="5684909" y="0"/>
                  <a:pt x="5699125" y="14216"/>
                  <a:pt x="5699125" y="31752"/>
                </a:cubicBezTo>
                <a:lnTo>
                  <a:pt x="5699125" y="1936748"/>
                </a:lnTo>
                <a:cubicBezTo>
                  <a:pt x="5699125" y="1954284"/>
                  <a:pt x="5684909" y="1968500"/>
                  <a:pt x="5667373" y="1968500"/>
                </a:cubicBezTo>
                <a:lnTo>
                  <a:pt x="31750" y="1968500"/>
                </a:lnTo>
                <a:cubicBezTo>
                  <a:pt x="14215" y="1968500"/>
                  <a:pt x="0" y="1954285"/>
                  <a:pt x="0" y="193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3375" y="1436688"/>
            <a:ext cx="31750" cy="1968500"/>
          </a:xfrm>
          <a:custGeom>
            <a:avLst/>
            <a:gdLst/>
            <a:ahLst/>
            <a:cxnLst/>
            <a:rect l="l" t="t" r="r" b="b"/>
            <a:pathLst>
              <a:path w="31750" h="1968500">
                <a:moveTo>
                  <a:pt x="31750" y="0"/>
                </a:moveTo>
                <a:lnTo>
                  <a:pt x="31750" y="0"/>
                </a:lnTo>
                <a:lnTo>
                  <a:pt x="31750" y="1968500"/>
                </a:lnTo>
                <a:lnTo>
                  <a:pt x="31750" y="1968500"/>
                </a:lnTo>
                <a:cubicBezTo>
                  <a:pt x="14227" y="1968500"/>
                  <a:pt x="0" y="1954273"/>
                  <a:pt x="0" y="193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Shape 6"/>
          <p:cNvSpPr/>
          <p:nvPr/>
        </p:nvSpPr>
        <p:spPr>
          <a:xfrm>
            <a:off x="476250" y="156368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31751" y="0"/>
                </a:moveTo>
                <a:lnTo>
                  <a:pt x="412749" y="0"/>
                </a:lnTo>
                <a:cubicBezTo>
                  <a:pt x="430285" y="0"/>
                  <a:pt x="444500" y="14215"/>
                  <a:pt x="444500" y="31751"/>
                </a:cubicBezTo>
                <a:lnTo>
                  <a:pt x="444500" y="412749"/>
                </a:lnTo>
                <a:cubicBezTo>
                  <a:pt x="444500" y="430285"/>
                  <a:pt x="430285" y="444500"/>
                  <a:pt x="412749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Shape 7"/>
          <p:cNvSpPr/>
          <p:nvPr/>
        </p:nvSpPr>
        <p:spPr>
          <a:xfrm>
            <a:off x="579438" y="169068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1674813"/>
            <a:ext cx="157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Advisory Interface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250" y="2103438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Icon-driven, Bengali voice-controlled UI</a:t>
            </a:r>
            <a:r>
              <a:rPr lang="en-US" sz="100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bridges the digital divide, enabling 80% information society penetration even in low-literacy rural communities.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6250" y="2611438"/>
            <a:ext cx="5429250" cy="666750"/>
          </a:xfrm>
          <a:custGeom>
            <a:avLst/>
            <a:gdLst/>
            <a:ahLst/>
            <a:cxnLst/>
            <a:rect l="l" t="t" r="r" b="b"/>
            <a:pathLst>
              <a:path w="5429250" h="666750">
                <a:moveTo>
                  <a:pt x="31751" y="0"/>
                </a:moveTo>
                <a:lnTo>
                  <a:pt x="5397499" y="0"/>
                </a:lnTo>
                <a:cubicBezTo>
                  <a:pt x="5415035" y="0"/>
                  <a:pt x="5429250" y="14215"/>
                  <a:pt x="5429250" y="31751"/>
                </a:cubicBezTo>
                <a:lnTo>
                  <a:pt x="5429250" y="634999"/>
                </a:lnTo>
                <a:cubicBezTo>
                  <a:pt x="5429250" y="652535"/>
                  <a:pt x="5415035" y="666750"/>
                  <a:pt x="5397499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9125" y="28495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904875" y="2706688"/>
            <a:ext cx="141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4C8A7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4875" y="2992438"/>
            <a:ext cx="135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Penetration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3375" y="3500438"/>
            <a:ext cx="5699125" cy="1873250"/>
          </a:xfrm>
          <a:custGeom>
            <a:avLst/>
            <a:gdLst/>
            <a:ahLst/>
            <a:cxnLst/>
            <a:rect l="l" t="t" r="r" b="b"/>
            <a:pathLst>
              <a:path w="5699125" h="1873250">
                <a:moveTo>
                  <a:pt x="31750" y="0"/>
                </a:moveTo>
                <a:lnTo>
                  <a:pt x="5667373" y="0"/>
                </a:lnTo>
                <a:cubicBezTo>
                  <a:pt x="5684909" y="0"/>
                  <a:pt x="5699125" y="14216"/>
                  <a:pt x="5699125" y="31752"/>
                </a:cubicBezTo>
                <a:lnTo>
                  <a:pt x="5699125" y="1841498"/>
                </a:lnTo>
                <a:cubicBezTo>
                  <a:pt x="5699125" y="1859034"/>
                  <a:pt x="5684909" y="1873250"/>
                  <a:pt x="5667373" y="1873250"/>
                </a:cubicBezTo>
                <a:lnTo>
                  <a:pt x="31750" y="1873250"/>
                </a:lnTo>
                <a:cubicBezTo>
                  <a:pt x="14227" y="1873250"/>
                  <a:pt x="0" y="1859023"/>
                  <a:pt x="0" y="184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375" y="3500438"/>
            <a:ext cx="31750" cy="1873250"/>
          </a:xfrm>
          <a:custGeom>
            <a:avLst/>
            <a:gdLst/>
            <a:ahLst/>
            <a:cxnLst/>
            <a:rect l="l" t="t" r="r" b="b"/>
            <a:pathLst>
              <a:path w="31750" h="1873250">
                <a:moveTo>
                  <a:pt x="31750" y="0"/>
                </a:moveTo>
                <a:lnTo>
                  <a:pt x="31750" y="0"/>
                </a:lnTo>
                <a:lnTo>
                  <a:pt x="31750" y="1873250"/>
                </a:lnTo>
                <a:lnTo>
                  <a:pt x="31750" y="1873250"/>
                </a:lnTo>
                <a:cubicBezTo>
                  <a:pt x="14227" y="1873250"/>
                  <a:pt x="0" y="1859023"/>
                  <a:pt x="0" y="184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6250" y="362743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31751" y="0"/>
                </a:moveTo>
                <a:lnTo>
                  <a:pt x="412749" y="0"/>
                </a:lnTo>
                <a:cubicBezTo>
                  <a:pt x="430285" y="0"/>
                  <a:pt x="444500" y="14215"/>
                  <a:pt x="444500" y="31751"/>
                </a:cubicBezTo>
                <a:lnTo>
                  <a:pt x="444500" y="412749"/>
                </a:lnTo>
                <a:cubicBezTo>
                  <a:pt x="444500" y="430285"/>
                  <a:pt x="430285" y="444500"/>
                  <a:pt x="412749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19" name="Shape 17"/>
          <p:cNvSpPr/>
          <p:nvPr/>
        </p:nvSpPr>
        <p:spPr>
          <a:xfrm>
            <a:off x="579438" y="375443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3738563"/>
            <a:ext cx="234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NEET Youth Facilitator Network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6250" y="4167188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Mobilizing </a:t>
            </a:r>
            <a:r>
              <a:rPr lang="en-US" sz="1000" b="1" dirty="0">
                <a:solidFill>
                  <a:srgbClr val="2F3E3B"/>
                </a:solidFill>
                <a:highlight>
                  <a:srgbClr val="8FB7A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200+ "Not in Education, Employment, or Training" youth </a:t>
            </a:r>
            <a:r>
              <a:rPr lang="en-US" sz="100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Digital Facilitators managing Agro-Service Centres (ASCs).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6250" y="4675188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31753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539747"/>
                </a:lnTo>
                <a:cubicBezTo>
                  <a:pt x="5429250" y="557284"/>
                  <a:pt x="5415034" y="571500"/>
                  <a:pt x="5397497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" y="4770438"/>
            <a:ext cx="530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Human-in-the-loop interface:</a:t>
            </a:r>
            <a:r>
              <a:rPr lang="en-US" sz="100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Youth facilitators serve as the critical bridge between technology and farmers, providing localized support and feedback.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59500" y="1436688"/>
            <a:ext cx="5715000" cy="4064000"/>
          </a:xfrm>
          <a:custGeom>
            <a:avLst/>
            <a:gdLst/>
            <a:ahLst/>
            <a:cxnLst/>
            <a:rect l="l" t="t" r="r" b="b"/>
            <a:pathLst>
              <a:path w="5715000" h="4064000">
                <a:moveTo>
                  <a:pt x="31740" y="0"/>
                </a:moveTo>
                <a:lnTo>
                  <a:pt x="5683260" y="0"/>
                </a:lnTo>
                <a:cubicBezTo>
                  <a:pt x="5700790" y="0"/>
                  <a:pt x="5715000" y="14210"/>
                  <a:pt x="5715000" y="31740"/>
                </a:cubicBezTo>
                <a:lnTo>
                  <a:pt x="5715000" y="4032260"/>
                </a:lnTo>
                <a:cubicBezTo>
                  <a:pt x="5715000" y="4049790"/>
                  <a:pt x="5700790" y="4064000"/>
                  <a:pt x="5683260" y="4064000"/>
                </a:cubicBezTo>
                <a:lnTo>
                  <a:pt x="31740" y="4064000"/>
                </a:lnTo>
                <a:cubicBezTo>
                  <a:pt x="14210" y="4064000"/>
                  <a:pt x="0" y="4049790"/>
                  <a:pt x="0" y="4032260"/>
                </a:cubicBezTo>
                <a:lnTo>
                  <a:pt x="0" y="31740"/>
                </a:lnTo>
                <a:cubicBezTo>
                  <a:pt x="0" y="14222"/>
                  <a:pt x="14222" y="0"/>
                  <a:pt x="3174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6344" y="15954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8859" y="59531"/>
                </a:moveTo>
                <a:lnTo>
                  <a:pt x="151309" y="59531"/>
                </a:lnTo>
                <a:cubicBezTo>
                  <a:pt x="155432" y="59531"/>
                  <a:pt x="158750" y="56214"/>
                  <a:pt x="158750" y="52090"/>
                </a:cubicBezTo>
                <a:lnTo>
                  <a:pt x="158750" y="7441"/>
                </a:lnTo>
                <a:cubicBezTo>
                  <a:pt x="158750" y="4434"/>
                  <a:pt x="156952" y="1705"/>
                  <a:pt x="154161" y="558"/>
                </a:cubicBezTo>
                <a:cubicBezTo>
                  <a:pt x="151371" y="-589"/>
                  <a:pt x="148177" y="62"/>
                  <a:pt x="146038" y="2170"/>
                </a:cubicBezTo>
                <a:lnTo>
                  <a:pt x="130008" y="18231"/>
                </a:lnTo>
                <a:cubicBezTo>
                  <a:pt x="116272" y="6852"/>
                  <a:pt x="98599" y="0"/>
                  <a:pt x="79375" y="0"/>
                </a:cubicBezTo>
                <a:cubicBezTo>
                  <a:pt x="39377" y="0"/>
                  <a:pt x="6294" y="29580"/>
                  <a:pt x="806" y="68058"/>
                </a:cubicBezTo>
                <a:cubicBezTo>
                  <a:pt x="31" y="73484"/>
                  <a:pt x="3783" y="78507"/>
                  <a:pt x="9209" y="79282"/>
                </a:cubicBezTo>
                <a:cubicBezTo>
                  <a:pt x="14635" y="80057"/>
                  <a:pt x="19658" y="76274"/>
                  <a:pt x="20433" y="70879"/>
                </a:cubicBezTo>
                <a:cubicBezTo>
                  <a:pt x="24557" y="42013"/>
                  <a:pt x="49392" y="19844"/>
                  <a:pt x="79375" y="19844"/>
                </a:cubicBezTo>
                <a:cubicBezTo>
                  <a:pt x="93142" y="19844"/>
                  <a:pt x="105792" y="24495"/>
                  <a:pt x="115869" y="32339"/>
                </a:cubicBezTo>
                <a:lnTo>
                  <a:pt x="101389" y="46819"/>
                </a:lnTo>
                <a:cubicBezTo>
                  <a:pt x="99250" y="48958"/>
                  <a:pt x="98630" y="52152"/>
                  <a:pt x="99777" y="54942"/>
                </a:cubicBezTo>
                <a:cubicBezTo>
                  <a:pt x="100924" y="57733"/>
                  <a:pt x="103653" y="59531"/>
                  <a:pt x="106660" y="59531"/>
                </a:cubicBezTo>
                <a:lnTo>
                  <a:pt x="148859" y="59531"/>
                </a:lnTo>
                <a:close/>
                <a:moveTo>
                  <a:pt x="157975" y="90692"/>
                </a:moveTo>
                <a:cubicBezTo>
                  <a:pt x="158750" y="85266"/>
                  <a:pt x="154967" y="80243"/>
                  <a:pt x="149572" y="79468"/>
                </a:cubicBezTo>
                <a:cubicBezTo>
                  <a:pt x="144177" y="78693"/>
                  <a:pt x="139123" y="82476"/>
                  <a:pt x="138348" y="87871"/>
                </a:cubicBezTo>
                <a:cubicBezTo>
                  <a:pt x="134224" y="116706"/>
                  <a:pt x="109389" y="138875"/>
                  <a:pt x="79406" y="138875"/>
                </a:cubicBezTo>
                <a:cubicBezTo>
                  <a:pt x="65639" y="138875"/>
                  <a:pt x="52989" y="134224"/>
                  <a:pt x="42912" y="126380"/>
                </a:cubicBezTo>
                <a:lnTo>
                  <a:pt x="57361" y="111931"/>
                </a:lnTo>
                <a:cubicBezTo>
                  <a:pt x="59500" y="109792"/>
                  <a:pt x="60120" y="106598"/>
                  <a:pt x="58973" y="103808"/>
                </a:cubicBezTo>
                <a:cubicBezTo>
                  <a:pt x="57826" y="101017"/>
                  <a:pt x="55097" y="99219"/>
                  <a:pt x="52090" y="99219"/>
                </a:cubicBezTo>
                <a:lnTo>
                  <a:pt x="7441" y="99219"/>
                </a:lnTo>
                <a:cubicBezTo>
                  <a:pt x="3318" y="99219"/>
                  <a:pt x="0" y="102536"/>
                  <a:pt x="0" y="106660"/>
                </a:cubicBezTo>
                <a:lnTo>
                  <a:pt x="0" y="151309"/>
                </a:lnTo>
                <a:cubicBezTo>
                  <a:pt x="0" y="154316"/>
                  <a:pt x="1798" y="157045"/>
                  <a:pt x="4589" y="158192"/>
                </a:cubicBezTo>
                <a:cubicBezTo>
                  <a:pt x="7379" y="159339"/>
                  <a:pt x="10573" y="158688"/>
                  <a:pt x="12712" y="156580"/>
                </a:cubicBezTo>
                <a:lnTo>
                  <a:pt x="28773" y="140519"/>
                </a:lnTo>
                <a:cubicBezTo>
                  <a:pt x="42478" y="151898"/>
                  <a:pt x="60151" y="158750"/>
                  <a:pt x="79375" y="158750"/>
                </a:cubicBezTo>
                <a:cubicBezTo>
                  <a:pt x="119373" y="158750"/>
                  <a:pt x="152456" y="129170"/>
                  <a:pt x="157944" y="90692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938" y="1563688"/>
            <a:ext cx="5341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4A Learning System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86500" y="1881187"/>
            <a:ext cx="5461000" cy="825500"/>
          </a:xfrm>
          <a:custGeom>
            <a:avLst/>
            <a:gdLst/>
            <a:ahLst/>
            <a:cxnLst/>
            <a:rect l="l" t="t" r="r" b="b"/>
            <a:pathLst>
              <a:path w="5461000" h="825500">
                <a:moveTo>
                  <a:pt x="31749" y="0"/>
                </a:moveTo>
                <a:lnTo>
                  <a:pt x="5429251" y="0"/>
                </a:lnTo>
                <a:cubicBezTo>
                  <a:pt x="5446786" y="0"/>
                  <a:pt x="5461000" y="14214"/>
                  <a:pt x="5461000" y="31749"/>
                </a:cubicBezTo>
                <a:lnTo>
                  <a:pt x="5461000" y="793751"/>
                </a:lnTo>
                <a:cubicBezTo>
                  <a:pt x="5461000" y="811286"/>
                  <a:pt x="5446786" y="825500"/>
                  <a:pt x="5429251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81750" y="1976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31750" y="0"/>
                </a:moveTo>
                <a:lnTo>
                  <a:pt x="285750" y="0"/>
                </a:lnTo>
                <a:cubicBezTo>
                  <a:pt x="303273" y="0"/>
                  <a:pt x="317500" y="14227"/>
                  <a:pt x="317500" y="31750"/>
                </a:cubicBezTo>
                <a:lnTo>
                  <a:pt x="317500" y="285750"/>
                </a:lnTo>
                <a:cubicBezTo>
                  <a:pt x="317500" y="303273"/>
                  <a:pt x="303273" y="317500"/>
                  <a:pt x="285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9" name="Text 27"/>
          <p:cNvSpPr/>
          <p:nvPr/>
        </p:nvSpPr>
        <p:spPr>
          <a:xfrm>
            <a:off x="6449039" y="2024062"/>
            <a:ext cx="26193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94500" y="1976438"/>
            <a:ext cx="4929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Access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94500" y="2230438"/>
            <a:ext cx="492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Voice-driven, low-bandwidth entry points ensure universal accessibility regardless of literacy or connectivity.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86500" y="2770188"/>
            <a:ext cx="5461000" cy="825500"/>
          </a:xfrm>
          <a:custGeom>
            <a:avLst/>
            <a:gdLst/>
            <a:ahLst/>
            <a:cxnLst/>
            <a:rect l="l" t="t" r="r" b="b"/>
            <a:pathLst>
              <a:path w="5461000" h="825500">
                <a:moveTo>
                  <a:pt x="31749" y="0"/>
                </a:moveTo>
                <a:lnTo>
                  <a:pt x="5429251" y="0"/>
                </a:lnTo>
                <a:cubicBezTo>
                  <a:pt x="5446786" y="0"/>
                  <a:pt x="5461000" y="14214"/>
                  <a:pt x="5461000" y="31749"/>
                </a:cubicBezTo>
                <a:lnTo>
                  <a:pt x="5461000" y="793751"/>
                </a:lnTo>
                <a:cubicBezTo>
                  <a:pt x="5461000" y="811286"/>
                  <a:pt x="5446786" y="825500"/>
                  <a:pt x="5429251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81750" y="2865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31750" y="0"/>
                </a:moveTo>
                <a:lnTo>
                  <a:pt x="285750" y="0"/>
                </a:lnTo>
                <a:cubicBezTo>
                  <a:pt x="303273" y="0"/>
                  <a:pt x="317500" y="14227"/>
                  <a:pt x="317500" y="31750"/>
                </a:cubicBezTo>
                <a:lnTo>
                  <a:pt x="317500" y="285750"/>
                </a:lnTo>
                <a:cubicBezTo>
                  <a:pt x="317500" y="303273"/>
                  <a:pt x="303273" y="317500"/>
                  <a:pt x="285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34" name="Text 32"/>
          <p:cNvSpPr/>
          <p:nvPr/>
        </p:nvSpPr>
        <p:spPr>
          <a:xfrm>
            <a:off x="6438891" y="2913063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94500" y="2865438"/>
            <a:ext cx="4929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94500" y="3119438"/>
            <a:ext cx="492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Mandatory feedback prompts after each transaction close the learning loop and validate advisory effectiveness.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86500" y="3659187"/>
            <a:ext cx="5461000" cy="825500"/>
          </a:xfrm>
          <a:custGeom>
            <a:avLst/>
            <a:gdLst/>
            <a:ahLst/>
            <a:cxnLst/>
            <a:rect l="l" t="t" r="r" b="b"/>
            <a:pathLst>
              <a:path w="5461000" h="825500">
                <a:moveTo>
                  <a:pt x="31749" y="0"/>
                </a:moveTo>
                <a:lnTo>
                  <a:pt x="5429251" y="0"/>
                </a:lnTo>
                <a:cubicBezTo>
                  <a:pt x="5446786" y="0"/>
                  <a:pt x="5461000" y="14214"/>
                  <a:pt x="5461000" y="31749"/>
                </a:cubicBezTo>
                <a:lnTo>
                  <a:pt x="5461000" y="793751"/>
                </a:lnTo>
                <a:cubicBezTo>
                  <a:pt x="5461000" y="811286"/>
                  <a:pt x="5446786" y="825500"/>
                  <a:pt x="5429251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81750" y="375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31750" y="0"/>
                </a:moveTo>
                <a:lnTo>
                  <a:pt x="285750" y="0"/>
                </a:lnTo>
                <a:cubicBezTo>
                  <a:pt x="303273" y="0"/>
                  <a:pt x="317500" y="14227"/>
                  <a:pt x="317500" y="31750"/>
                </a:cubicBezTo>
                <a:lnTo>
                  <a:pt x="317500" y="285750"/>
                </a:lnTo>
                <a:cubicBezTo>
                  <a:pt x="317500" y="303273"/>
                  <a:pt x="303273" y="317500"/>
                  <a:pt x="285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9" name="Text 37"/>
          <p:cNvSpPr/>
          <p:nvPr/>
        </p:nvSpPr>
        <p:spPr>
          <a:xfrm>
            <a:off x="6443942" y="3802062"/>
            <a:ext cx="26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94500" y="3754438"/>
            <a:ext cx="4929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Analysis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94500" y="4008438"/>
            <a:ext cx="492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AI-human collaborative verification within a 24-hour window ensures data quality and actionable insights.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86500" y="4548188"/>
            <a:ext cx="5461000" cy="825500"/>
          </a:xfrm>
          <a:custGeom>
            <a:avLst/>
            <a:gdLst/>
            <a:ahLst/>
            <a:cxnLst/>
            <a:rect l="l" t="t" r="r" b="b"/>
            <a:pathLst>
              <a:path w="5461000" h="825500">
                <a:moveTo>
                  <a:pt x="31749" y="0"/>
                </a:moveTo>
                <a:lnTo>
                  <a:pt x="5429251" y="0"/>
                </a:lnTo>
                <a:cubicBezTo>
                  <a:pt x="5446786" y="0"/>
                  <a:pt x="5461000" y="14214"/>
                  <a:pt x="5461000" y="31749"/>
                </a:cubicBezTo>
                <a:lnTo>
                  <a:pt x="5461000" y="793751"/>
                </a:lnTo>
                <a:cubicBezTo>
                  <a:pt x="5461000" y="811286"/>
                  <a:pt x="5446786" y="825500"/>
                  <a:pt x="5429251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F3E3B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381750" y="4643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31750" y="0"/>
                </a:moveTo>
                <a:lnTo>
                  <a:pt x="285750" y="0"/>
                </a:lnTo>
                <a:cubicBezTo>
                  <a:pt x="303273" y="0"/>
                  <a:pt x="317500" y="14227"/>
                  <a:pt x="317500" y="31750"/>
                </a:cubicBezTo>
                <a:lnTo>
                  <a:pt x="317500" y="285750"/>
                </a:lnTo>
                <a:cubicBezTo>
                  <a:pt x="317500" y="303273"/>
                  <a:pt x="303273" y="317500"/>
                  <a:pt x="285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44" name="Text 42"/>
          <p:cNvSpPr/>
          <p:nvPr/>
        </p:nvSpPr>
        <p:spPr>
          <a:xfrm>
            <a:off x="6436005" y="4691063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94500" y="4643438"/>
            <a:ext cx="4929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Adaptation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94500" y="4897438"/>
            <a:ext cx="492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policy shifts driven by FRRP and VRRP scoring enable dynamic, evidence-based program evolution.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59500" y="5595938"/>
            <a:ext cx="5715000" cy="1492250"/>
          </a:xfrm>
          <a:custGeom>
            <a:avLst/>
            <a:gdLst/>
            <a:ahLst/>
            <a:cxnLst/>
            <a:rect l="l" t="t" r="r" b="b"/>
            <a:pathLst>
              <a:path w="5715000" h="1492250">
                <a:moveTo>
                  <a:pt x="31755" y="0"/>
                </a:moveTo>
                <a:lnTo>
                  <a:pt x="5683245" y="0"/>
                </a:lnTo>
                <a:cubicBezTo>
                  <a:pt x="5700783" y="0"/>
                  <a:pt x="5715000" y="14217"/>
                  <a:pt x="5715000" y="31755"/>
                </a:cubicBezTo>
                <a:lnTo>
                  <a:pt x="5715000" y="1460495"/>
                </a:lnTo>
                <a:cubicBezTo>
                  <a:pt x="5715000" y="1478033"/>
                  <a:pt x="5700783" y="1492250"/>
                  <a:pt x="5683245" y="1492250"/>
                </a:cubicBezTo>
                <a:lnTo>
                  <a:pt x="31755" y="1492250"/>
                </a:lnTo>
                <a:cubicBezTo>
                  <a:pt x="14217" y="1492250"/>
                  <a:pt x="0" y="1478033"/>
                  <a:pt x="0" y="1460495"/>
                </a:cubicBezTo>
                <a:lnTo>
                  <a:pt x="0" y="31755"/>
                </a:lnTo>
                <a:cubicBezTo>
                  <a:pt x="0" y="14229"/>
                  <a:pt x="14229" y="0"/>
                  <a:pt x="31755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8" name="Shape 46"/>
          <p:cNvSpPr/>
          <p:nvPr/>
        </p:nvSpPr>
        <p:spPr>
          <a:xfrm>
            <a:off x="6315273" y="576262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68619" y="-7227"/>
                </a:moveTo>
                <a:cubicBezTo>
                  <a:pt x="64880" y="-9516"/>
                  <a:pt x="60164" y="-9516"/>
                  <a:pt x="56424" y="-7227"/>
                </a:cubicBezTo>
                <a:cubicBezTo>
                  <a:pt x="49616" y="-3070"/>
                  <a:pt x="45402" y="-1953"/>
                  <a:pt x="37421" y="-2121"/>
                </a:cubicBezTo>
                <a:cubicBezTo>
                  <a:pt x="33040" y="-2232"/>
                  <a:pt x="28966" y="140"/>
                  <a:pt x="26845" y="3990"/>
                </a:cubicBezTo>
                <a:cubicBezTo>
                  <a:pt x="23022" y="10995"/>
                  <a:pt x="19924" y="14092"/>
                  <a:pt x="12920" y="17915"/>
                </a:cubicBezTo>
                <a:cubicBezTo>
                  <a:pt x="9069" y="20008"/>
                  <a:pt x="6725" y="24110"/>
                  <a:pt x="6809" y="28491"/>
                </a:cubicBezTo>
                <a:cubicBezTo>
                  <a:pt x="7004" y="36472"/>
                  <a:pt x="5860" y="40686"/>
                  <a:pt x="1702" y="47495"/>
                </a:cubicBezTo>
                <a:cubicBezTo>
                  <a:pt x="-586" y="51234"/>
                  <a:pt x="-586" y="55950"/>
                  <a:pt x="1702" y="59689"/>
                </a:cubicBezTo>
                <a:cubicBezTo>
                  <a:pt x="5860" y="66498"/>
                  <a:pt x="6976" y="70712"/>
                  <a:pt x="6809" y="78693"/>
                </a:cubicBezTo>
                <a:cubicBezTo>
                  <a:pt x="6697" y="83074"/>
                  <a:pt x="9069" y="87148"/>
                  <a:pt x="12920" y="89269"/>
                </a:cubicBezTo>
                <a:cubicBezTo>
                  <a:pt x="19087" y="92646"/>
                  <a:pt x="22213" y="95436"/>
                  <a:pt x="25505" y="100850"/>
                </a:cubicBezTo>
                <a:lnTo>
                  <a:pt x="11916" y="127946"/>
                </a:lnTo>
                <a:cubicBezTo>
                  <a:pt x="10269" y="131266"/>
                  <a:pt x="11609" y="135285"/>
                  <a:pt x="14901" y="136931"/>
                </a:cubicBezTo>
                <a:lnTo>
                  <a:pt x="38900" y="148930"/>
                </a:lnTo>
                <a:cubicBezTo>
                  <a:pt x="42109" y="150521"/>
                  <a:pt x="46016" y="149321"/>
                  <a:pt x="47746" y="146196"/>
                </a:cubicBezTo>
                <a:lnTo>
                  <a:pt x="62480" y="119658"/>
                </a:lnTo>
                <a:lnTo>
                  <a:pt x="77214" y="146196"/>
                </a:lnTo>
                <a:cubicBezTo>
                  <a:pt x="78944" y="149321"/>
                  <a:pt x="82851" y="150549"/>
                  <a:pt x="86060" y="148930"/>
                </a:cubicBezTo>
                <a:lnTo>
                  <a:pt x="110058" y="136931"/>
                </a:lnTo>
                <a:cubicBezTo>
                  <a:pt x="113379" y="135285"/>
                  <a:pt x="114719" y="131266"/>
                  <a:pt x="113044" y="127946"/>
                </a:cubicBezTo>
                <a:lnTo>
                  <a:pt x="99482" y="100822"/>
                </a:lnTo>
                <a:cubicBezTo>
                  <a:pt x="102747" y="95408"/>
                  <a:pt x="105901" y="92618"/>
                  <a:pt x="112068" y="89241"/>
                </a:cubicBezTo>
                <a:cubicBezTo>
                  <a:pt x="115919" y="87148"/>
                  <a:pt x="118263" y="83046"/>
                  <a:pt x="118179" y="78665"/>
                </a:cubicBezTo>
                <a:cubicBezTo>
                  <a:pt x="117983" y="70684"/>
                  <a:pt x="119128" y="66470"/>
                  <a:pt x="123285" y="59661"/>
                </a:cubicBezTo>
                <a:cubicBezTo>
                  <a:pt x="125574" y="55922"/>
                  <a:pt x="125574" y="51206"/>
                  <a:pt x="123285" y="47467"/>
                </a:cubicBezTo>
                <a:cubicBezTo>
                  <a:pt x="119128" y="40658"/>
                  <a:pt x="118011" y="36444"/>
                  <a:pt x="118179" y="28463"/>
                </a:cubicBezTo>
                <a:cubicBezTo>
                  <a:pt x="118290" y="24082"/>
                  <a:pt x="115919" y="20008"/>
                  <a:pt x="112068" y="17887"/>
                </a:cubicBezTo>
                <a:cubicBezTo>
                  <a:pt x="105063" y="14064"/>
                  <a:pt x="101966" y="10967"/>
                  <a:pt x="98143" y="3963"/>
                </a:cubicBezTo>
                <a:cubicBezTo>
                  <a:pt x="96050" y="112"/>
                  <a:pt x="91948" y="-2232"/>
                  <a:pt x="87567" y="-2149"/>
                </a:cubicBezTo>
                <a:cubicBezTo>
                  <a:pt x="79586" y="-1953"/>
                  <a:pt x="75372" y="-3097"/>
                  <a:pt x="68563" y="-7255"/>
                </a:cubicBezTo>
                <a:close/>
                <a:moveTo>
                  <a:pt x="62508" y="26789"/>
                </a:moveTo>
                <a:cubicBezTo>
                  <a:pt x="77293" y="26789"/>
                  <a:pt x="89297" y="38793"/>
                  <a:pt x="89297" y="53578"/>
                </a:cubicBezTo>
                <a:cubicBezTo>
                  <a:pt x="89297" y="68363"/>
                  <a:pt x="77293" y="80367"/>
                  <a:pt x="62508" y="80367"/>
                </a:cubicBezTo>
                <a:cubicBezTo>
                  <a:pt x="47723" y="80367"/>
                  <a:pt x="35719" y="68363"/>
                  <a:pt x="35719" y="53578"/>
                </a:cubicBezTo>
                <a:cubicBezTo>
                  <a:pt x="35719" y="38793"/>
                  <a:pt x="47723" y="26789"/>
                  <a:pt x="62508" y="2678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469063" y="5722938"/>
            <a:ext cx="534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Resilience Recognition (FRRP/VRRP)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86500" y="6008688"/>
            <a:ext cx="5524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measured by </a:t>
            </a: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Family Resilience Recognition (FRRP)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score reflecting climate-smart practice mastery and economic stability.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86500" y="6484938"/>
            <a:ext cx="5461000" cy="476250"/>
          </a:xfrm>
          <a:custGeom>
            <a:avLst/>
            <a:gdLst/>
            <a:ahLst/>
            <a:cxnLst/>
            <a:rect l="l" t="t" r="r" b="b"/>
            <a:pathLst>
              <a:path w="5461000" h="476250">
                <a:moveTo>
                  <a:pt x="31752" y="0"/>
                </a:moveTo>
                <a:lnTo>
                  <a:pt x="5429248" y="0"/>
                </a:lnTo>
                <a:cubicBezTo>
                  <a:pt x="5446784" y="0"/>
                  <a:pt x="5461000" y="14216"/>
                  <a:pt x="5461000" y="31752"/>
                </a:cubicBezTo>
                <a:lnTo>
                  <a:pt x="5461000" y="444498"/>
                </a:lnTo>
                <a:cubicBezTo>
                  <a:pt x="5461000" y="462034"/>
                  <a:pt x="5446784" y="476250"/>
                  <a:pt x="5429248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381750" y="6627813"/>
            <a:ext cx="143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Gold Resilient Household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281714" y="6580188"/>
            <a:ext cx="492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80+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42" y="333342"/>
            <a:ext cx="50001" cy="333342"/>
          </a:xfrm>
          <a:custGeom>
            <a:avLst/>
            <a:gdLst/>
            <a:ahLst/>
            <a:cxnLst/>
            <a:rect l="l" t="t" r="r" b="b"/>
            <a:pathLst>
              <a:path w="50001" h="333342">
                <a:moveTo>
                  <a:pt x="0" y="0"/>
                </a:moveTo>
                <a:lnTo>
                  <a:pt x="50001" y="0"/>
                </a:lnTo>
                <a:lnTo>
                  <a:pt x="50001" y="333342"/>
                </a:lnTo>
                <a:lnTo>
                  <a:pt x="0" y="333342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" name="Text 1"/>
          <p:cNvSpPr/>
          <p:nvPr/>
        </p:nvSpPr>
        <p:spPr>
          <a:xfrm>
            <a:off x="483347" y="400011"/>
            <a:ext cx="1466707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kern="0" spc="5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 ASSESSMENT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3342" y="733353"/>
            <a:ext cx="11675319" cy="375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6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FAO "Four Betters" Framework &amp; SDG Alignment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3342" y="1175032"/>
            <a:ext cx="11600317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Mapping GreenLoop 3.0 interventions to global development goals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010" y="1541709"/>
            <a:ext cx="5683489" cy="1916719"/>
          </a:xfrm>
          <a:custGeom>
            <a:avLst/>
            <a:gdLst/>
            <a:ahLst/>
            <a:cxnLst/>
            <a:rect l="l" t="t" r="r" b="b"/>
            <a:pathLst>
              <a:path w="5683489" h="1916719">
                <a:moveTo>
                  <a:pt x="33332" y="0"/>
                </a:moveTo>
                <a:lnTo>
                  <a:pt x="5650157" y="0"/>
                </a:lnTo>
                <a:cubicBezTo>
                  <a:pt x="5668566" y="0"/>
                  <a:pt x="5683489" y="14923"/>
                  <a:pt x="5683489" y="33332"/>
                </a:cubicBezTo>
                <a:lnTo>
                  <a:pt x="5683489" y="1883387"/>
                </a:lnTo>
                <a:cubicBezTo>
                  <a:pt x="5683489" y="1901796"/>
                  <a:pt x="5668566" y="1916719"/>
                  <a:pt x="5650157" y="1916719"/>
                </a:cubicBezTo>
                <a:lnTo>
                  <a:pt x="33332" y="1916719"/>
                </a:lnTo>
                <a:cubicBezTo>
                  <a:pt x="14923" y="1916719"/>
                  <a:pt x="0" y="1901796"/>
                  <a:pt x="0" y="1883387"/>
                </a:cubicBezTo>
                <a:lnTo>
                  <a:pt x="0" y="33332"/>
                </a:lnTo>
                <a:cubicBezTo>
                  <a:pt x="0" y="14923"/>
                  <a:pt x="14923" y="0"/>
                  <a:pt x="3333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001" dist="83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0010" y="1541709"/>
            <a:ext cx="33334" cy="1916719"/>
          </a:xfrm>
          <a:custGeom>
            <a:avLst/>
            <a:gdLst/>
            <a:ahLst/>
            <a:cxnLst/>
            <a:rect l="l" t="t" r="r" b="b"/>
            <a:pathLst>
              <a:path w="33334" h="1916719">
                <a:moveTo>
                  <a:pt x="33334" y="0"/>
                </a:moveTo>
                <a:lnTo>
                  <a:pt x="33334" y="0"/>
                </a:lnTo>
                <a:lnTo>
                  <a:pt x="33334" y="1916719"/>
                </a:lnTo>
                <a:lnTo>
                  <a:pt x="33334" y="1916719"/>
                </a:lnTo>
                <a:cubicBezTo>
                  <a:pt x="14924" y="1916719"/>
                  <a:pt x="0" y="1901795"/>
                  <a:pt x="0" y="1883385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Shape 6"/>
          <p:cNvSpPr/>
          <p:nvPr/>
        </p:nvSpPr>
        <p:spPr>
          <a:xfrm>
            <a:off x="500014" y="1725047"/>
            <a:ext cx="400011" cy="400011"/>
          </a:xfrm>
          <a:custGeom>
            <a:avLst/>
            <a:gdLst/>
            <a:ahLst/>
            <a:cxnLst/>
            <a:rect l="l" t="t" r="r" b="b"/>
            <a:pathLst>
              <a:path w="400011" h="400011">
                <a:moveTo>
                  <a:pt x="33333" y="0"/>
                </a:moveTo>
                <a:lnTo>
                  <a:pt x="366678" y="0"/>
                </a:lnTo>
                <a:cubicBezTo>
                  <a:pt x="385087" y="0"/>
                  <a:pt x="400011" y="14924"/>
                  <a:pt x="400011" y="33333"/>
                </a:cubicBezTo>
                <a:lnTo>
                  <a:pt x="400011" y="366678"/>
                </a:lnTo>
                <a:cubicBezTo>
                  <a:pt x="400011" y="385087"/>
                  <a:pt x="385087" y="400011"/>
                  <a:pt x="366678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Shape 7"/>
          <p:cNvSpPr/>
          <p:nvPr/>
        </p:nvSpPr>
        <p:spPr>
          <a:xfrm>
            <a:off x="616684" y="1841717"/>
            <a:ext cx="166671" cy="166671"/>
          </a:xfrm>
          <a:custGeom>
            <a:avLst/>
            <a:gdLst/>
            <a:ahLst/>
            <a:cxnLst/>
            <a:rect l="l" t="t" r="r" b="b"/>
            <a:pathLst>
              <a:path w="166671" h="166671">
                <a:moveTo>
                  <a:pt x="166671" y="10417"/>
                </a:moveTo>
                <a:cubicBezTo>
                  <a:pt x="166671" y="45607"/>
                  <a:pt x="141736" y="74969"/>
                  <a:pt x="108597" y="81838"/>
                </a:cubicBezTo>
                <a:cubicBezTo>
                  <a:pt x="106025" y="62925"/>
                  <a:pt x="97529" y="45900"/>
                  <a:pt x="84996" y="32716"/>
                </a:cubicBezTo>
                <a:cubicBezTo>
                  <a:pt x="98050" y="13021"/>
                  <a:pt x="120413" y="0"/>
                  <a:pt x="145837" y="0"/>
                </a:cubicBezTo>
                <a:lnTo>
                  <a:pt x="156254" y="0"/>
                </a:lnTo>
                <a:cubicBezTo>
                  <a:pt x="162016" y="0"/>
                  <a:pt x="166671" y="4655"/>
                  <a:pt x="166671" y="10417"/>
                </a:cubicBezTo>
                <a:close/>
                <a:moveTo>
                  <a:pt x="0" y="31251"/>
                </a:moveTo>
                <a:cubicBezTo>
                  <a:pt x="0" y="25489"/>
                  <a:pt x="4655" y="20834"/>
                  <a:pt x="10417" y="20834"/>
                </a:cubicBezTo>
                <a:lnTo>
                  <a:pt x="20834" y="20834"/>
                </a:lnTo>
                <a:cubicBezTo>
                  <a:pt x="61102" y="20834"/>
                  <a:pt x="93753" y="53485"/>
                  <a:pt x="93753" y="93753"/>
                </a:cubicBezTo>
                <a:lnTo>
                  <a:pt x="93753" y="156254"/>
                </a:lnTo>
                <a:cubicBezTo>
                  <a:pt x="93753" y="162016"/>
                  <a:pt x="89097" y="166671"/>
                  <a:pt x="83336" y="166671"/>
                </a:cubicBezTo>
                <a:cubicBezTo>
                  <a:pt x="77574" y="166671"/>
                  <a:pt x="72919" y="162016"/>
                  <a:pt x="72919" y="156254"/>
                </a:cubicBezTo>
                <a:lnTo>
                  <a:pt x="72919" y="104170"/>
                </a:lnTo>
                <a:cubicBezTo>
                  <a:pt x="32651" y="104170"/>
                  <a:pt x="0" y="71519"/>
                  <a:pt x="0" y="312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0027" y="1675046"/>
            <a:ext cx="1366704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Better Production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0027" y="1941720"/>
            <a:ext cx="450012" cy="233340"/>
          </a:xfrm>
          <a:custGeom>
            <a:avLst/>
            <a:gdLst/>
            <a:ahLst/>
            <a:cxnLst/>
            <a:rect l="l" t="t" r="r" b="b"/>
            <a:pathLst>
              <a:path w="450012" h="233340">
                <a:moveTo>
                  <a:pt x="33335" y="0"/>
                </a:moveTo>
                <a:lnTo>
                  <a:pt x="416677" y="0"/>
                </a:lnTo>
                <a:cubicBezTo>
                  <a:pt x="435088" y="0"/>
                  <a:pt x="450012" y="14925"/>
                  <a:pt x="450012" y="33335"/>
                </a:cubicBezTo>
                <a:lnTo>
                  <a:pt x="450012" y="200005"/>
                </a:lnTo>
                <a:cubicBezTo>
                  <a:pt x="450012" y="218415"/>
                  <a:pt x="435088" y="233340"/>
                  <a:pt x="416677" y="233340"/>
                </a:cubicBezTo>
                <a:lnTo>
                  <a:pt x="33335" y="233340"/>
                </a:lnTo>
                <a:cubicBezTo>
                  <a:pt x="14937" y="233340"/>
                  <a:pt x="0" y="218403"/>
                  <a:pt x="0" y="200005"/>
                </a:cubicBezTo>
                <a:lnTo>
                  <a:pt x="0" y="33335"/>
                </a:lnTo>
                <a:cubicBezTo>
                  <a:pt x="0" y="14937"/>
                  <a:pt x="14937" y="0"/>
                  <a:pt x="33335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0027" y="1941720"/>
            <a:ext cx="508347" cy="233340"/>
          </a:xfrm>
          <a:prstGeom prst="rect">
            <a:avLst/>
          </a:prstGeom>
          <a:noFill/>
          <a:ln/>
        </p:spPr>
        <p:txBody>
          <a:bodyPr wrap="square" lIns="66668" tIns="33334" rIns="66668" bIns="33334" rtlCol="0" anchor="ctr"/>
          <a:lstStyle/>
          <a:p>
            <a:pPr>
              <a:lnSpc>
                <a:spcPct val="120000"/>
              </a:lnSpc>
            </a:pPr>
            <a:r>
              <a:rPr lang="en-US" sz="91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SDG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12826" y="1958387"/>
            <a:ext cx="79168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Hunger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0014" y="2241728"/>
            <a:ext cx="5400148" cy="416678"/>
          </a:xfrm>
          <a:custGeom>
            <a:avLst/>
            <a:gdLst/>
            <a:ahLst/>
            <a:cxnLst/>
            <a:rect l="l" t="t" r="r" b="b"/>
            <a:pathLst>
              <a:path w="5400148" h="416678">
                <a:moveTo>
                  <a:pt x="33334" y="0"/>
                </a:moveTo>
                <a:lnTo>
                  <a:pt x="5366813" y="0"/>
                </a:lnTo>
                <a:cubicBezTo>
                  <a:pt x="5385223" y="0"/>
                  <a:pt x="5400148" y="14924"/>
                  <a:pt x="5400148" y="33334"/>
                </a:cubicBezTo>
                <a:lnTo>
                  <a:pt x="5400148" y="383344"/>
                </a:lnTo>
                <a:cubicBezTo>
                  <a:pt x="5400148" y="401754"/>
                  <a:pt x="5385223" y="416678"/>
                  <a:pt x="5366813" y="416678"/>
                </a:cubicBezTo>
                <a:lnTo>
                  <a:pt x="33334" y="416678"/>
                </a:lnTo>
                <a:cubicBezTo>
                  <a:pt x="14924" y="416678"/>
                  <a:pt x="0" y="401754"/>
                  <a:pt x="0" y="383344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0016" y="2341731"/>
            <a:ext cx="5266811" cy="216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Interventions:</a:t>
            </a:r>
            <a:r>
              <a:rPr lang="en-US" sz="105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12-parameter sensor; STFFT implementation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0014" y="2725075"/>
            <a:ext cx="2650072" cy="600016"/>
          </a:xfrm>
          <a:custGeom>
            <a:avLst/>
            <a:gdLst/>
            <a:ahLst/>
            <a:cxnLst/>
            <a:rect l="l" t="t" r="r" b="b"/>
            <a:pathLst>
              <a:path w="2650072" h="600016">
                <a:moveTo>
                  <a:pt x="33337" y="0"/>
                </a:moveTo>
                <a:lnTo>
                  <a:pt x="2616736" y="0"/>
                </a:lnTo>
                <a:cubicBezTo>
                  <a:pt x="2635147" y="0"/>
                  <a:pt x="2650072" y="14925"/>
                  <a:pt x="2650072" y="33337"/>
                </a:cubicBezTo>
                <a:lnTo>
                  <a:pt x="2650072" y="566679"/>
                </a:lnTo>
                <a:cubicBezTo>
                  <a:pt x="2650072" y="585091"/>
                  <a:pt x="2635147" y="600016"/>
                  <a:pt x="2616736" y="600016"/>
                </a:cubicBezTo>
                <a:lnTo>
                  <a:pt x="33337" y="600016"/>
                </a:lnTo>
                <a:cubicBezTo>
                  <a:pt x="14925" y="600016"/>
                  <a:pt x="0" y="585091"/>
                  <a:pt x="0" y="566679"/>
                </a:cubicBezTo>
                <a:lnTo>
                  <a:pt x="0" y="33337"/>
                </a:lnTo>
                <a:cubicBezTo>
                  <a:pt x="0" y="14925"/>
                  <a:pt x="14925" y="0"/>
                  <a:pt x="33337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81" y="2791743"/>
            <a:ext cx="2616738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5" b="1" dirty="0">
                <a:solidFill>
                  <a:srgbClr val="4C8A7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20-32%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3348" y="3058417"/>
            <a:ext cx="258340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Increase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48195" y="2725075"/>
            <a:ext cx="2650072" cy="600016"/>
          </a:xfrm>
          <a:custGeom>
            <a:avLst/>
            <a:gdLst/>
            <a:ahLst/>
            <a:cxnLst/>
            <a:rect l="l" t="t" r="r" b="b"/>
            <a:pathLst>
              <a:path w="2650072" h="600016">
                <a:moveTo>
                  <a:pt x="33337" y="0"/>
                </a:moveTo>
                <a:lnTo>
                  <a:pt x="2616736" y="0"/>
                </a:lnTo>
                <a:cubicBezTo>
                  <a:pt x="2635147" y="0"/>
                  <a:pt x="2650072" y="14925"/>
                  <a:pt x="2650072" y="33337"/>
                </a:cubicBezTo>
                <a:lnTo>
                  <a:pt x="2650072" y="566679"/>
                </a:lnTo>
                <a:cubicBezTo>
                  <a:pt x="2650072" y="585091"/>
                  <a:pt x="2635147" y="600016"/>
                  <a:pt x="2616736" y="600016"/>
                </a:cubicBezTo>
                <a:lnTo>
                  <a:pt x="33337" y="600016"/>
                </a:lnTo>
                <a:cubicBezTo>
                  <a:pt x="14925" y="600016"/>
                  <a:pt x="0" y="585091"/>
                  <a:pt x="0" y="566679"/>
                </a:cubicBezTo>
                <a:lnTo>
                  <a:pt x="0" y="33337"/>
                </a:lnTo>
                <a:cubicBezTo>
                  <a:pt x="0" y="14925"/>
                  <a:pt x="14925" y="0"/>
                  <a:pt x="33337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0" name="Text 18"/>
          <p:cNvSpPr/>
          <p:nvPr/>
        </p:nvSpPr>
        <p:spPr>
          <a:xfrm>
            <a:off x="3264862" y="2791743"/>
            <a:ext cx="2616738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5" b="1" dirty="0">
                <a:solidFill>
                  <a:srgbClr val="4C8A7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81529" y="3058417"/>
            <a:ext cx="258340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STFFT Coverage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0010" y="3558431"/>
            <a:ext cx="5683489" cy="1916719"/>
          </a:xfrm>
          <a:custGeom>
            <a:avLst/>
            <a:gdLst/>
            <a:ahLst/>
            <a:cxnLst/>
            <a:rect l="l" t="t" r="r" b="b"/>
            <a:pathLst>
              <a:path w="5683489" h="1916719">
                <a:moveTo>
                  <a:pt x="33332" y="0"/>
                </a:moveTo>
                <a:lnTo>
                  <a:pt x="5650157" y="0"/>
                </a:lnTo>
                <a:cubicBezTo>
                  <a:pt x="5668566" y="0"/>
                  <a:pt x="5683489" y="14923"/>
                  <a:pt x="5683489" y="33332"/>
                </a:cubicBezTo>
                <a:lnTo>
                  <a:pt x="5683489" y="1883387"/>
                </a:lnTo>
                <a:cubicBezTo>
                  <a:pt x="5683489" y="1901796"/>
                  <a:pt x="5668566" y="1916719"/>
                  <a:pt x="5650157" y="1916719"/>
                </a:cubicBezTo>
                <a:lnTo>
                  <a:pt x="33332" y="1916719"/>
                </a:lnTo>
                <a:cubicBezTo>
                  <a:pt x="14923" y="1916719"/>
                  <a:pt x="0" y="1901796"/>
                  <a:pt x="0" y="1883387"/>
                </a:cubicBezTo>
                <a:lnTo>
                  <a:pt x="0" y="33332"/>
                </a:lnTo>
                <a:cubicBezTo>
                  <a:pt x="0" y="14923"/>
                  <a:pt x="14923" y="0"/>
                  <a:pt x="3333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001" dist="83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0010" y="3558431"/>
            <a:ext cx="33334" cy="1916719"/>
          </a:xfrm>
          <a:custGeom>
            <a:avLst/>
            <a:gdLst/>
            <a:ahLst/>
            <a:cxnLst/>
            <a:rect l="l" t="t" r="r" b="b"/>
            <a:pathLst>
              <a:path w="33334" h="1916719">
                <a:moveTo>
                  <a:pt x="33334" y="0"/>
                </a:moveTo>
                <a:lnTo>
                  <a:pt x="33334" y="0"/>
                </a:lnTo>
                <a:lnTo>
                  <a:pt x="33334" y="1916719"/>
                </a:lnTo>
                <a:lnTo>
                  <a:pt x="33334" y="1916719"/>
                </a:lnTo>
                <a:cubicBezTo>
                  <a:pt x="14924" y="1916719"/>
                  <a:pt x="0" y="1901795"/>
                  <a:pt x="0" y="1883385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24" name="Shape 22"/>
          <p:cNvSpPr/>
          <p:nvPr/>
        </p:nvSpPr>
        <p:spPr>
          <a:xfrm>
            <a:off x="500014" y="3741769"/>
            <a:ext cx="400011" cy="400011"/>
          </a:xfrm>
          <a:custGeom>
            <a:avLst/>
            <a:gdLst/>
            <a:ahLst/>
            <a:cxnLst/>
            <a:rect l="l" t="t" r="r" b="b"/>
            <a:pathLst>
              <a:path w="400011" h="400011">
                <a:moveTo>
                  <a:pt x="33333" y="0"/>
                </a:moveTo>
                <a:lnTo>
                  <a:pt x="366678" y="0"/>
                </a:lnTo>
                <a:cubicBezTo>
                  <a:pt x="385087" y="0"/>
                  <a:pt x="400011" y="14924"/>
                  <a:pt x="400011" y="33333"/>
                </a:cubicBezTo>
                <a:lnTo>
                  <a:pt x="400011" y="366678"/>
                </a:lnTo>
                <a:cubicBezTo>
                  <a:pt x="400011" y="385087"/>
                  <a:pt x="385087" y="400011"/>
                  <a:pt x="366678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684" y="3858439"/>
            <a:ext cx="166671" cy="166671"/>
          </a:xfrm>
          <a:custGeom>
            <a:avLst/>
            <a:gdLst/>
            <a:ahLst/>
            <a:cxnLst/>
            <a:rect l="l" t="t" r="r" b="b"/>
            <a:pathLst>
              <a:path w="166671" h="166671">
                <a:moveTo>
                  <a:pt x="83336" y="35125"/>
                </a:moveTo>
                <a:lnTo>
                  <a:pt x="78453" y="28354"/>
                </a:lnTo>
                <a:cubicBezTo>
                  <a:pt x="70314" y="17090"/>
                  <a:pt x="57261" y="10417"/>
                  <a:pt x="43328" y="10417"/>
                </a:cubicBezTo>
                <a:cubicBezTo>
                  <a:pt x="19402" y="10417"/>
                  <a:pt x="0" y="29819"/>
                  <a:pt x="0" y="53745"/>
                </a:cubicBezTo>
                <a:lnTo>
                  <a:pt x="0" y="54591"/>
                </a:lnTo>
                <a:cubicBezTo>
                  <a:pt x="0" y="62274"/>
                  <a:pt x="2018" y="70217"/>
                  <a:pt x="5404" y="78127"/>
                </a:cubicBezTo>
                <a:lnTo>
                  <a:pt x="39910" y="78127"/>
                </a:lnTo>
                <a:cubicBezTo>
                  <a:pt x="40952" y="78127"/>
                  <a:pt x="41896" y="77509"/>
                  <a:pt x="42319" y="76532"/>
                </a:cubicBezTo>
                <a:lnTo>
                  <a:pt x="52671" y="51694"/>
                </a:lnTo>
                <a:cubicBezTo>
                  <a:pt x="53875" y="48829"/>
                  <a:pt x="56675" y="46941"/>
                  <a:pt x="59767" y="46876"/>
                </a:cubicBezTo>
                <a:cubicBezTo>
                  <a:pt x="62860" y="46811"/>
                  <a:pt x="65724" y="48634"/>
                  <a:pt x="66994" y="51466"/>
                </a:cubicBezTo>
                <a:lnTo>
                  <a:pt x="83694" y="88544"/>
                </a:lnTo>
                <a:lnTo>
                  <a:pt x="97171" y="61590"/>
                </a:lnTo>
                <a:cubicBezTo>
                  <a:pt x="98505" y="58953"/>
                  <a:pt x="101207" y="57261"/>
                  <a:pt x="104170" y="57261"/>
                </a:cubicBezTo>
                <a:cubicBezTo>
                  <a:pt x="107132" y="57261"/>
                  <a:pt x="109834" y="58921"/>
                  <a:pt x="111168" y="61590"/>
                </a:cubicBezTo>
                <a:lnTo>
                  <a:pt x="118721" y="76662"/>
                </a:lnTo>
                <a:cubicBezTo>
                  <a:pt x="119176" y="77541"/>
                  <a:pt x="120055" y="78095"/>
                  <a:pt x="121065" y="78095"/>
                </a:cubicBezTo>
                <a:lnTo>
                  <a:pt x="161300" y="78095"/>
                </a:lnTo>
                <a:cubicBezTo>
                  <a:pt x="164718" y="70184"/>
                  <a:pt x="166704" y="62241"/>
                  <a:pt x="166704" y="54559"/>
                </a:cubicBezTo>
                <a:lnTo>
                  <a:pt x="166704" y="53712"/>
                </a:lnTo>
                <a:cubicBezTo>
                  <a:pt x="166671" y="29819"/>
                  <a:pt x="147270" y="10417"/>
                  <a:pt x="123343" y="10417"/>
                </a:cubicBezTo>
                <a:cubicBezTo>
                  <a:pt x="109443" y="10417"/>
                  <a:pt x="96357" y="17090"/>
                  <a:pt x="88219" y="28354"/>
                </a:cubicBezTo>
                <a:lnTo>
                  <a:pt x="83336" y="35092"/>
                </a:lnTo>
                <a:close/>
                <a:moveTo>
                  <a:pt x="152869" y="93753"/>
                </a:moveTo>
                <a:lnTo>
                  <a:pt x="121032" y="93753"/>
                </a:lnTo>
                <a:cubicBezTo>
                  <a:pt x="114131" y="93753"/>
                  <a:pt x="107815" y="89846"/>
                  <a:pt x="104723" y="83661"/>
                </a:cubicBezTo>
                <a:lnTo>
                  <a:pt x="104170" y="82554"/>
                </a:lnTo>
                <a:lnTo>
                  <a:pt x="90335" y="110257"/>
                </a:lnTo>
                <a:cubicBezTo>
                  <a:pt x="89000" y="112959"/>
                  <a:pt x="86200" y="114652"/>
                  <a:pt x="83173" y="114586"/>
                </a:cubicBezTo>
                <a:cubicBezTo>
                  <a:pt x="80145" y="114521"/>
                  <a:pt x="77444" y="112731"/>
                  <a:pt x="76207" y="109996"/>
                </a:cubicBezTo>
                <a:lnTo>
                  <a:pt x="60158" y="74351"/>
                </a:lnTo>
                <a:lnTo>
                  <a:pt x="56740" y="82554"/>
                </a:lnTo>
                <a:cubicBezTo>
                  <a:pt x="53908" y="89358"/>
                  <a:pt x="47267" y="93785"/>
                  <a:pt x="39910" y="93785"/>
                </a:cubicBezTo>
                <a:lnTo>
                  <a:pt x="13802" y="93785"/>
                </a:lnTo>
                <a:cubicBezTo>
                  <a:pt x="29167" y="117809"/>
                  <a:pt x="53843" y="139913"/>
                  <a:pt x="69273" y="151697"/>
                </a:cubicBezTo>
                <a:cubicBezTo>
                  <a:pt x="73309" y="154757"/>
                  <a:pt x="78257" y="156287"/>
                  <a:pt x="83303" y="156287"/>
                </a:cubicBezTo>
                <a:cubicBezTo>
                  <a:pt x="88349" y="156287"/>
                  <a:pt x="93329" y="154789"/>
                  <a:pt x="97333" y="151697"/>
                </a:cubicBezTo>
                <a:cubicBezTo>
                  <a:pt x="112829" y="139880"/>
                  <a:pt x="137504" y="117777"/>
                  <a:pt x="152869" y="937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00027" y="3691768"/>
            <a:ext cx="2400066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Better Nutrition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00027" y="3958442"/>
            <a:ext cx="650018" cy="233340"/>
          </a:xfrm>
          <a:custGeom>
            <a:avLst/>
            <a:gdLst/>
            <a:ahLst/>
            <a:cxnLst/>
            <a:rect l="l" t="t" r="r" b="b"/>
            <a:pathLst>
              <a:path w="650018" h="233340">
                <a:moveTo>
                  <a:pt x="33335" y="0"/>
                </a:moveTo>
                <a:lnTo>
                  <a:pt x="616683" y="0"/>
                </a:lnTo>
                <a:cubicBezTo>
                  <a:pt x="635093" y="0"/>
                  <a:pt x="650018" y="14925"/>
                  <a:pt x="650018" y="33335"/>
                </a:cubicBezTo>
                <a:lnTo>
                  <a:pt x="650018" y="200005"/>
                </a:lnTo>
                <a:cubicBezTo>
                  <a:pt x="650018" y="218415"/>
                  <a:pt x="635093" y="233340"/>
                  <a:pt x="616683" y="233340"/>
                </a:cubicBezTo>
                <a:lnTo>
                  <a:pt x="33335" y="233340"/>
                </a:lnTo>
                <a:cubicBezTo>
                  <a:pt x="14937" y="233340"/>
                  <a:pt x="0" y="218403"/>
                  <a:pt x="0" y="200005"/>
                </a:cubicBezTo>
                <a:lnTo>
                  <a:pt x="0" y="33335"/>
                </a:lnTo>
                <a:cubicBezTo>
                  <a:pt x="0" y="14937"/>
                  <a:pt x="14937" y="0"/>
                  <a:pt x="33335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28" name="Text 26"/>
          <p:cNvSpPr/>
          <p:nvPr/>
        </p:nvSpPr>
        <p:spPr>
          <a:xfrm>
            <a:off x="1000027" y="3958442"/>
            <a:ext cx="708353" cy="233340"/>
          </a:xfrm>
          <a:prstGeom prst="rect">
            <a:avLst/>
          </a:prstGeom>
          <a:noFill/>
          <a:ln/>
        </p:spPr>
        <p:txBody>
          <a:bodyPr wrap="square" lIns="66668" tIns="33334" rIns="66668" bIns="33334" rtlCol="0" anchor="ctr"/>
          <a:lstStyle/>
          <a:p>
            <a:pPr>
              <a:lnSpc>
                <a:spcPct val="120000"/>
              </a:lnSpc>
            </a:pPr>
            <a:r>
              <a:rPr lang="en-US" sz="91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SDG 2 &amp; 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714204" y="3975109"/>
            <a:ext cx="1666712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Hunger &amp; Good Health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0014" y="4258450"/>
            <a:ext cx="5400148" cy="416678"/>
          </a:xfrm>
          <a:custGeom>
            <a:avLst/>
            <a:gdLst/>
            <a:ahLst/>
            <a:cxnLst/>
            <a:rect l="l" t="t" r="r" b="b"/>
            <a:pathLst>
              <a:path w="5400148" h="416678">
                <a:moveTo>
                  <a:pt x="33334" y="0"/>
                </a:moveTo>
                <a:lnTo>
                  <a:pt x="5366813" y="0"/>
                </a:lnTo>
                <a:cubicBezTo>
                  <a:pt x="5385223" y="0"/>
                  <a:pt x="5400148" y="14924"/>
                  <a:pt x="5400148" y="33334"/>
                </a:cubicBezTo>
                <a:lnTo>
                  <a:pt x="5400148" y="383344"/>
                </a:lnTo>
                <a:cubicBezTo>
                  <a:pt x="5400148" y="401754"/>
                  <a:pt x="5385223" y="416678"/>
                  <a:pt x="5366813" y="416678"/>
                </a:cubicBezTo>
                <a:lnTo>
                  <a:pt x="33334" y="416678"/>
                </a:lnTo>
                <a:cubicBezTo>
                  <a:pt x="14924" y="416678"/>
                  <a:pt x="0" y="401754"/>
                  <a:pt x="0" y="383344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00016" y="4358452"/>
            <a:ext cx="5266811" cy="216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Interventions:</a:t>
            </a:r>
            <a:r>
              <a:rPr lang="en-US" sz="105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Digital Family Cards; 3F4D+MD irrigation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0014" y="4741796"/>
            <a:ext cx="2650072" cy="600016"/>
          </a:xfrm>
          <a:custGeom>
            <a:avLst/>
            <a:gdLst/>
            <a:ahLst/>
            <a:cxnLst/>
            <a:rect l="l" t="t" r="r" b="b"/>
            <a:pathLst>
              <a:path w="2650072" h="600016">
                <a:moveTo>
                  <a:pt x="33337" y="0"/>
                </a:moveTo>
                <a:lnTo>
                  <a:pt x="2616736" y="0"/>
                </a:lnTo>
                <a:cubicBezTo>
                  <a:pt x="2635147" y="0"/>
                  <a:pt x="2650072" y="14925"/>
                  <a:pt x="2650072" y="33337"/>
                </a:cubicBezTo>
                <a:lnTo>
                  <a:pt x="2650072" y="566679"/>
                </a:lnTo>
                <a:cubicBezTo>
                  <a:pt x="2650072" y="585091"/>
                  <a:pt x="2635147" y="600016"/>
                  <a:pt x="2616736" y="600016"/>
                </a:cubicBezTo>
                <a:lnTo>
                  <a:pt x="33337" y="600016"/>
                </a:lnTo>
                <a:cubicBezTo>
                  <a:pt x="14925" y="600016"/>
                  <a:pt x="0" y="585091"/>
                  <a:pt x="0" y="566679"/>
                </a:cubicBezTo>
                <a:lnTo>
                  <a:pt x="0" y="33337"/>
                </a:lnTo>
                <a:cubicBezTo>
                  <a:pt x="0" y="14925"/>
                  <a:pt x="14925" y="0"/>
                  <a:pt x="33337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81" y="4808465"/>
            <a:ext cx="2616738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5" b="1" dirty="0">
                <a:solidFill>
                  <a:srgbClr val="5F6F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9-21%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3348" y="5075139"/>
            <a:ext cx="258340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Arsenic Reduction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48195" y="4741796"/>
            <a:ext cx="2650072" cy="600016"/>
          </a:xfrm>
          <a:custGeom>
            <a:avLst/>
            <a:gdLst/>
            <a:ahLst/>
            <a:cxnLst/>
            <a:rect l="l" t="t" r="r" b="b"/>
            <a:pathLst>
              <a:path w="2650072" h="600016">
                <a:moveTo>
                  <a:pt x="33337" y="0"/>
                </a:moveTo>
                <a:lnTo>
                  <a:pt x="2616736" y="0"/>
                </a:lnTo>
                <a:cubicBezTo>
                  <a:pt x="2635147" y="0"/>
                  <a:pt x="2650072" y="14925"/>
                  <a:pt x="2650072" y="33337"/>
                </a:cubicBezTo>
                <a:lnTo>
                  <a:pt x="2650072" y="566679"/>
                </a:lnTo>
                <a:cubicBezTo>
                  <a:pt x="2650072" y="585091"/>
                  <a:pt x="2635147" y="600016"/>
                  <a:pt x="2616736" y="600016"/>
                </a:cubicBezTo>
                <a:lnTo>
                  <a:pt x="33337" y="600016"/>
                </a:lnTo>
                <a:cubicBezTo>
                  <a:pt x="14925" y="600016"/>
                  <a:pt x="0" y="585091"/>
                  <a:pt x="0" y="566679"/>
                </a:cubicBezTo>
                <a:lnTo>
                  <a:pt x="0" y="33337"/>
                </a:lnTo>
                <a:cubicBezTo>
                  <a:pt x="0" y="14925"/>
                  <a:pt x="14925" y="0"/>
                  <a:pt x="33337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6" name="Text 34"/>
          <p:cNvSpPr/>
          <p:nvPr/>
        </p:nvSpPr>
        <p:spPr>
          <a:xfrm>
            <a:off x="3273196" y="4808465"/>
            <a:ext cx="2600071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2" b="1" dirty="0">
                <a:solidFill>
                  <a:srgbClr val="5F6F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12K Cr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81529" y="5041805"/>
            <a:ext cx="258340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BDT Safety Fund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9762" y="1541709"/>
            <a:ext cx="5683489" cy="1916719"/>
          </a:xfrm>
          <a:custGeom>
            <a:avLst/>
            <a:gdLst/>
            <a:ahLst/>
            <a:cxnLst/>
            <a:rect l="l" t="t" r="r" b="b"/>
            <a:pathLst>
              <a:path w="5683489" h="1916719">
                <a:moveTo>
                  <a:pt x="33332" y="0"/>
                </a:moveTo>
                <a:lnTo>
                  <a:pt x="5650157" y="0"/>
                </a:lnTo>
                <a:cubicBezTo>
                  <a:pt x="5668566" y="0"/>
                  <a:pt x="5683489" y="14923"/>
                  <a:pt x="5683489" y="33332"/>
                </a:cubicBezTo>
                <a:lnTo>
                  <a:pt x="5683489" y="1883387"/>
                </a:lnTo>
                <a:cubicBezTo>
                  <a:pt x="5683489" y="1901796"/>
                  <a:pt x="5668566" y="1916719"/>
                  <a:pt x="5650157" y="1916719"/>
                </a:cubicBezTo>
                <a:lnTo>
                  <a:pt x="33332" y="1916719"/>
                </a:lnTo>
                <a:cubicBezTo>
                  <a:pt x="14923" y="1916719"/>
                  <a:pt x="0" y="1901796"/>
                  <a:pt x="0" y="1883387"/>
                </a:cubicBezTo>
                <a:lnTo>
                  <a:pt x="0" y="33332"/>
                </a:lnTo>
                <a:cubicBezTo>
                  <a:pt x="0" y="14923"/>
                  <a:pt x="14923" y="0"/>
                  <a:pt x="3333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001" dist="83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9762" y="1541709"/>
            <a:ext cx="33334" cy="1916719"/>
          </a:xfrm>
          <a:custGeom>
            <a:avLst/>
            <a:gdLst/>
            <a:ahLst/>
            <a:cxnLst/>
            <a:rect l="l" t="t" r="r" b="b"/>
            <a:pathLst>
              <a:path w="33334" h="1916719">
                <a:moveTo>
                  <a:pt x="33334" y="0"/>
                </a:moveTo>
                <a:lnTo>
                  <a:pt x="33334" y="0"/>
                </a:lnTo>
                <a:lnTo>
                  <a:pt x="33334" y="1916719"/>
                </a:lnTo>
                <a:lnTo>
                  <a:pt x="33334" y="1916719"/>
                </a:lnTo>
                <a:cubicBezTo>
                  <a:pt x="14924" y="1916719"/>
                  <a:pt x="0" y="1901795"/>
                  <a:pt x="0" y="1883385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0" name="Shape 38"/>
          <p:cNvSpPr/>
          <p:nvPr/>
        </p:nvSpPr>
        <p:spPr>
          <a:xfrm>
            <a:off x="6329766" y="1725047"/>
            <a:ext cx="400011" cy="400011"/>
          </a:xfrm>
          <a:custGeom>
            <a:avLst/>
            <a:gdLst/>
            <a:ahLst/>
            <a:cxnLst/>
            <a:rect l="l" t="t" r="r" b="b"/>
            <a:pathLst>
              <a:path w="400011" h="400011">
                <a:moveTo>
                  <a:pt x="33333" y="0"/>
                </a:moveTo>
                <a:lnTo>
                  <a:pt x="366678" y="0"/>
                </a:lnTo>
                <a:cubicBezTo>
                  <a:pt x="385087" y="0"/>
                  <a:pt x="400011" y="14924"/>
                  <a:pt x="400011" y="33333"/>
                </a:cubicBezTo>
                <a:lnTo>
                  <a:pt x="400011" y="366678"/>
                </a:lnTo>
                <a:cubicBezTo>
                  <a:pt x="400011" y="385087"/>
                  <a:pt x="385087" y="400011"/>
                  <a:pt x="366678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1" name="Shape 39"/>
          <p:cNvSpPr/>
          <p:nvPr/>
        </p:nvSpPr>
        <p:spPr>
          <a:xfrm>
            <a:off x="6446436" y="1841717"/>
            <a:ext cx="166671" cy="166671"/>
          </a:xfrm>
          <a:custGeom>
            <a:avLst/>
            <a:gdLst/>
            <a:ahLst/>
            <a:cxnLst/>
            <a:rect l="l" t="t" r="r" b="b"/>
            <a:pathLst>
              <a:path w="166671" h="166671">
                <a:moveTo>
                  <a:pt x="153422" y="2181"/>
                </a:moveTo>
                <a:cubicBezTo>
                  <a:pt x="155506" y="195"/>
                  <a:pt x="158533" y="-521"/>
                  <a:pt x="161333" y="391"/>
                </a:cubicBezTo>
                <a:cubicBezTo>
                  <a:pt x="164523" y="1465"/>
                  <a:pt x="166671" y="4460"/>
                  <a:pt x="166671" y="7813"/>
                </a:cubicBezTo>
                <a:lnTo>
                  <a:pt x="166671" y="68654"/>
                </a:lnTo>
                <a:cubicBezTo>
                  <a:pt x="166671" y="111364"/>
                  <a:pt x="131481" y="145837"/>
                  <a:pt x="88935" y="145837"/>
                </a:cubicBezTo>
                <a:cubicBezTo>
                  <a:pt x="63869" y="145837"/>
                  <a:pt x="42254" y="129724"/>
                  <a:pt x="34408" y="107197"/>
                </a:cubicBezTo>
                <a:cubicBezTo>
                  <a:pt x="22885" y="117223"/>
                  <a:pt x="15625" y="131970"/>
                  <a:pt x="15625" y="148442"/>
                </a:cubicBezTo>
                <a:cubicBezTo>
                  <a:pt x="15625" y="152771"/>
                  <a:pt x="12142" y="156254"/>
                  <a:pt x="7813" y="156254"/>
                </a:cubicBezTo>
                <a:cubicBezTo>
                  <a:pt x="3483" y="156254"/>
                  <a:pt x="0" y="152771"/>
                  <a:pt x="0" y="148442"/>
                </a:cubicBezTo>
                <a:cubicBezTo>
                  <a:pt x="0" y="124059"/>
                  <a:pt x="12435" y="102574"/>
                  <a:pt x="31283" y="89944"/>
                </a:cubicBezTo>
                <a:cubicBezTo>
                  <a:pt x="42775" y="82261"/>
                  <a:pt x="56479" y="78127"/>
                  <a:pt x="70314" y="78127"/>
                </a:cubicBezTo>
                <a:lnTo>
                  <a:pt x="96357" y="78127"/>
                </a:lnTo>
                <a:cubicBezTo>
                  <a:pt x="100686" y="78127"/>
                  <a:pt x="104170" y="74644"/>
                  <a:pt x="104170" y="70314"/>
                </a:cubicBezTo>
                <a:cubicBezTo>
                  <a:pt x="104170" y="65985"/>
                  <a:pt x="100686" y="62502"/>
                  <a:pt x="96357" y="62502"/>
                </a:cubicBezTo>
                <a:lnTo>
                  <a:pt x="70314" y="62502"/>
                </a:lnTo>
                <a:cubicBezTo>
                  <a:pt x="57391" y="62502"/>
                  <a:pt x="45151" y="65366"/>
                  <a:pt x="34181" y="70477"/>
                </a:cubicBezTo>
                <a:cubicBezTo>
                  <a:pt x="41765" y="47690"/>
                  <a:pt x="63218" y="31251"/>
                  <a:pt x="88544" y="31251"/>
                </a:cubicBezTo>
                <a:cubicBezTo>
                  <a:pt x="110159" y="31251"/>
                  <a:pt x="126240" y="24057"/>
                  <a:pt x="136950" y="16928"/>
                </a:cubicBezTo>
                <a:cubicBezTo>
                  <a:pt x="143201" y="12761"/>
                  <a:pt x="148507" y="7780"/>
                  <a:pt x="153455" y="21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29780" y="1675046"/>
            <a:ext cx="2566737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Better Environment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829780" y="1941720"/>
            <a:ext cx="691686" cy="233340"/>
          </a:xfrm>
          <a:custGeom>
            <a:avLst/>
            <a:gdLst/>
            <a:ahLst/>
            <a:cxnLst/>
            <a:rect l="l" t="t" r="r" b="b"/>
            <a:pathLst>
              <a:path w="691686" h="233340">
                <a:moveTo>
                  <a:pt x="33335" y="0"/>
                </a:moveTo>
                <a:lnTo>
                  <a:pt x="658351" y="0"/>
                </a:lnTo>
                <a:cubicBezTo>
                  <a:pt x="676761" y="0"/>
                  <a:pt x="691686" y="14925"/>
                  <a:pt x="691686" y="33335"/>
                </a:cubicBezTo>
                <a:lnTo>
                  <a:pt x="691686" y="200005"/>
                </a:lnTo>
                <a:cubicBezTo>
                  <a:pt x="691686" y="218415"/>
                  <a:pt x="676761" y="233340"/>
                  <a:pt x="658351" y="233340"/>
                </a:cubicBezTo>
                <a:lnTo>
                  <a:pt x="33335" y="233340"/>
                </a:lnTo>
                <a:cubicBezTo>
                  <a:pt x="14937" y="233340"/>
                  <a:pt x="0" y="218403"/>
                  <a:pt x="0" y="200005"/>
                </a:cubicBezTo>
                <a:lnTo>
                  <a:pt x="0" y="33335"/>
                </a:lnTo>
                <a:cubicBezTo>
                  <a:pt x="0" y="14937"/>
                  <a:pt x="14937" y="0"/>
                  <a:pt x="33335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4" name="Text 42"/>
          <p:cNvSpPr/>
          <p:nvPr/>
        </p:nvSpPr>
        <p:spPr>
          <a:xfrm>
            <a:off x="6829780" y="1941720"/>
            <a:ext cx="750021" cy="233340"/>
          </a:xfrm>
          <a:prstGeom prst="rect">
            <a:avLst/>
          </a:prstGeom>
          <a:noFill/>
          <a:ln/>
        </p:spPr>
        <p:txBody>
          <a:bodyPr wrap="square" lIns="66668" tIns="33334" rIns="66668" bIns="33334" rtlCol="0" anchor="ctr"/>
          <a:lstStyle/>
          <a:p>
            <a:pPr>
              <a:lnSpc>
                <a:spcPct val="120000"/>
              </a:lnSpc>
            </a:pPr>
            <a:r>
              <a:rPr lang="en-US" sz="91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SDG 6 &amp; 13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85861" y="1958387"/>
            <a:ext cx="1791716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Water &amp; Climate Action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9766" y="2241728"/>
            <a:ext cx="5400148" cy="416678"/>
          </a:xfrm>
          <a:custGeom>
            <a:avLst/>
            <a:gdLst/>
            <a:ahLst/>
            <a:cxnLst/>
            <a:rect l="l" t="t" r="r" b="b"/>
            <a:pathLst>
              <a:path w="5400148" h="416678">
                <a:moveTo>
                  <a:pt x="33334" y="0"/>
                </a:moveTo>
                <a:lnTo>
                  <a:pt x="5366813" y="0"/>
                </a:lnTo>
                <a:cubicBezTo>
                  <a:pt x="5385223" y="0"/>
                  <a:pt x="5400148" y="14924"/>
                  <a:pt x="5400148" y="33334"/>
                </a:cubicBezTo>
                <a:lnTo>
                  <a:pt x="5400148" y="383344"/>
                </a:lnTo>
                <a:cubicBezTo>
                  <a:pt x="5400148" y="401754"/>
                  <a:pt x="5385223" y="416678"/>
                  <a:pt x="5366813" y="416678"/>
                </a:cubicBezTo>
                <a:lnTo>
                  <a:pt x="33334" y="416678"/>
                </a:lnTo>
                <a:cubicBezTo>
                  <a:pt x="14924" y="416678"/>
                  <a:pt x="0" y="401754"/>
                  <a:pt x="0" y="383344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29769" y="2341731"/>
            <a:ext cx="5266811" cy="216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Interventions:</a:t>
            </a:r>
            <a:r>
              <a:rPr lang="en-US" sz="105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Solar cold chain; 57% water savings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9766" y="2725075"/>
            <a:ext cx="2650072" cy="600016"/>
          </a:xfrm>
          <a:custGeom>
            <a:avLst/>
            <a:gdLst/>
            <a:ahLst/>
            <a:cxnLst/>
            <a:rect l="l" t="t" r="r" b="b"/>
            <a:pathLst>
              <a:path w="2650072" h="600016">
                <a:moveTo>
                  <a:pt x="33337" y="0"/>
                </a:moveTo>
                <a:lnTo>
                  <a:pt x="2616736" y="0"/>
                </a:lnTo>
                <a:cubicBezTo>
                  <a:pt x="2635147" y="0"/>
                  <a:pt x="2650072" y="14925"/>
                  <a:pt x="2650072" y="33337"/>
                </a:cubicBezTo>
                <a:lnTo>
                  <a:pt x="2650072" y="566679"/>
                </a:lnTo>
                <a:cubicBezTo>
                  <a:pt x="2650072" y="585091"/>
                  <a:pt x="2635147" y="600016"/>
                  <a:pt x="2616736" y="600016"/>
                </a:cubicBezTo>
                <a:lnTo>
                  <a:pt x="33337" y="600016"/>
                </a:lnTo>
                <a:cubicBezTo>
                  <a:pt x="14925" y="600016"/>
                  <a:pt x="0" y="585091"/>
                  <a:pt x="0" y="566679"/>
                </a:cubicBezTo>
                <a:lnTo>
                  <a:pt x="0" y="33337"/>
                </a:lnTo>
                <a:cubicBezTo>
                  <a:pt x="0" y="14925"/>
                  <a:pt x="14925" y="0"/>
                  <a:pt x="33337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49" name="Text 47"/>
          <p:cNvSpPr/>
          <p:nvPr/>
        </p:nvSpPr>
        <p:spPr>
          <a:xfrm>
            <a:off x="6346433" y="2791743"/>
            <a:ext cx="2616738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5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3,500kg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63100" y="3058417"/>
            <a:ext cx="258340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CO₂/Unit/Year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77995" y="2725075"/>
            <a:ext cx="2650072" cy="600016"/>
          </a:xfrm>
          <a:custGeom>
            <a:avLst/>
            <a:gdLst/>
            <a:ahLst/>
            <a:cxnLst/>
            <a:rect l="l" t="t" r="r" b="b"/>
            <a:pathLst>
              <a:path w="2650072" h="600016">
                <a:moveTo>
                  <a:pt x="33337" y="0"/>
                </a:moveTo>
                <a:lnTo>
                  <a:pt x="2616736" y="0"/>
                </a:lnTo>
                <a:cubicBezTo>
                  <a:pt x="2635147" y="0"/>
                  <a:pt x="2650072" y="14925"/>
                  <a:pt x="2650072" y="33337"/>
                </a:cubicBezTo>
                <a:lnTo>
                  <a:pt x="2650072" y="566679"/>
                </a:lnTo>
                <a:cubicBezTo>
                  <a:pt x="2650072" y="585091"/>
                  <a:pt x="2635147" y="600016"/>
                  <a:pt x="2616736" y="600016"/>
                </a:cubicBezTo>
                <a:lnTo>
                  <a:pt x="33337" y="600016"/>
                </a:lnTo>
                <a:cubicBezTo>
                  <a:pt x="14925" y="600016"/>
                  <a:pt x="0" y="585091"/>
                  <a:pt x="0" y="566679"/>
                </a:cubicBezTo>
                <a:lnTo>
                  <a:pt x="0" y="33337"/>
                </a:lnTo>
                <a:cubicBezTo>
                  <a:pt x="0" y="14925"/>
                  <a:pt x="14925" y="0"/>
                  <a:pt x="33337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52" name="Text 50"/>
          <p:cNvSpPr/>
          <p:nvPr/>
        </p:nvSpPr>
        <p:spPr>
          <a:xfrm>
            <a:off x="9094662" y="2791743"/>
            <a:ext cx="2616738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5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57%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11329" y="3058417"/>
            <a:ext cx="258340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Savings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9762" y="3558431"/>
            <a:ext cx="5683489" cy="3083418"/>
          </a:xfrm>
          <a:custGeom>
            <a:avLst/>
            <a:gdLst/>
            <a:ahLst/>
            <a:cxnLst/>
            <a:rect l="l" t="t" r="r" b="b"/>
            <a:pathLst>
              <a:path w="5683489" h="3083418">
                <a:moveTo>
                  <a:pt x="33332" y="0"/>
                </a:moveTo>
                <a:lnTo>
                  <a:pt x="5650157" y="0"/>
                </a:lnTo>
                <a:cubicBezTo>
                  <a:pt x="5668566" y="0"/>
                  <a:pt x="5683489" y="14923"/>
                  <a:pt x="5683489" y="33332"/>
                </a:cubicBezTo>
                <a:lnTo>
                  <a:pt x="5683489" y="3050086"/>
                </a:lnTo>
                <a:cubicBezTo>
                  <a:pt x="5683489" y="3068495"/>
                  <a:pt x="5668566" y="3083418"/>
                  <a:pt x="5650157" y="3083418"/>
                </a:cubicBezTo>
                <a:lnTo>
                  <a:pt x="33332" y="3083418"/>
                </a:lnTo>
                <a:cubicBezTo>
                  <a:pt x="14923" y="3083418"/>
                  <a:pt x="0" y="3068495"/>
                  <a:pt x="0" y="3050086"/>
                </a:cubicBezTo>
                <a:lnTo>
                  <a:pt x="0" y="33332"/>
                </a:lnTo>
                <a:cubicBezTo>
                  <a:pt x="0" y="14923"/>
                  <a:pt x="14923" y="0"/>
                  <a:pt x="3333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001" dist="83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79762" y="3558431"/>
            <a:ext cx="33334" cy="3083418"/>
          </a:xfrm>
          <a:custGeom>
            <a:avLst/>
            <a:gdLst/>
            <a:ahLst/>
            <a:cxnLst/>
            <a:rect l="l" t="t" r="r" b="b"/>
            <a:pathLst>
              <a:path w="33334" h="3083418">
                <a:moveTo>
                  <a:pt x="33334" y="0"/>
                </a:moveTo>
                <a:lnTo>
                  <a:pt x="33334" y="0"/>
                </a:lnTo>
                <a:lnTo>
                  <a:pt x="33334" y="3083418"/>
                </a:lnTo>
                <a:lnTo>
                  <a:pt x="33334" y="3083418"/>
                </a:lnTo>
                <a:cubicBezTo>
                  <a:pt x="14924" y="3083418"/>
                  <a:pt x="0" y="3068493"/>
                  <a:pt x="0" y="3050083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56" name="Shape 54"/>
          <p:cNvSpPr/>
          <p:nvPr/>
        </p:nvSpPr>
        <p:spPr>
          <a:xfrm>
            <a:off x="6329766" y="3741769"/>
            <a:ext cx="400011" cy="400011"/>
          </a:xfrm>
          <a:custGeom>
            <a:avLst/>
            <a:gdLst/>
            <a:ahLst/>
            <a:cxnLst/>
            <a:rect l="l" t="t" r="r" b="b"/>
            <a:pathLst>
              <a:path w="400011" h="400011">
                <a:moveTo>
                  <a:pt x="33333" y="0"/>
                </a:moveTo>
                <a:lnTo>
                  <a:pt x="366678" y="0"/>
                </a:lnTo>
                <a:cubicBezTo>
                  <a:pt x="385087" y="0"/>
                  <a:pt x="400011" y="14924"/>
                  <a:pt x="400011" y="33333"/>
                </a:cubicBezTo>
                <a:lnTo>
                  <a:pt x="400011" y="366678"/>
                </a:lnTo>
                <a:cubicBezTo>
                  <a:pt x="400011" y="385087"/>
                  <a:pt x="385087" y="400011"/>
                  <a:pt x="366678" y="400011"/>
                </a:cubicBezTo>
                <a:lnTo>
                  <a:pt x="33333" y="400011"/>
                </a:lnTo>
                <a:cubicBezTo>
                  <a:pt x="14924" y="400011"/>
                  <a:pt x="0" y="385087"/>
                  <a:pt x="0" y="366678"/>
                </a:cubicBezTo>
                <a:lnTo>
                  <a:pt x="0" y="33333"/>
                </a:lnTo>
                <a:cubicBezTo>
                  <a:pt x="0" y="14936"/>
                  <a:pt x="14936" y="0"/>
                  <a:pt x="33333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57" name="Shape 55"/>
          <p:cNvSpPr/>
          <p:nvPr/>
        </p:nvSpPr>
        <p:spPr>
          <a:xfrm>
            <a:off x="6446436" y="3858439"/>
            <a:ext cx="166671" cy="166671"/>
          </a:xfrm>
          <a:custGeom>
            <a:avLst/>
            <a:gdLst/>
            <a:ahLst/>
            <a:cxnLst/>
            <a:rect l="l" t="t" r="r" b="b"/>
            <a:pathLst>
              <a:path w="166671" h="166671">
                <a:moveTo>
                  <a:pt x="90432" y="2800"/>
                </a:moveTo>
                <a:cubicBezTo>
                  <a:pt x="86428" y="-911"/>
                  <a:pt x="80243" y="-911"/>
                  <a:pt x="76272" y="2800"/>
                </a:cubicBezTo>
                <a:lnTo>
                  <a:pt x="3353" y="70510"/>
                </a:lnTo>
                <a:cubicBezTo>
                  <a:pt x="228" y="73440"/>
                  <a:pt x="-814" y="77964"/>
                  <a:pt x="749" y="81936"/>
                </a:cubicBezTo>
                <a:cubicBezTo>
                  <a:pt x="2311" y="85907"/>
                  <a:pt x="6120" y="88544"/>
                  <a:pt x="10417" y="88544"/>
                </a:cubicBezTo>
                <a:lnTo>
                  <a:pt x="15625" y="88544"/>
                </a:lnTo>
                <a:lnTo>
                  <a:pt x="15625" y="145837"/>
                </a:lnTo>
                <a:cubicBezTo>
                  <a:pt x="15625" y="157329"/>
                  <a:pt x="24968" y="166671"/>
                  <a:pt x="36459" y="166671"/>
                </a:cubicBezTo>
                <a:lnTo>
                  <a:pt x="130212" y="166671"/>
                </a:lnTo>
                <a:cubicBezTo>
                  <a:pt x="141703" y="166671"/>
                  <a:pt x="151046" y="157329"/>
                  <a:pt x="151046" y="145837"/>
                </a:cubicBezTo>
                <a:lnTo>
                  <a:pt x="151046" y="88544"/>
                </a:lnTo>
                <a:lnTo>
                  <a:pt x="156254" y="88544"/>
                </a:lnTo>
                <a:cubicBezTo>
                  <a:pt x="160551" y="88544"/>
                  <a:pt x="164393" y="85907"/>
                  <a:pt x="165955" y="81936"/>
                </a:cubicBezTo>
                <a:cubicBezTo>
                  <a:pt x="167518" y="77964"/>
                  <a:pt x="166476" y="73407"/>
                  <a:pt x="163351" y="70510"/>
                </a:cubicBezTo>
                <a:lnTo>
                  <a:pt x="90432" y="2800"/>
                </a:lnTo>
                <a:close/>
                <a:moveTo>
                  <a:pt x="78127" y="104170"/>
                </a:moveTo>
                <a:lnTo>
                  <a:pt x="88544" y="104170"/>
                </a:lnTo>
                <a:cubicBezTo>
                  <a:pt x="97171" y="104170"/>
                  <a:pt x="104170" y="111168"/>
                  <a:pt x="104170" y="119795"/>
                </a:cubicBezTo>
                <a:lnTo>
                  <a:pt x="104170" y="151046"/>
                </a:lnTo>
                <a:lnTo>
                  <a:pt x="62502" y="151046"/>
                </a:lnTo>
                <a:lnTo>
                  <a:pt x="62502" y="119795"/>
                </a:lnTo>
                <a:cubicBezTo>
                  <a:pt x="62502" y="111168"/>
                  <a:pt x="69501" y="104170"/>
                  <a:pt x="78127" y="1041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829780" y="3691768"/>
            <a:ext cx="2491735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Better Life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829780" y="3958442"/>
            <a:ext cx="625017" cy="233340"/>
          </a:xfrm>
          <a:custGeom>
            <a:avLst/>
            <a:gdLst/>
            <a:ahLst/>
            <a:cxnLst/>
            <a:rect l="l" t="t" r="r" b="b"/>
            <a:pathLst>
              <a:path w="625017" h="233340">
                <a:moveTo>
                  <a:pt x="33335" y="0"/>
                </a:moveTo>
                <a:lnTo>
                  <a:pt x="591682" y="0"/>
                </a:lnTo>
                <a:cubicBezTo>
                  <a:pt x="610093" y="0"/>
                  <a:pt x="625017" y="14925"/>
                  <a:pt x="625017" y="33335"/>
                </a:cubicBezTo>
                <a:lnTo>
                  <a:pt x="625017" y="200005"/>
                </a:lnTo>
                <a:cubicBezTo>
                  <a:pt x="625017" y="218415"/>
                  <a:pt x="610093" y="233340"/>
                  <a:pt x="591682" y="233340"/>
                </a:cubicBezTo>
                <a:lnTo>
                  <a:pt x="33335" y="233340"/>
                </a:lnTo>
                <a:cubicBezTo>
                  <a:pt x="14937" y="233340"/>
                  <a:pt x="0" y="218403"/>
                  <a:pt x="0" y="200005"/>
                </a:cubicBezTo>
                <a:lnTo>
                  <a:pt x="0" y="33335"/>
                </a:lnTo>
                <a:cubicBezTo>
                  <a:pt x="0" y="14937"/>
                  <a:pt x="14937" y="0"/>
                  <a:pt x="33335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60" name="Text 58"/>
          <p:cNvSpPr/>
          <p:nvPr/>
        </p:nvSpPr>
        <p:spPr>
          <a:xfrm>
            <a:off x="6829780" y="3958442"/>
            <a:ext cx="683352" cy="233340"/>
          </a:xfrm>
          <a:prstGeom prst="rect">
            <a:avLst/>
          </a:prstGeom>
          <a:noFill/>
          <a:ln/>
        </p:spPr>
        <p:txBody>
          <a:bodyPr wrap="square" lIns="66668" tIns="33334" rIns="66668" bIns="33334" rtlCol="0" anchor="ctr"/>
          <a:lstStyle/>
          <a:p>
            <a:pPr>
              <a:lnSpc>
                <a:spcPct val="120000"/>
              </a:lnSpc>
            </a:pPr>
            <a:r>
              <a:rPr lang="en-US" sz="91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SDG 1 &amp; 5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521939" y="3975109"/>
            <a:ext cx="1783382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Poverty &amp; Gender Equality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29766" y="4258450"/>
            <a:ext cx="5400148" cy="416678"/>
          </a:xfrm>
          <a:custGeom>
            <a:avLst/>
            <a:gdLst/>
            <a:ahLst/>
            <a:cxnLst/>
            <a:rect l="l" t="t" r="r" b="b"/>
            <a:pathLst>
              <a:path w="5400148" h="416678">
                <a:moveTo>
                  <a:pt x="33334" y="0"/>
                </a:moveTo>
                <a:lnTo>
                  <a:pt x="5366813" y="0"/>
                </a:lnTo>
                <a:cubicBezTo>
                  <a:pt x="5385223" y="0"/>
                  <a:pt x="5400148" y="14924"/>
                  <a:pt x="5400148" y="33334"/>
                </a:cubicBezTo>
                <a:lnTo>
                  <a:pt x="5400148" y="383344"/>
                </a:lnTo>
                <a:cubicBezTo>
                  <a:pt x="5400148" y="401754"/>
                  <a:pt x="5385223" y="416678"/>
                  <a:pt x="5366813" y="416678"/>
                </a:cubicBezTo>
                <a:lnTo>
                  <a:pt x="33334" y="416678"/>
                </a:lnTo>
                <a:cubicBezTo>
                  <a:pt x="14924" y="416678"/>
                  <a:pt x="0" y="401754"/>
                  <a:pt x="0" y="383344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2F3E3B">
              <a:alpha val="1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429769" y="4358452"/>
            <a:ext cx="5266811" cy="216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Interventions:</a:t>
            </a:r>
            <a:r>
              <a:rPr lang="en-US" sz="105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NEET youth network; NID-linked credit; Gender-responsive design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29766" y="4741796"/>
            <a:ext cx="5400148" cy="1166699"/>
          </a:xfrm>
          <a:custGeom>
            <a:avLst/>
            <a:gdLst/>
            <a:ahLst/>
            <a:cxnLst/>
            <a:rect l="l" t="t" r="r" b="b"/>
            <a:pathLst>
              <a:path w="5400148" h="1166699">
                <a:moveTo>
                  <a:pt x="33333" y="0"/>
                </a:moveTo>
                <a:lnTo>
                  <a:pt x="5366815" y="0"/>
                </a:lnTo>
                <a:cubicBezTo>
                  <a:pt x="5385224" y="0"/>
                  <a:pt x="5400148" y="14924"/>
                  <a:pt x="5400148" y="33333"/>
                </a:cubicBezTo>
                <a:lnTo>
                  <a:pt x="5400148" y="1133366"/>
                </a:lnTo>
                <a:cubicBezTo>
                  <a:pt x="5400148" y="1151775"/>
                  <a:pt x="5385224" y="1166699"/>
                  <a:pt x="5366815" y="1166699"/>
                </a:cubicBezTo>
                <a:lnTo>
                  <a:pt x="33333" y="1166699"/>
                </a:lnTo>
                <a:cubicBezTo>
                  <a:pt x="14924" y="1166699"/>
                  <a:pt x="0" y="1151775"/>
                  <a:pt x="0" y="1133366"/>
                </a:cubicBezTo>
                <a:lnTo>
                  <a:pt x="0" y="33333"/>
                </a:lnTo>
                <a:cubicBezTo>
                  <a:pt x="0" y="14924"/>
                  <a:pt x="14924" y="0"/>
                  <a:pt x="33333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65" name="Text 63"/>
          <p:cNvSpPr/>
          <p:nvPr/>
        </p:nvSpPr>
        <p:spPr>
          <a:xfrm>
            <a:off x="6429769" y="4875133"/>
            <a:ext cx="1450040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Income Boost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708153" y="4841799"/>
            <a:ext cx="1041695" cy="300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$72/acre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429769" y="5208476"/>
            <a:ext cx="2566737" cy="266674"/>
          </a:xfrm>
          <a:custGeom>
            <a:avLst/>
            <a:gdLst/>
            <a:ahLst/>
            <a:cxnLst/>
            <a:rect l="l" t="t" r="r" b="b"/>
            <a:pathLst>
              <a:path w="2566737" h="266674">
                <a:moveTo>
                  <a:pt x="33334" y="0"/>
                </a:moveTo>
                <a:lnTo>
                  <a:pt x="2533403" y="0"/>
                </a:lnTo>
                <a:cubicBezTo>
                  <a:pt x="2551813" y="0"/>
                  <a:pt x="2566737" y="14924"/>
                  <a:pt x="2566737" y="33334"/>
                </a:cubicBezTo>
                <a:lnTo>
                  <a:pt x="2566737" y="233340"/>
                </a:lnTo>
                <a:cubicBezTo>
                  <a:pt x="2566737" y="251750"/>
                  <a:pt x="2551813" y="266674"/>
                  <a:pt x="2533403" y="266674"/>
                </a:cubicBezTo>
                <a:lnTo>
                  <a:pt x="33334" y="266674"/>
                </a:lnTo>
                <a:cubicBezTo>
                  <a:pt x="14924" y="266674"/>
                  <a:pt x="0" y="251750"/>
                  <a:pt x="0" y="233340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429769" y="5208476"/>
            <a:ext cx="2633405" cy="266674"/>
          </a:xfrm>
          <a:prstGeom prst="rect">
            <a:avLst/>
          </a:prstGeom>
          <a:noFill/>
          <a:ln/>
        </p:spPr>
        <p:txBody>
          <a:bodyPr wrap="square" lIns="66668" tIns="33334" rIns="66668" bIns="33334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$20 subsidy protection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061328" y="5208476"/>
            <a:ext cx="2566737" cy="266674"/>
          </a:xfrm>
          <a:custGeom>
            <a:avLst/>
            <a:gdLst/>
            <a:ahLst/>
            <a:cxnLst/>
            <a:rect l="l" t="t" r="r" b="b"/>
            <a:pathLst>
              <a:path w="2566737" h="266674">
                <a:moveTo>
                  <a:pt x="33334" y="0"/>
                </a:moveTo>
                <a:lnTo>
                  <a:pt x="2533403" y="0"/>
                </a:lnTo>
                <a:cubicBezTo>
                  <a:pt x="2551813" y="0"/>
                  <a:pt x="2566737" y="14924"/>
                  <a:pt x="2566737" y="33334"/>
                </a:cubicBezTo>
                <a:lnTo>
                  <a:pt x="2566737" y="233340"/>
                </a:lnTo>
                <a:cubicBezTo>
                  <a:pt x="2566737" y="251750"/>
                  <a:pt x="2551813" y="266674"/>
                  <a:pt x="2533403" y="266674"/>
                </a:cubicBezTo>
                <a:lnTo>
                  <a:pt x="33334" y="266674"/>
                </a:lnTo>
                <a:cubicBezTo>
                  <a:pt x="14924" y="266674"/>
                  <a:pt x="0" y="251750"/>
                  <a:pt x="0" y="233340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9061328" y="5208476"/>
            <a:ext cx="2633405" cy="266674"/>
          </a:xfrm>
          <a:prstGeom prst="rect">
            <a:avLst/>
          </a:prstGeom>
          <a:noFill/>
          <a:ln/>
        </p:spPr>
        <p:txBody>
          <a:bodyPr wrap="square" lIns="66668" tIns="33334" rIns="66668" bIns="33334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$30 market access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429769" y="5541818"/>
            <a:ext cx="2566737" cy="266674"/>
          </a:xfrm>
          <a:custGeom>
            <a:avLst/>
            <a:gdLst/>
            <a:ahLst/>
            <a:cxnLst/>
            <a:rect l="l" t="t" r="r" b="b"/>
            <a:pathLst>
              <a:path w="2566737" h="266674">
                <a:moveTo>
                  <a:pt x="33334" y="0"/>
                </a:moveTo>
                <a:lnTo>
                  <a:pt x="2533403" y="0"/>
                </a:lnTo>
                <a:cubicBezTo>
                  <a:pt x="2551813" y="0"/>
                  <a:pt x="2566737" y="14924"/>
                  <a:pt x="2566737" y="33334"/>
                </a:cubicBezTo>
                <a:lnTo>
                  <a:pt x="2566737" y="233340"/>
                </a:lnTo>
                <a:cubicBezTo>
                  <a:pt x="2566737" y="251750"/>
                  <a:pt x="2551813" y="266674"/>
                  <a:pt x="2533403" y="266674"/>
                </a:cubicBezTo>
                <a:lnTo>
                  <a:pt x="33334" y="266674"/>
                </a:lnTo>
                <a:cubicBezTo>
                  <a:pt x="14924" y="266674"/>
                  <a:pt x="0" y="251750"/>
                  <a:pt x="0" y="233340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29769" y="5541818"/>
            <a:ext cx="2633405" cy="266674"/>
          </a:xfrm>
          <a:prstGeom prst="rect">
            <a:avLst/>
          </a:prstGeom>
          <a:noFill/>
          <a:ln/>
        </p:spPr>
        <p:txBody>
          <a:bodyPr wrap="square" lIns="66668" tIns="33334" rIns="66668" bIns="33334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$16 financial inclusion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061328" y="5541818"/>
            <a:ext cx="2566737" cy="266674"/>
          </a:xfrm>
          <a:custGeom>
            <a:avLst/>
            <a:gdLst/>
            <a:ahLst/>
            <a:cxnLst/>
            <a:rect l="l" t="t" r="r" b="b"/>
            <a:pathLst>
              <a:path w="2566737" h="266674">
                <a:moveTo>
                  <a:pt x="33334" y="0"/>
                </a:moveTo>
                <a:lnTo>
                  <a:pt x="2533403" y="0"/>
                </a:lnTo>
                <a:cubicBezTo>
                  <a:pt x="2551813" y="0"/>
                  <a:pt x="2566737" y="14924"/>
                  <a:pt x="2566737" y="33334"/>
                </a:cubicBezTo>
                <a:lnTo>
                  <a:pt x="2566737" y="233340"/>
                </a:lnTo>
                <a:cubicBezTo>
                  <a:pt x="2566737" y="251750"/>
                  <a:pt x="2551813" y="266674"/>
                  <a:pt x="2533403" y="266674"/>
                </a:cubicBezTo>
                <a:lnTo>
                  <a:pt x="33334" y="266674"/>
                </a:lnTo>
                <a:cubicBezTo>
                  <a:pt x="14924" y="266674"/>
                  <a:pt x="0" y="251750"/>
                  <a:pt x="0" y="233340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9061328" y="5541818"/>
            <a:ext cx="2633405" cy="266674"/>
          </a:xfrm>
          <a:prstGeom prst="rect">
            <a:avLst/>
          </a:prstGeom>
          <a:noFill/>
          <a:ln/>
        </p:spPr>
        <p:txBody>
          <a:bodyPr wrap="square" lIns="66668" tIns="33334" rIns="66668" bIns="33334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$6 carbon credits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29766" y="5975163"/>
            <a:ext cx="5400148" cy="533348"/>
          </a:xfrm>
          <a:custGeom>
            <a:avLst/>
            <a:gdLst/>
            <a:ahLst/>
            <a:cxnLst/>
            <a:rect l="l" t="t" r="r" b="b"/>
            <a:pathLst>
              <a:path w="5400148" h="533348">
                <a:moveTo>
                  <a:pt x="33334" y="0"/>
                </a:moveTo>
                <a:lnTo>
                  <a:pt x="5366813" y="0"/>
                </a:lnTo>
                <a:cubicBezTo>
                  <a:pt x="5385223" y="0"/>
                  <a:pt x="5400148" y="14924"/>
                  <a:pt x="5400148" y="33334"/>
                </a:cubicBezTo>
                <a:lnTo>
                  <a:pt x="5400148" y="500014"/>
                </a:lnTo>
                <a:cubicBezTo>
                  <a:pt x="5400148" y="518424"/>
                  <a:pt x="5385223" y="533348"/>
                  <a:pt x="5366813" y="533348"/>
                </a:cubicBezTo>
                <a:lnTo>
                  <a:pt x="33334" y="533348"/>
                </a:lnTo>
                <a:cubicBezTo>
                  <a:pt x="14924" y="533348"/>
                  <a:pt x="0" y="518424"/>
                  <a:pt x="0" y="500014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8FB7AC">
              <a:alpha val="2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6429769" y="6066076"/>
            <a:ext cx="100003" cy="133337"/>
          </a:xfrm>
          <a:custGeom>
            <a:avLst/>
            <a:gdLst/>
            <a:ahLst/>
            <a:cxnLst/>
            <a:rect l="l" t="t" r="r" b="b"/>
            <a:pathLst>
              <a:path w="100003" h="133337">
                <a:moveTo>
                  <a:pt x="20834" y="45835"/>
                </a:moveTo>
                <a:cubicBezTo>
                  <a:pt x="20834" y="29737"/>
                  <a:pt x="33903" y="16667"/>
                  <a:pt x="50001" y="16667"/>
                </a:cubicBezTo>
                <a:cubicBezTo>
                  <a:pt x="66099" y="16667"/>
                  <a:pt x="79169" y="29737"/>
                  <a:pt x="79169" y="45835"/>
                </a:cubicBezTo>
                <a:cubicBezTo>
                  <a:pt x="79169" y="61933"/>
                  <a:pt x="66099" y="75002"/>
                  <a:pt x="50001" y="75002"/>
                </a:cubicBezTo>
                <a:cubicBezTo>
                  <a:pt x="33903" y="75002"/>
                  <a:pt x="20834" y="61933"/>
                  <a:pt x="20834" y="45835"/>
                </a:cubicBezTo>
                <a:close/>
                <a:moveTo>
                  <a:pt x="58309" y="90914"/>
                </a:moveTo>
                <a:cubicBezTo>
                  <a:pt x="79664" y="87008"/>
                  <a:pt x="95836" y="68309"/>
                  <a:pt x="95836" y="45835"/>
                </a:cubicBezTo>
                <a:cubicBezTo>
                  <a:pt x="95836" y="20521"/>
                  <a:pt x="75315" y="0"/>
                  <a:pt x="50001" y="0"/>
                </a:cubicBezTo>
                <a:cubicBezTo>
                  <a:pt x="24688" y="0"/>
                  <a:pt x="4167" y="20521"/>
                  <a:pt x="4167" y="45835"/>
                </a:cubicBezTo>
                <a:cubicBezTo>
                  <a:pt x="4167" y="68309"/>
                  <a:pt x="20339" y="87008"/>
                  <a:pt x="41694" y="90914"/>
                </a:cubicBezTo>
                <a:cubicBezTo>
                  <a:pt x="41668" y="91174"/>
                  <a:pt x="41668" y="91409"/>
                  <a:pt x="41668" y="91669"/>
                </a:cubicBezTo>
                <a:lnTo>
                  <a:pt x="41668" y="108336"/>
                </a:lnTo>
                <a:lnTo>
                  <a:pt x="33334" y="108336"/>
                </a:lnTo>
                <a:cubicBezTo>
                  <a:pt x="28725" y="108336"/>
                  <a:pt x="25001" y="112060"/>
                  <a:pt x="25001" y="116670"/>
                </a:cubicBezTo>
                <a:cubicBezTo>
                  <a:pt x="25001" y="121279"/>
                  <a:pt x="28725" y="125003"/>
                  <a:pt x="33334" y="125003"/>
                </a:cubicBezTo>
                <a:lnTo>
                  <a:pt x="41668" y="125003"/>
                </a:lnTo>
                <a:lnTo>
                  <a:pt x="41668" y="133337"/>
                </a:lnTo>
                <a:cubicBezTo>
                  <a:pt x="41668" y="137946"/>
                  <a:pt x="45392" y="141671"/>
                  <a:pt x="50001" y="141671"/>
                </a:cubicBezTo>
                <a:cubicBezTo>
                  <a:pt x="54611" y="141671"/>
                  <a:pt x="58335" y="137946"/>
                  <a:pt x="58335" y="133337"/>
                </a:cubicBezTo>
                <a:lnTo>
                  <a:pt x="58335" y="125003"/>
                </a:lnTo>
                <a:lnTo>
                  <a:pt x="66668" y="125003"/>
                </a:lnTo>
                <a:cubicBezTo>
                  <a:pt x="71278" y="125003"/>
                  <a:pt x="75002" y="121279"/>
                  <a:pt x="75002" y="116670"/>
                </a:cubicBezTo>
                <a:cubicBezTo>
                  <a:pt x="75002" y="112060"/>
                  <a:pt x="71278" y="108336"/>
                  <a:pt x="66668" y="108336"/>
                </a:cubicBezTo>
                <a:lnTo>
                  <a:pt x="58335" y="108336"/>
                </a:lnTo>
                <a:lnTo>
                  <a:pt x="58335" y="91669"/>
                </a:lnTo>
                <a:cubicBezTo>
                  <a:pt x="58335" y="91409"/>
                  <a:pt x="58335" y="91174"/>
                  <a:pt x="58309" y="90914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7" name="Text 75"/>
          <p:cNvSpPr/>
          <p:nvPr/>
        </p:nvSpPr>
        <p:spPr>
          <a:xfrm>
            <a:off x="6606853" y="6041832"/>
            <a:ext cx="5123061" cy="400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Gender-responsive:</a:t>
            </a:r>
            <a:r>
              <a:rPr lang="en-US" sz="1050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18+ female head of household required for Digital Family Card registration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472" y="342472"/>
            <a:ext cx="51371" cy="342472"/>
          </a:xfrm>
          <a:custGeom>
            <a:avLst/>
            <a:gdLst/>
            <a:ahLst/>
            <a:cxnLst/>
            <a:rect l="l" t="t" r="r" b="b"/>
            <a:pathLst>
              <a:path w="51371" h="342472">
                <a:moveTo>
                  <a:pt x="0" y="0"/>
                </a:moveTo>
                <a:lnTo>
                  <a:pt x="51371" y="0"/>
                </a:lnTo>
                <a:lnTo>
                  <a:pt x="51371" y="342472"/>
                </a:lnTo>
                <a:lnTo>
                  <a:pt x="0" y="342472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" name="Text 1"/>
          <p:cNvSpPr/>
          <p:nvPr/>
        </p:nvSpPr>
        <p:spPr>
          <a:xfrm>
            <a:off x="496584" y="410966"/>
            <a:ext cx="1481191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kern="0" spc="54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VIABILITY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2472" y="753438"/>
            <a:ext cx="11661169" cy="385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2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Investment Readiness &amp; Economic Returns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2472" y="1172966"/>
            <a:ext cx="11584112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3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unit-cost model designed for regional institutionalization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2472" y="1498315"/>
            <a:ext cx="5685034" cy="2208944"/>
          </a:xfrm>
          <a:custGeom>
            <a:avLst/>
            <a:gdLst/>
            <a:ahLst/>
            <a:cxnLst/>
            <a:rect l="l" t="t" r="r" b="b"/>
            <a:pathLst>
              <a:path w="5685034" h="2208944">
                <a:moveTo>
                  <a:pt x="34239" y="0"/>
                </a:moveTo>
                <a:lnTo>
                  <a:pt x="5650795" y="0"/>
                </a:lnTo>
                <a:cubicBezTo>
                  <a:pt x="5669705" y="0"/>
                  <a:pt x="5685034" y="15329"/>
                  <a:pt x="5685034" y="34239"/>
                </a:cubicBezTo>
                <a:lnTo>
                  <a:pt x="5685034" y="2174705"/>
                </a:lnTo>
                <a:cubicBezTo>
                  <a:pt x="5685034" y="2193615"/>
                  <a:pt x="5669705" y="2208944"/>
                  <a:pt x="5650795" y="2208944"/>
                </a:cubicBezTo>
                <a:lnTo>
                  <a:pt x="34239" y="2208944"/>
                </a:lnTo>
                <a:cubicBezTo>
                  <a:pt x="15329" y="2208944"/>
                  <a:pt x="0" y="2193615"/>
                  <a:pt x="0" y="2174705"/>
                </a:cubicBezTo>
                <a:lnTo>
                  <a:pt x="0" y="34239"/>
                </a:lnTo>
                <a:cubicBezTo>
                  <a:pt x="0" y="15342"/>
                  <a:pt x="15342" y="0"/>
                  <a:pt x="3423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685" dist="856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2472" y="1498315"/>
            <a:ext cx="5685034" cy="34247"/>
          </a:xfrm>
          <a:custGeom>
            <a:avLst/>
            <a:gdLst/>
            <a:ahLst/>
            <a:cxnLst/>
            <a:rect l="l" t="t" r="r" b="b"/>
            <a:pathLst>
              <a:path w="5685034" h="34247">
                <a:moveTo>
                  <a:pt x="34247" y="0"/>
                </a:moveTo>
                <a:lnTo>
                  <a:pt x="5650787" y="0"/>
                </a:lnTo>
                <a:cubicBezTo>
                  <a:pt x="5669701" y="0"/>
                  <a:pt x="5685034" y="15333"/>
                  <a:pt x="5685034" y="34247"/>
                </a:cubicBezTo>
                <a:lnTo>
                  <a:pt x="5685034" y="34247"/>
                </a:lnTo>
                <a:lnTo>
                  <a:pt x="0" y="34247"/>
                </a:ln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Shape 6"/>
          <p:cNvSpPr/>
          <p:nvPr/>
        </p:nvSpPr>
        <p:spPr>
          <a:xfrm>
            <a:off x="522270" y="1686674"/>
            <a:ext cx="128427" cy="171236"/>
          </a:xfrm>
          <a:custGeom>
            <a:avLst/>
            <a:gdLst/>
            <a:ahLst/>
            <a:cxnLst/>
            <a:rect l="l" t="t" r="r" b="b"/>
            <a:pathLst>
              <a:path w="128427" h="171236">
                <a:moveTo>
                  <a:pt x="21404" y="0"/>
                </a:moveTo>
                <a:cubicBezTo>
                  <a:pt x="9599" y="0"/>
                  <a:pt x="0" y="9599"/>
                  <a:pt x="0" y="21404"/>
                </a:cubicBezTo>
                <a:lnTo>
                  <a:pt x="0" y="149831"/>
                </a:lnTo>
                <a:cubicBezTo>
                  <a:pt x="0" y="161637"/>
                  <a:pt x="9599" y="171236"/>
                  <a:pt x="21404" y="171236"/>
                </a:cubicBezTo>
                <a:lnTo>
                  <a:pt x="107022" y="171236"/>
                </a:lnTo>
                <a:cubicBezTo>
                  <a:pt x="118828" y="171236"/>
                  <a:pt x="128427" y="161637"/>
                  <a:pt x="128427" y="149831"/>
                </a:cubicBezTo>
                <a:lnTo>
                  <a:pt x="128427" y="21404"/>
                </a:lnTo>
                <a:cubicBezTo>
                  <a:pt x="128427" y="9599"/>
                  <a:pt x="118828" y="0"/>
                  <a:pt x="107022" y="0"/>
                </a:cubicBezTo>
                <a:lnTo>
                  <a:pt x="21404" y="0"/>
                </a:lnTo>
                <a:close/>
                <a:moveTo>
                  <a:pt x="32107" y="21404"/>
                </a:moveTo>
                <a:lnTo>
                  <a:pt x="96320" y="21404"/>
                </a:lnTo>
                <a:cubicBezTo>
                  <a:pt x="102240" y="21404"/>
                  <a:pt x="107022" y="26187"/>
                  <a:pt x="107022" y="32107"/>
                </a:cubicBezTo>
                <a:lnTo>
                  <a:pt x="107022" y="42809"/>
                </a:lnTo>
                <a:cubicBezTo>
                  <a:pt x="107022" y="48729"/>
                  <a:pt x="102240" y="53511"/>
                  <a:pt x="96320" y="53511"/>
                </a:cubicBezTo>
                <a:lnTo>
                  <a:pt x="32107" y="53511"/>
                </a:lnTo>
                <a:cubicBezTo>
                  <a:pt x="26187" y="53511"/>
                  <a:pt x="21404" y="48729"/>
                  <a:pt x="21404" y="42809"/>
                </a:cubicBezTo>
                <a:lnTo>
                  <a:pt x="21404" y="32107"/>
                </a:lnTo>
                <a:cubicBezTo>
                  <a:pt x="21404" y="26187"/>
                  <a:pt x="26187" y="21404"/>
                  <a:pt x="32107" y="21404"/>
                </a:cubicBezTo>
                <a:close/>
                <a:moveTo>
                  <a:pt x="37458" y="77591"/>
                </a:moveTo>
                <a:cubicBezTo>
                  <a:pt x="37458" y="82021"/>
                  <a:pt x="33861" y="85618"/>
                  <a:pt x="29431" y="85618"/>
                </a:cubicBezTo>
                <a:cubicBezTo>
                  <a:pt x="25001" y="85618"/>
                  <a:pt x="21404" y="82021"/>
                  <a:pt x="21404" y="77591"/>
                </a:cubicBezTo>
                <a:cubicBezTo>
                  <a:pt x="21404" y="73161"/>
                  <a:pt x="25001" y="69565"/>
                  <a:pt x="29431" y="69565"/>
                </a:cubicBezTo>
                <a:cubicBezTo>
                  <a:pt x="33861" y="69565"/>
                  <a:pt x="37458" y="73161"/>
                  <a:pt x="37458" y="77591"/>
                </a:cubicBezTo>
                <a:close/>
                <a:moveTo>
                  <a:pt x="64213" y="85618"/>
                </a:moveTo>
                <a:cubicBezTo>
                  <a:pt x="59783" y="85618"/>
                  <a:pt x="56187" y="82021"/>
                  <a:pt x="56187" y="77591"/>
                </a:cubicBezTo>
                <a:cubicBezTo>
                  <a:pt x="56187" y="73161"/>
                  <a:pt x="59783" y="69565"/>
                  <a:pt x="64213" y="69565"/>
                </a:cubicBezTo>
                <a:cubicBezTo>
                  <a:pt x="68644" y="69565"/>
                  <a:pt x="72240" y="73161"/>
                  <a:pt x="72240" y="77591"/>
                </a:cubicBezTo>
                <a:cubicBezTo>
                  <a:pt x="72240" y="82021"/>
                  <a:pt x="68644" y="85618"/>
                  <a:pt x="64213" y="85618"/>
                </a:cubicBezTo>
                <a:close/>
                <a:moveTo>
                  <a:pt x="107022" y="77591"/>
                </a:moveTo>
                <a:cubicBezTo>
                  <a:pt x="107022" y="82021"/>
                  <a:pt x="103426" y="85618"/>
                  <a:pt x="98996" y="85618"/>
                </a:cubicBezTo>
                <a:cubicBezTo>
                  <a:pt x="94566" y="85618"/>
                  <a:pt x="90969" y="82021"/>
                  <a:pt x="90969" y="77591"/>
                </a:cubicBezTo>
                <a:cubicBezTo>
                  <a:pt x="90969" y="73161"/>
                  <a:pt x="94566" y="69565"/>
                  <a:pt x="98996" y="69565"/>
                </a:cubicBezTo>
                <a:cubicBezTo>
                  <a:pt x="103426" y="69565"/>
                  <a:pt x="107022" y="73161"/>
                  <a:pt x="107022" y="77591"/>
                </a:cubicBezTo>
                <a:close/>
                <a:moveTo>
                  <a:pt x="29431" y="117725"/>
                </a:moveTo>
                <a:cubicBezTo>
                  <a:pt x="25001" y="117725"/>
                  <a:pt x="21404" y="114128"/>
                  <a:pt x="21404" y="109698"/>
                </a:cubicBezTo>
                <a:cubicBezTo>
                  <a:pt x="21404" y="105268"/>
                  <a:pt x="25001" y="101671"/>
                  <a:pt x="29431" y="101671"/>
                </a:cubicBezTo>
                <a:cubicBezTo>
                  <a:pt x="33861" y="101671"/>
                  <a:pt x="37458" y="105268"/>
                  <a:pt x="37458" y="109698"/>
                </a:cubicBezTo>
                <a:cubicBezTo>
                  <a:pt x="37458" y="114128"/>
                  <a:pt x="33861" y="117725"/>
                  <a:pt x="29431" y="117725"/>
                </a:cubicBezTo>
                <a:close/>
                <a:moveTo>
                  <a:pt x="72240" y="109698"/>
                </a:moveTo>
                <a:cubicBezTo>
                  <a:pt x="72240" y="114128"/>
                  <a:pt x="68644" y="117725"/>
                  <a:pt x="64213" y="117725"/>
                </a:cubicBezTo>
                <a:cubicBezTo>
                  <a:pt x="59783" y="117725"/>
                  <a:pt x="56187" y="114128"/>
                  <a:pt x="56187" y="109698"/>
                </a:cubicBezTo>
                <a:cubicBezTo>
                  <a:pt x="56187" y="105268"/>
                  <a:pt x="59783" y="101671"/>
                  <a:pt x="64213" y="101671"/>
                </a:cubicBezTo>
                <a:cubicBezTo>
                  <a:pt x="68644" y="101671"/>
                  <a:pt x="72240" y="105268"/>
                  <a:pt x="72240" y="109698"/>
                </a:cubicBezTo>
                <a:close/>
                <a:moveTo>
                  <a:pt x="98996" y="117725"/>
                </a:moveTo>
                <a:cubicBezTo>
                  <a:pt x="94566" y="117725"/>
                  <a:pt x="90969" y="114128"/>
                  <a:pt x="90969" y="109698"/>
                </a:cubicBezTo>
                <a:cubicBezTo>
                  <a:pt x="90969" y="105268"/>
                  <a:pt x="94566" y="101671"/>
                  <a:pt x="98996" y="101671"/>
                </a:cubicBezTo>
                <a:cubicBezTo>
                  <a:pt x="103426" y="101671"/>
                  <a:pt x="107022" y="105268"/>
                  <a:pt x="107022" y="109698"/>
                </a:cubicBezTo>
                <a:cubicBezTo>
                  <a:pt x="107022" y="114128"/>
                  <a:pt x="103426" y="117725"/>
                  <a:pt x="98996" y="117725"/>
                </a:cubicBezTo>
                <a:close/>
                <a:moveTo>
                  <a:pt x="21404" y="141805"/>
                </a:moveTo>
                <a:cubicBezTo>
                  <a:pt x="21404" y="137357"/>
                  <a:pt x="24983" y="133778"/>
                  <a:pt x="29431" y="133778"/>
                </a:cubicBezTo>
                <a:lnTo>
                  <a:pt x="66889" y="133778"/>
                </a:lnTo>
                <a:cubicBezTo>
                  <a:pt x="71337" y="133778"/>
                  <a:pt x="74916" y="137357"/>
                  <a:pt x="74916" y="141805"/>
                </a:cubicBezTo>
                <a:cubicBezTo>
                  <a:pt x="74916" y="146253"/>
                  <a:pt x="71337" y="149831"/>
                  <a:pt x="66889" y="149831"/>
                </a:cubicBezTo>
                <a:lnTo>
                  <a:pt x="29431" y="149831"/>
                </a:lnTo>
                <a:cubicBezTo>
                  <a:pt x="24983" y="149831"/>
                  <a:pt x="21404" y="146253"/>
                  <a:pt x="21404" y="141805"/>
                </a:cubicBezTo>
                <a:close/>
                <a:moveTo>
                  <a:pt x="98996" y="133778"/>
                </a:moveTo>
                <a:cubicBezTo>
                  <a:pt x="103444" y="133778"/>
                  <a:pt x="107022" y="137357"/>
                  <a:pt x="107022" y="141805"/>
                </a:cubicBezTo>
                <a:cubicBezTo>
                  <a:pt x="107022" y="146253"/>
                  <a:pt x="103444" y="149831"/>
                  <a:pt x="98996" y="149831"/>
                </a:cubicBezTo>
                <a:cubicBezTo>
                  <a:pt x="94548" y="149831"/>
                  <a:pt x="90969" y="146253"/>
                  <a:pt x="90969" y="141805"/>
                </a:cubicBezTo>
                <a:cubicBezTo>
                  <a:pt x="90969" y="137357"/>
                  <a:pt x="94548" y="133778"/>
                  <a:pt x="98996" y="133778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693506" y="1652427"/>
            <a:ext cx="5282629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Pilot Budget Overview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9461" y="1994899"/>
            <a:ext cx="5411056" cy="753438"/>
          </a:xfrm>
          <a:custGeom>
            <a:avLst/>
            <a:gdLst/>
            <a:ahLst/>
            <a:cxnLst/>
            <a:rect l="l" t="t" r="r" b="b"/>
            <a:pathLst>
              <a:path w="5411056" h="753438">
                <a:moveTo>
                  <a:pt x="34244" y="0"/>
                </a:moveTo>
                <a:lnTo>
                  <a:pt x="5376812" y="0"/>
                </a:lnTo>
                <a:cubicBezTo>
                  <a:pt x="5395725" y="0"/>
                  <a:pt x="5411056" y="15331"/>
                  <a:pt x="5411056" y="34244"/>
                </a:cubicBezTo>
                <a:lnTo>
                  <a:pt x="5411056" y="719194"/>
                </a:lnTo>
                <a:cubicBezTo>
                  <a:pt x="5411056" y="738107"/>
                  <a:pt x="5395725" y="753438"/>
                  <a:pt x="5376812" y="753438"/>
                </a:cubicBezTo>
                <a:lnTo>
                  <a:pt x="34244" y="753438"/>
                </a:lnTo>
                <a:cubicBezTo>
                  <a:pt x="15331" y="753438"/>
                  <a:pt x="0" y="738107"/>
                  <a:pt x="0" y="719194"/>
                </a:cubicBezTo>
                <a:lnTo>
                  <a:pt x="0" y="34244"/>
                </a:lnTo>
                <a:cubicBezTo>
                  <a:pt x="0" y="15344"/>
                  <a:pt x="15344" y="0"/>
                  <a:pt x="34244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6449" y="2183258"/>
            <a:ext cx="1232899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3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Pilot Budget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15282" y="2131888"/>
            <a:ext cx="1095910" cy="342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7" b="1" dirty="0">
                <a:solidFill>
                  <a:srgbClr val="4C8A7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$92,625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6449" y="2542854"/>
            <a:ext cx="5137079" cy="68494"/>
          </a:xfrm>
          <a:custGeom>
            <a:avLst/>
            <a:gdLst/>
            <a:ahLst/>
            <a:cxnLst/>
            <a:rect l="l" t="t" r="r" b="b"/>
            <a:pathLst>
              <a:path w="5137079" h="68494">
                <a:moveTo>
                  <a:pt x="34247" y="0"/>
                </a:moveTo>
                <a:lnTo>
                  <a:pt x="5102831" y="0"/>
                </a:lnTo>
                <a:cubicBezTo>
                  <a:pt x="5121746" y="0"/>
                  <a:pt x="5137079" y="15333"/>
                  <a:pt x="5137079" y="34247"/>
                </a:cubicBezTo>
                <a:lnTo>
                  <a:pt x="5137079" y="34247"/>
                </a:lnTo>
                <a:cubicBezTo>
                  <a:pt x="5137079" y="53161"/>
                  <a:pt x="5121746" y="68494"/>
                  <a:pt x="5102831" y="68494"/>
                </a:cubicBezTo>
                <a:lnTo>
                  <a:pt x="34247" y="68494"/>
                </a:lnTo>
                <a:cubicBezTo>
                  <a:pt x="15333" y="68494"/>
                  <a:pt x="0" y="53161"/>
                  <a:pt x="0" y="34247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E3E7E5"/>
          </a:solidFill>
          <a:ln/>
        </p:spPr>
      </p:sp>
      <p:sp>
        <p:nvSpPr>
          <p:cNvPr id="14" name="Shape 12"/>
          <p:cNvSpPr/>
          <p:nvPr/>
        </p:nvSpPr>
        <p:spPr>
          <a:xfrm>
            <a:off x="616449" y="2542854"/>
            <a:ext cx="5137079" cy="68494"/>
          </a:xfrm>
          <a:custGeom>
            <a:avLst/>
            <a:gdLst/>
            <a:ahLst/>
            <a:cxnLst/>
            <a:rect l="l" t="t" r="r" b="b"/>
            <a:pathLst>
              <a:path w="5137079" h="68494">
                <a:moveTo>
                  <a:pt x="34247" y="0"/>
                </a:moveTo>
                <a:lnTo>
                  <a:pt x="5102831" y="0"/>
                </a:lnTo>
                <a:cubicBezTo>
                  <a:pt x="5121746" y="0"/>
                  <a:pt x="5137079" y="15333"/>
                  <a:pt x="5137079" y="34247"/>
                </a:cubicBezTo>
                <a:lnTo>
                  <a:pt x="5137079" y="34247"/>
                </a:lnTo>
                <a:cubicBezTo>
                  <a:pt x="5137079" y="53161"/>
                  <a:pt x="5121746" y="68494"/>
                  <a:pt x="5102831" y="68494"/>
                </a:cubicBezTo>
                <a:lnTo>
                  <a:pt x="34247" y="68494"/>
                </a:lnTo>
                <a:cubicBezTo>
                  <a:pt x="15333" y="68494"/>
                  <a:pt x="0" y="53161"/>
                  <a:pt x="0" y="34247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5" name="Shape 13"/>
          <p:cNvSpPr/>
          <p:nvPr/>
        </p:nvSpPr>
        <p:spPr>
          <a:xfrm>
            <a:off x="479461" y="2851079"/>
            <a:ext cx="2654157" cy="719191"/>
          </a:xfrm>
          <a:custGeom>
            <a:avLst/>
            <a:gdLst/>
            <a:ahLst/>
            <a:cxnLst/>
            <a:rect l="l" t="t" r="r" b="b"/>
            <a:pathLst>
              <a:path w="2654157" h="719191">
                <a:moveTo>
                  <a:pt x="34248" y="0"/>
                </a:moveTo>
                <a:lnTo>
                  <a:pt x="2619909" y="0"/>
                </a:lnTo>
                <a:cubicBezTo>
                  <a:pt x="2638824" y="0"/>
                  <a:pt x="2654157" y="15333"/>
                  <a:pt x="2654157" y="34248"/>
                </a:cubicBezTo>
                <a:lnTo>
                  <a:pt x="2654157" y="684943"/>
                </a:lnTo>
                <a:cubicBezTo>
                  <a:pt x="2654157" y="703858"/>
                  <a:pt x="2638824" y="719191"/>
                  <a:pt x="2619909" y="719191"/>
                </a:cubicBezTo>
                <a:lnTo>
                  <a:pt x="34248" y="719191"/>
                </a:lnTo>
                <a:cubicBezTo>
                  <a:pt x="15333" y="719191"/>
                  <a:pt x="0" y="703858"/>
                  <a:pt x="0" y="684943"/>
                </a:cubicBezTo>
                <a:lnTo>
                  <a:pt x="0" y="34248"/>
                </a:lnTo>
                <a:cubicBezTo>
                  <a:pt x="0" y="15346"/>
                  <a:pt x="15346" y="0"/>
                  <a:pt x="34248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6" name="Text 14"/>
          <p:cNvSpPr/>
          <p:nvPr/>
        </p:nvSpPr>
        <p:spPr>
          <a:xfrm>
            <a:off x="517989" y="2953820"/>
            <a:ext cx="2577101" cy="30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2" b="1" dirty="0">
                <a:solidFill>
                  <a:srgbClr val="4C8A7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7955" y="3262045"/>
            <a:ext cx="2517169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Farmers Enrolled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36360" y="2851079"/>
            <a:ext cx="2654157" cy="719191"/>
          </a:xfrm>
          <a:custGeom>
            <a:avLst/>
            <a:gdLst/>
            <a:ahLst/>
            <a:cxnLst/>
            <a:rect l="l" t="t" r="r" b="b"/>
            <a:pathLst>
              <a:path w="2654157" h="719191">
                <a:moveTo>
                  <a:pt x="34248" y="0"/>
                </a:moveTo>
                <a:lnTo>
                  <a:pt x="2619909" y="0"/>
                </a:lnTo>
                <a:cubicBezTo>
                  <a:pt x="2638824" y="0"/>
                  <a:pt x="2654157" y="15333"/>
                  <a:pt x="2654157" y="34248"/>
                </a:cubicBezTo>
                <a:lnTo>
                  <a:pt x="2654157" y="684943"/>
                </a:lnTo>
                <a:cubicBezTo>
                  <a:pt x="2654157" y="703858"/>
                  <a:pt x="2638824" y="719191"/>
                  <a:pt x="2619909" y="719191"/>
                </a:cubicBezTo>
                <a:lnTo>
                  <a:pt x="34248" y="719191"/>
                </a:lnTo>
                <a:cubicBezTo>
                  <a:pt x="15333" y="719191"/>
                  <a:pt x="0" y="703858"/>
                  <a:pt x="0" y="684943"/>
                </a:cubicBezTo>
                <a:lnTo>
                  <a:pt x="0" y="34248"/>
                </a:lnTo>
                <a:cubicBezTo>
                  <a:pt x="0" y="15346"/>
                  <a:pt x="15346" y="0"/>
                  <a:pt x="34248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9" name="Text 17"/>
          <p:cNvSpPr/>
          <p:nvPr/>
        </p:nvSpPr>
        <p:spPr>
          <a:xfrm>
            <a:off x="3274888" y="2953820"/>
            <a:ext cx="2577101" cy="30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2" b="1" dirty="0">
                <a:solidFill>
                  <a:srgbClr val="4C8A7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$185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04854" y="3262045"/>
            <a:ext cx="2517169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Cost/Farmer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2472" y="3827124"/>
            <a:ext cx="5685034" cy="3030876"/>
          </a:xfrm>
          <a:custGeom>
            <a:avLst/>
            <a:gdLst/>
            <a:ahLst/>
            <a:cxnLst/>
            <a:rect l="l" t="t" r="r" b="b"/>
            <a:pathLst>
              <a:path w="5685034" h="3030876">
                <a:moveTo>
                  <a:pt x="34247" y="0"/>
                </a:moveTo>
                <a:lnTo>
                  <a:pt x="5650787" y="0"/>
                </a:lnTo>
                <a:cubicBezTo>
                  <a:pt x="5669701" y="0"/>
                  <a:pt x="5685034" y="15333"/>
                  <a:pt x="5685034" y="34247"/>
                </a:cubicBezTo>
                <a:lnTo>
                  <a:pt x="5685034" y="2996628"/>
                </a:lnTo>
                <a:cubicBezTo>
                  <a:pt x="5685034" y="3015543"/>
                  <a:pt x="5669700" y="3030876"/>
                  <a:pt x="5650785" y="3030876"/>
                </a:cubicBezTo>
                <a:lnTo>
                  <a:pt x="34249" y="3030876"/>
                </a:lnTo>
                <a:cubicBezTo>
                  <a:pt x="15346" y="3030876"/>
                  <a:pt x="0" y="3015530"/>
                  <a:pt x="0" y="2996628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685" dist="856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2472" y="3827124"/>
            <a:ext cx="5685034" cy="34247"/>
          </a:xfrm>
          <a:custGeom>
            <a:avLst/>
            <a:gdLst/>
            <a:ahLst/>
            <a:cxnLst/>
            <a:rect l="l" t="t" r="r" b="b"/>
            <a:pathLst>
              <a:path w="5685034" h="34247">
                <a:moveTo>
                  <a:pt x="34247" y="0"/>
                </a:moveTo>
                <a:lnTo>
                  <a:pt x="5650787" y="0"/>
                </a:lnTo>
                <a:cubicBezTo>
                  <a:pt x="5669701" y="0"/>
                  <a:pt x="5685034" y="15333"/>
                  <a:pt x="5685034" y="34247"/>
                </a:cubicBezTo>
                <a:lnTo>
                  <a:pt x="5685034" y="34247"/>
                </a:lnTo>
                <a:lnTo>
                  <a:pt x="0" y="34247"/>
                </a:ln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23" name="Shape 21"/>
          <p:cNvSpPr/>
          <p:nvPr/>
        </p:nvSpPr>
        <p:spPr>
          <a:xfrm>
            <a:off x="500865" y="4015483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21404" y="21404"/>
                </a:moveTo>
                <a:cubicBezTo>
                  <a:pt x="21404" y="15485"/>
                  <a:pt x="16622" y="10702"/>
                  <a:pt x="10702" y="10702"/>
                </a:cubicBezTo>
                <a:cubicBezTo>
                  <a:pt x="4783" y="10702"/>
                  <a:pt x="0" y="15485"/>
                  <a:pt x="0" y="21404"/>
                </a:cubicBezTo>
                <a:lnTo>
                  <a:pt x="0" y="133778"/>
                </a:lnTo>
                <a:cubicBezTo>
                  <a:pt x="0" y="148561"/>
                  <a:pt x="11973" y="160534"/>
                  <a:pt x="26756" y="160534"/>
                </a:cubicBezTo>
                <a:lnTo>
                  <a:pt x="160534" y="160534"/>
                </a:lnTo>
                <a:cubicBezTo>
                  <a:pt x="166453" y="160534"/>
                  <a:pt x="171236" y="155751"/>
                  <a:pt x="171236" y="149831"/>
                </a:cubicBezTo>
                <a:cubicBezTo>
                  <a:pt x="171236" y="143912"/>
                  <a:pt x="166453" y="139129"/>
                  <a:pt x="160534" y="139129"/>
                </a:cubicBezTo>
                <a:lnTo>
                  <a:pt x="26756" y="139129"/>
                </a:lnTo>
                <a:cubicBezTo>
                  <a:pt x="23813" y="139129"/>
                  <a:pt x="21404" y="136721"/>
                  <a:pt x="21404" y="133778"/>
                </a:cubicBezTo>
                <a:lnTo>
                  <a:pt x="21404" y="21404"/>
                </a:lnTo>
                <a:close/>
                <a:moveTo>
                  <a:pt x="157390" y="50367"/>
                </a:moveTo>
                <a:cubicBezTo>
                  <a:pt x="161570" y="46187"/>
                  <a:pt x="161570" y="39398"/>
                  <a:pt x="157390" y="35217"/>
                </a:cubicBezTo>
                <a:cubicBezTo>
                  <a:pt x="153209" y="31037"/>
                  <a:pt x="146420" y="31037"/>
                  <a:pt x="142240" y="35217"/>
                </a:cubicBezTo>
                <a:lnTo>
                  <a:pt x="107022" y="70468"/>
                </a:lnTo>
                <a:lnTo>
                  <a:pt x="87825" y="51304"/>
                </a:lnTo>
                <a:cubicBezTo>
                  <a:pt x="83645" y="47123"/>
                  <a:pt x="76856" y="47123"/>
                  <a:pt x="72675" y="51304"/>
                </a:cubicBezTo>
                <a:lnTo>
                  <a:pt x="40568" y="83411"/>
                </a:lnTo>
                <a:cubicBezTo>
                  <a:pt x="36388" y="87591"/>
                  <a:pt x="36388" y="94380"/>
                  <a:pt x="40568" y="98561"/>
                </a:cubicBezTo>
                <a:cubicBezTo>
                  <a:pt x="44749" y="102742"/>
                  <a:pt x="51538" y="102742"/>
                  <a:pt x="55719" y="98561"/>
                </a:cubicBezTo>
                <a:lnTo>
                  <a:pt x="80267" y="74013"/>
                </a:lnTo>
                <a:lnTo>
                  <a:pt x="99464" y="93210"/>
                </a:lnTo>
                <a:cubicBezTo>
                  <a:pt x="103645" y="97390"/>
                  <a:pt x="110434" y="97390"/>
                  <a:pt x="114614" y="93210"/>
                </a:cubicBezTo>
                <a:lnTo>
                  <a:pt x="157423" y="50401"/>
                </a:ln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24" name="Text 22"/>
          <p:cNvSpPr/>
          <p:nvPr/>
        </p:nvSpPr>
        <p:spPr>
          <a:xfrm>
            <a:off x="693506" y="3981236"/>
            <a:ext cx="5282629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Benefit-Cost Analysis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9461" y="4323708"/>
            <a:ext cx="5411056" cy="1027416"/>
          </a:xfrm>
          <a:custGeom>
            <a:avLst/>
            <a:gdLst/>
            <a:ahLst/>
            <a:cxnLst/>
            <a:rect l="l" t="t" r="r" b="b"/>
            <a:pathLst>
              <a:path w="5411056" h="1027416">
                <a:moveTo>
                  <a:pt x="34244" y="0"/>
                </a:moveTo>
                <a:lnTo>
                  <a:pt x="5376812" y="0"/>
                </a:lnTo>
                <a:cubicBezTo>
                  <a:pt x="5395725" y="0"/>
                  <a:pt x="5411056" y="15331"/>
                  <a:pt x="5411056" y="34244"/>
                </a:cubicBezTo>
                <a:lnTo>
                  <a:pt x="5411056" y="993172"/>
                </a:lnTo>
                <a:cubicBezTo>
                  <a:pt x="5411056" y="1012084"/>
                  <a:pt x="5395725" y="1027416"/>
                  <a:pt x="5376812" y="1027416"/>
                </a:cubicBezTo>
                <a:lnTo>
                  <a:pt x="34244" y="1027416"/>
                </a:lnTo>
                <a:cubicBezTo>
                  <a:pt x="15331" y="1027416"/>
                  <a:pt x="0" y="1012084"/>
                  <a:pt x="0" y="993172"/>
                </a:cubicBezTo>
                <a:lnTo>
                  <a:pt x="0" y="34244"/>
                </a:lnTo>
                <a:cubicBezTo>
                  <a:pt x="0" y="15344"/>
                  <a:pt x="15344" y="0"/>
                  <a:pt x="34244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0697" y="4580562"/>
            <a:ext cx="1284270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3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Benefit-Cost Ratio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15705" y="4494944"/>
            <a:ext cx="907551" cy="41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36" b="1" dirty="0">
                <a:solidFill>
                  <a:srgbClr val="5F6F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&gt;3.0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697" y="4974404"/>
            <a:ext cx="5137079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dollar invested generates over $3 in economic returns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9461" y="5453865"/>
            <a:ext cx="5411056" cy="376719"/>
          </a:xfrm>
          <a:custGeom>
            <a:avLst/>
            <a:gdLst/>
            <a:ahLst/>
            <a:cxnLst/>
            <a:rect l="l" t="t" r="r" b="b"/>
            <a:pathLst>
              <a:path w="5411056" h="376719">
                <a:moveTo>
                  <a:pt x="34248" y="0"/>
                </a:moveTo>
                <a:lnTo>
                  <a:pt x="5376809" y="0"/>
                </a:lnTo>
                <a:cubicBezTo>
                  <a:pt x="5395723" y="0"/>
                  <a:pt x="5411056" y="15333"/>
                  <a:pt x="5411056" y="34248"/>
                </a:cubicBezTo>
                <a:lnTo>
                  <a:pt x="5411056" y="342472"/>
                </a:lnTo>
                <a:cubicBezTo>
                  <a:pt x="5411056" y="361386"/>
                  <a:pt x="5395723" y="376719"/>
                  <a:pt x="5376809" y="376719"/>
                </a:cubicBezTo>
                <a:lnTo>
                  <a:pt x="34248" y="376719"/>
                </a:lnTo>
                <a:cubicBezTo>
                  <a:pt x="15333" y="376719"/>
                  <a:pt x="0" y="361386"/>
                  <a:pt x="0" y="342472"/>
                </a:cubicBezTo>
                <a:lnTo>
                  <a:pt x="0" y="34248"/>
                </a:lnTo>
                <a:cubicBezTo>
                  <a:pt x="0" y="15346"/>
                  <a:pt x="15346" y="0"/>
                  <a:pt x="34248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0" name="Text 28"/>
          <p:cNvSpPr/>
          <p:nvPr/>
        </p:nvSpPr>
        <p:spPr>
          <a:xfrm>
            <a:off x="547955" y="5539483"/>
            <a:ext cx="1275708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Income Boost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14569" y="5522360"/>
            <a:ext cx="984607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3" b="1" dirty="0">
                <a:solidFill>
                  <a:srgbClr val="5F6F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$72/acre/year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9461" y="5899079"/>
            <a:ext cx="5411056" cy="376719"/>
          </a:xfrm>
          <a:custGeom>
            <a:avLst/>
            <a:gdLst/>
            <a:ahLst/>
            <a:cxnLst/>
            <a:rect l="l" t="t" r="r" b="b"/>
            <a:pathLst>
              <a:path w="5411056" h="376719">
                <a:moveTo>
                  <a:pt x="34248" y="0"/>
                </a:moveTo>
                <a:lnTo>
                  <a:pt x="5376809" y="0"/>
                </a:lnTo>
                <a:cubicBezTo>
                  <a:pt x="5395723" y="0"/>
                  <a:pt x="5411056" y="15333"/>
                  <a:pt x="5411056" y="34248"/>
                </a:cubicBezTo>
                <a:lnTo>
                  <a:pt x="5411056" y="342472"/>
                </a:lnTo>
                <a:cubicBezTo>
                  <a:pt x="5411056" y="361386"/>
                  <a:pt x="5395723" y="376719"/>
                  <a:pt x="5376809" y="376719"/>
                </a:cubicBezTo>
                <a:lnTo>
                  <a:pt x="34248" y="376719"/>
                </a:lnTo>
                <a:cubicBezTo>
                  <a:pt x="15333" y="376719"/>
                  <a:pt x="0" y="361386"/>
                  <a:pt x="0" y="342472"/>
                </a:cubicBezTo>
                <a:lnTo>
                  <a:pt x="0" y="34248"/>
                </a:lnTo>
                <a:cubicBezTo>
                  <a:pt x="0" y="15346"/>
                  <a:pt x="15346" y="0"/>
                  <a:pt x="34248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3" name="Text 31"/>
          <p:cNvSpPr/>
          <p:nvPr/>
        </p:nvSpPr>
        <p:spPr>
          <a:xfrm>
            <a:off x="547955" y="5984697"/>
            <a:ext cx="1258584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Increase Value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62750" y="5967573"/>
            <a:ext cx="539393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3" b="1" dirty="0">
                <a:solidFill>
                  <a:srgbClr val="5F6F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20-32%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79461" y="6344292"/>
            <a:ext cx="5411056" cy="376719"/>
          </a:xfrm>
          <a:custGeom>
            <a:avLst/>
            <a:gdLst/>
            <a:ahLst/>
            <a:cxnLst/>
            <a:rect l="l" t="t" r="r" b="b"/>
            <a:pathLst>
              <a:path w="5411056" h="376719">
                <a:moveTo>
                  <a:pt x="34248" y="0"/>
                </a:moveTo>
                <a:lnTo>
                  <a:pt x="5376809" y="0"/>
                </a:lnTo>
                <a:cubicBezTo>
                  <a:pt x="5395723" y="0"/>
                  <a:pt x="5411056" y="15333"/>
                  <a:pt x="5411056" y="34248"/>
                </a:cubicBezTo>
                <a:lnTo>
                  <a:pt x="5411056" y="342472"/>
                </a:lnTo>
                <a:cubicBezTo>
                  <a:pt x="5411056" y="361386"/>
                  <a:pt x="5395723" y="376719"/>
                  <a:pt x="5376809" y="376719"/>
                </a:cubicBezTo>
                <a:lnTo>
                  <a:pt x="34248" y="376719"/>
                </a:lnTo>
                <a:cubicBezTo>
                  <a:pt x="15333" y="376719"/>
                  <a:pt x="0" y="361386"/>
                  <a:pt x="0" y="342472"/>
                </a:cubicBezTo>
                <a:lnTo>
                  <a:pt x="0" y="34248"/>
                </a:lnTo>
                <a:cubicBezTo>
                  <a:pt x="0" y="15346"/>
                  <a:pt x="15346" y="0"/>
                  <a:pt x="34248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6" name="Text 34"/>
          <p:cNvSpPr/>
          <p:nvPr/>
        </p:nvSpPr>
        <p:spPr>
          <a:xfrm>
            <a:off x="547955" y="6429910"/>
            <a:ext cx="1104472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Profitability Boost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59380" y="6412787"/>
            <a:ext cx="342472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3" b="1" dirty="0">
                <a:solidFill>
                  <a:srgbClr val="5F6F6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30%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64494" y="1498315"/>
            <a:ext cx="5685034" cy="2380180"/>
          </a:xfrm>
          <a:custGeom>
            <a:avLst/>
            <a:gdLst/>
            <a:ahLst/>
            <a:cxnLst/>
            <a:rect l="l" t="t" r="r" b="b"/>
            <a:pathLst>
              <a:path w="5685034" h="2380180">
                <a:moveTo>
                  <a:pt x="34247" y="0"/>
                </a:moveTo>
                <a:lnTo>
                  <a:pt x="5650787" y="0"/>
                </a:lnTo>
                <a:cubicBezTo>
                  <a:pt x="5669701" y="0"/>
                  <a:pt x="5685034" y="15333"/>
                  <a:pt x="5685034" y="34247"/>
                </a:cubicBezTo>
                <a:lnTo>
                  <a:pt x="5685034" y="2345929"/>
                </a:lnTo>
                <a:cubicBezTo>
                  <a:pt x="5685034" y="2364845"/>
                  <a:pt x="5669699" y="2380180"/>
                  <a:pt x="5650783" y="2380180"/>
                </a:cubicBezTo>
                <a:lnTo>
                  <a:pt x="34251" y="2380180"/>
                </a:lnTo>
                <a:cubicBezTo>
                  <a:pt x="15335" y="2380180"/>
                  <a:pt x="0" y="2364845"/>
                  <a:pt x="0" y="2345929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685" dist="856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64494" y="1498315"/>
            <a:ext cx="5685034" cy="34247"/>
          </a:xfrm>
          <a:custGeom>
            <a:avLst/>
            <a:gdLst/>
            <a:ahLst/>
            <a:cxnLst/>
            <a:rect l="l" t="t" r="r" b="b"/>
            <a:pathLst>
              <a:path w="5685034" h="34247">
                <a:moveTo>
                  <a:pt x="34247" y="0"/>
                </a:moveTo>
                <a:lnTo>
                  <a:pt x="5650787" y="0"/>
                </a:lnTo>
                <a:cubicBezTo>
                  <a:pt x="5669701" y="0"/>
                  <a:pt x="5685034" y="15333"/>
                  <a:pt x="5685034" y="34247"/>
                </a:cubicBezTo>
                <a:lnTo>
                  <a:pt x="5685034" y="34247"/>
                </a:lnTo>
                <a:lnTo>
                  <a:pt x="0" y="34247"/>
                </a:ln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0" name="Shape 38"/>
          <p:cNvSpPr/>
          <p:nvPr/>
        </p:nvSpPr>
        <p:spPr>
          <a:xfrm>
            <a:off x="6322888" y="1686674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96387" y="0"/>
                </a:moveTo>
                <a:cubicBezTo>
                  <a:pt x="96387" y="-5920"/>
                  <a:pt x="91605" y="-10702"/>
                  <a:pt x="85685" y="-10702"/>
                </a:cubicBezTo>
                <a:cubicBezTo>
                  <a:pt x="79765" y="-10702"/>
                  <a:pt x="74983" y="-5920"/>
                  <a:pt x="74983" y="0"/>
                </a:cubicBezTo>
                <a:lnTo>
                  <a:pt x="74983" y="20769"/>
                </a:lnTo>
                <a:lnTo>
                  <a:pt x="69966" y="15752"/>
                </a:lnTo>
                <a:cubicBezTo>
                  <a:pt x="66822" y="12609"/>
                  <a:pt x="61739" y="12609"/>
                  <a:pt x="58628" y="15752"/>
                </a:cubicBezTo>
                <a:cubicBezTo>
                  <a:pt x="55518" y="18896"/>
                  <a:pt x="55484" y="23980"/>
                  <a:pt x="58628" y="27090"/>
                </a:cubicBezTo>
                <a:lnTo>
                  <a:pt x="75016" y="43478"/>
                </a:lnTo>
                <a:lnTo>
                  <a:pt x="75016" y="67090"/>
                </a:lnTo>
                <a:lnTo>
                  <a:pt x="54548" y="55284"/>
                </a:lnTo>
                <a:lnTo>
                  <a:pt x="48561" y="32909"/>
                </a:lnTo>
                <a:cubicBezTo>
                  <a:pt x="47424" y="28629"/>
                  <a:pt x="43010" y="26087"/>
                  <a:pt x="38729" y="27224"/>
                </a:cubicBezTo>
                <a:cubicBezTo>
                  <a:pt x="34448" y="28361"/>
                  <a:pt x="31873" y="32776"/>
                  <a:pt x="33010" y="37057"/>
                </a:cubicBezTo>
                <a:lnTo>
                  <a:pt x="34849" y="43913"/>
                </a:lnTo>
                <a:lnTo>
                  <a:pt x="16889" y="33545"/>
                </a:lnTo>
                <a:cubicBezTo>
                  <a:pt x="11772" y="30602"/>
                  <a:pt x="5217" y="32341"/>
                  <a:pt x="2274" y="37458"/>
                </a:cubicBezTo>
                <a:cubicBezTo>
                  <a:pt x="-669" y="42575"/>
                  <a:pt x="1070" y="49130"/>
                  <a:pt x="6187" y="52073"/>
                </a:cubicBezTo>
                <a:lnTo>
                  <a:pt x="24147" y="62441"/>
                </a:lnTo>
                <a:lnTo>
                  <a:pt x="17291" y="64280"/>
                </a:lnTo>
                <a:cubicBezTo>
                  <a:pt x="13010" y="65417"/>
                  <a:pt x="10468" y="69832"/>
                  <a:pt x="11605" y="74113"/>
                </a:cubicBezTo>
                <a:cubicBezTo>
                  <a:pt x="12742" y="78394"/>
                  <a:pt x="17157" y="80936"/>
                  <a:pt x="21438" y="79799"/>
                </a:cubicBezTo>
                <a:lnTo>
                  <a:pt x="43812" y="73812"/>
                </a:lnTo>
                <a:lnTo>
                  <a:pt x="64280" y="85618"/>
                </a:lnTo>
                <a:lnTo>
                  <a:pt x="43812" y="97424"/>
                </a:lnTo>
                <a:lnTo>
                  <a:pt x="21438" y="91437"/>
                </a:lnTo>
                <a:cubicBezTo>
                  <a:pt x="17157" y="90300"/>
                  <a:pt x="12742" y="92842"/>
                  <a:pt x="11605" y="97123"/>
                </a:cubicBezTo>
                <a:cubicBezTo>
                  <a:pt x="10468" y="101404"/>
                  <a:pt x="13010" y="105818"/>
                  <a:pt x="17291" y="106956"/>
                </a:cubicBezTo>
                <a:lnTo>
                  <a:pt x="24147" y="108795"/>
                </a:lnTo>
                <a:lnTo>
                  <a:pt x="6187" y="119163"/>
                </a:lnTo>
                <a:cubicBezTo>
                  <a:pt x="1070" y="122106"/>
                  <a:pt x="-669" y="128661"/>
                  <a:pt x="2274" y="133778"/>
                </a:cubicBezTo>
                <a:cubicBezTo>
                  <a:pt x="5217" y="138895"/>
                  <a:pt x="11772" y="140668"/>
                  <a:pt x="16889" y="137691"/>
                </a:cubicBezTo>
                <a:lnTo>
                  <a:pt x="34849" y="127323"/>
                </a:lnTo>
                <a:lnTo>
                  <a:pt x="33010" y="134179"/>
                </a:lnTo>
                <a:cubicBezTo>
                  <a:pt x="31873" y="138460"/>
                  <a:pt x="34414" y="142875"/>
                  <a:pt x="38695" y="144012"/>
                </a:cubicBezTo>
                <a:cubicBezTo>
                  <a:pt x="42976" y="145149"/>
                  <a:pt x="47391" y="142607"/>
                  <a:pt x="48528" y="138327"/>
                </a:cubicBezTo>
                <a:lnTo>
                  <a:pt x="54515" y="115952"/>
                </a:lnTo>
                <a:lnTo>
                  <a:pt x="74983" y="104146"/>
                </a:lnTo>
                <a:lnTo>
                  <a:pt x="74983" y="127758"/>
                </a:lnTo>
                <a:lnTo>
                  <a:pt x="58595" y="144146"/>
                </a:lnTo>
                <a:cubicBezTo>
                  <a:pt x="55451" y="147290"/>
                  <a:pt x="55451" y="152373"/>
                  <a:pt x="58595" y="155484"/>
                </a:cubicBezTo>
                <a:cubicBezTo>
                  <a:pt x="61739" y="158594"/>
                  <a:pt x="66822" y="158627"/>
                  <a:pt x="69932" y="155484"/>
                </a:cubicBezTo>
                <a:lnTo>
                  <a:pt x="74949" y="150467"/>
                </a:lnTo>
                <a:lnTo>
                  <a:pt x="74949" y="171236"/>
                </a:lnTo>
                <a:cubicBezTo>
                  <a:pt x="74949" y="177156"/>
                  <a:pt x="79732" y="181938"/>
                  <a:pt x="85651" y="181938"/>
                </a:cubicBezTo>
                <a:cubicBezTo>
                  <a:pt x="91571" y="181938"/>
                  <a:pt x="96354" y="177156"/>
                  <a:pt x="96354" y="171236"/>
                </a:cubicBezTo>
                <a:lnTo>
                  <a:pt x="96354" y="150467"/>
                </a:lnTo>
                <a:lnTo>
                  <a:pt x="101370" y="155484"/>
                </a:lnTo>
                <a:cubicBezTo>
                  <a:pt x="104514" y="158627"/>
                  <a:pt x="109598" y="158627"/>
                  <a:pt x="112708" y="155484"/>
                </a:cubicBezTo>
                <a:cubicBezTo>
                  <a:pt x="115818" y="152340"/>
                  <a:pt x="115852" y="147256"/>
                  <a:pt x="112708" y="144146"/>
                </a:cubicBezTo>
                <a:lnTo>
                  <a:pt x="96320" y="127758"/>
                </a:lnTo>
                <a:lnTo>
                  <a:pt x="96320" y="104146"/>
                </a:lnTo>
                <a:lnTo>
                  <a:pt x="116788" y="115952"/>
                </a:lnTo>
                <a:lnTo>
                  <a:pt x="122775" y="138327"/>
                </a:lnTo>
                <a:cubicBezTo>
                  <a:pt x="123912" y="142607"/>
                  <a:pt x="128327" y="145149"/>
                  <a:pt x="132608" y="144012"/>
                </a:cubicBezTo>
                <a:cubicBezTo>
                  <a:pt x="136888" y="142875"/>
                  <a:pt x="139430" y="138460"/>
                  <a:pt x="138293" y="134179"/>
                </a:cubicBezTo>
                <a:lnTo>
                  <a:pt x="136454" y="127323"/>
                </a:lnTo>
                <a:lnTo>
                  <a:pt x="154413" y="137691"/>
                </a:lnTo>
                <a:cubicBezTo>
                  <a:pt x="159530" y="140634"/>
                  <a:pt x="166085" y="138895"/>
                  <a:pt x="169029" y="133778"/>
                </a:cubicBezTo>
                <a:cubicBezTo>
                  <a:pt x="171972" y="128661"/>
                  <a:pt x="170233" y="122106"/>
                  <a:pt x="165116" y="119163"/>
                </a:cubicBezTo>
                <a:lnTo>
                  <a:pt x="147156" y="108795"/>
                </a:lnTo>
                <a:lnTo>
                  <a:pt x="154012" y="106956"/>
                </a:lnTo>
                <a:cubicBezTo>
                  <a:pt x="158293" y="105818"/>
                  <a:pt x="160835" y="101404"/>
                  <a:pt x="159698" y="97123"/>
                </a:cubicBezTo>
                <a:cubicBezTo>
                  <a:pt x="158560" y="92842"/>
                  <a:pt x="154146" y="90300"/>
                  <a:pt x="149865" y="91437"/>
                </a:cubicBezTo>
                <a:lnTo>
                  <a:pt x="127491" y="97424"/>
                </a:lnTo>
                <a:lnTo>
                  <a:pt x="107022" y="85618"/>
                </a:lnTo>
                <a:lnTo>
                  <a:pt x="127491" y="73812"/>
                </a:lnTo>
                <a:lnTo>
                  <a:pt x="149865" y="79799"/>
                </a:lnTo>
                <a:cubicBezTo>
                  <a:pt x="154146" y="80936"/>
                  <a:pt x="158560" y="78394"/>
                  <a:pt x="159698" y="74113"/>
                </a:cubicBezTo>
                <a:cubicBezTo>
                  <a:pt x="160835" y="69832"/>
                  <a:pt x="158293" y="65417"/>
                  <a:pt x="154012" y="64280"/>
                </a:cubicBezTo>
                <a:lnTo>
                  <a:pt x="147156" y="62441"/>
                </a:lnTo>
                <a:lnTo>
                  <a:pt x="165116" y="52073"/>
                </a:lnTo>
                <a:cubicBezTo>
                  <a:pt x="170233" y="49130"/>
                  <a:pt x="172005" y="42575"/>
                  <a:pt x="169029" y="37458"/>
                </a:cubicBezTo>
                <a:cubicBezTo>
                  <a:pt x="166052" y="32341"/>
                  <a:pt x="159530" y="30602"/>
                  <a:pt x="154413" y="33545"/>
                </a:cubicBezTo>
                <a:lnTo>
                  <a:pt x="136454" y="43913"/>
                </a:lnTo>
                <a:lnTo>
                  <a:pt x="138293" y="37057"/>
                </a:lnTo>
                <a:cubicBezTo>
                  <a:pt x="139430" y="32776"/>
                  <a:pt x="136888" y="28361"/>
                  <a:pt x="132608" y="27224"/>
                </a:cubicBezTo>
                <a:cubicBezTo>
                  <a:pt x="128327" y="26087"/>
                  <a:pt x="123912" y="28629"/>
                  <a:pt x="122775" y="32909"/>
                </a:cubicBezTo>
                <a:lnTo>
                  <a:pt x="116788" y="55284"/>
                </a:lnTo>
                <a:lnTo>
                  <a:pt x="96320" y="67090"/>
                </a:lnTo>
                <a:lnTo>
                  <a:pt x="96320" y="43478"/>
                </a:lnTo>
                <a:lnTo>
                  <a:pt x="112708" y="27090"/>
                </a:lnTo>
                <a:cubicBezTo>
                  <a:pt x="115852" y="23946"/>
                  <a:pt x="115852" y="18863"/>
                  <a:pt x="112708" y="15752"/>
                </a:cubicBezTo>
                <a:cubicBezTo>
                  <a:pt x="109564" y="12642"/>
                  <a:pt x="104481" y="12609"/>
                  <a:pt x="101370" y="15752"/>
                </a:cubicBezTo>
                <a:lnTo>
                  <a:pt x="96354" y="20769"/>
                </a:lnTo>
                <a:lnTo>
                  <a:pt x="96354" y="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1" name="Text 39"/>
          <p:cNvSpPr/>
          <p:nvPr/>
        </p:nvSpPr>
        <p:spPr>
          <a:xfrm>
            <a:off x="6515528" y="1652427"/>
            <a:ext cx="5282629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Solar Cold Chain: PPP-Ready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01483" y="1994899"/>
            <a:ext cx="5411056" cy="958921"/>
          </a:xfrm>
          <a:custGeom>
            <a:avLst/>
            <a:gdLst/>
            <a:ahLst/>
            <a:cxnLst/>
            <a:rect l="l" t="t" r="r" b="b"/>
            <a:pathLst>
              <a:path w="5411056" h="958921">
                <a:moveTo>
                  <a:pt x="34243" y="0"/>
                </a:moveTo>
                <a:lnTo>
                  <a:pt x="5376813" y="0"/>
                </a:lnTo>
                <a:cubicBezTo>
                  <a:pt x="5395725" y="0"/>
                  <a:pt x="5411056" y="15331"/>
                  <a:pt x="5411056" y="34243"/>
                </a:cubicBezTo>
                <a:lnTo>
                  <a:pt x="5411056" y="924678"/>
                </a:lnTo>
                <a:cubicBezTo>
                  <a:pt x="5411056" y="943590"/>
                  <a:pt x="5395725" y="958921"/>
                  <a:pt x="5376813" y="958921"/>
                </a:cubicBezTo>
                <a:lnTo>
                  <a:pt x="34243" y="958921"/>
                </a:lnTo>
                <a:cubicBezTo>
                  <a:pt x="15331" y="958921"/>
                  <a:pt x="0" y="943590"/>
                  <a:pt x="0" y="924678"/>
                </a:cubicBezTo>
                <a:lnTo>
                  <a:pt x="0" y="34243"/>
                </a:lnTo>
                <a:cubicBezTo>
                  <a:pt x="0" y="15344"/>
                  <a:pt x="15344" y="0"/>
                  <a:pt x="34243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38472" y="2217506"/>
            <a:ext cx="1566809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3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Rate of Return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395239" y="2131888"/>
            <a:ext cx="1387011" cy="41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36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14.47%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38472" y="2611348"/>
            <a:ext cx="5205573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Attractive returns for private sector investment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01483" y="3056562"/>
            <a:ext cx="2654157" cy="684944"/>
          </a:xfrm>
          <a:custGeom>
            <a:avLst/>
            <a:gdLst/>
            <a:ahLst/>
            <a:cxnLst/>
            <a:rect l="l" t="t" r="r" b="b"/>
            <a:pathLst>
              <a:path w="2654157" h="684944">
                <a:moveTo>
                  <a:pt x="34247" y="0"/>
                </a:moveTo>
                <a:lnTo>
                  <a:pt x="2619910" y="0"/>
                </a:lnTo>
                <a:cubicBezTo>
                  <a:pt x="2638824" y="0"/>
                  <a:pt x="2654157" y="15333"/>
                  <a:pt x="2654157" y="34247"/>
                </a:cubicBezTo>
                <a:lnTo>
                  <a:pt x="2654157" y="650697"/>
                </a:lnTo>
                <a:cubicBezTo>
                  <a:pt x="2654157" y="669611"/>
                  <a:pt x="2638824" y="684944"/>
                  <a:pt x="2619910" y="684944"/>
                </a:cubicBezTo>
                <a:lnTo>
                  <a:pt x="34247" y="684944"/>
                </a:lnTo>
                <a:cubicBezTo>
                  <a:pt x="15333" y="684944"/>
                  <a:pt x="0" y="669611"/>
                  <a:pt x="0" y="650697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47" name="Text 45"/>
          <p:cNvSpPr/>
          <p:nvPr/>
        </p:nvSpPr>
        <p:spPr>
          <a:xfrm>
            <a:off x="6352854" y="3159303"/>
            <a:ext cx="2551416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8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70%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69978" y="3433281"/>
            <a:ext cx="2517169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58382" y="3056562"/>
            <a:ext cx="2654157" cy="684944"/>
          </a:xfrm>
          <a:custGeom>
            <a:avLst/>
            <a:gdLst/>
            <a:ahLst/>
            <a:cxnLst/>
            <a:rect l="l" t="t" r="r" b="b"/>
            <a:pathLst>
              <a:path w="2654157" h="684944">
                <a:moveTo>
                  <a:pt x="34247" y="0"/>
                </a:moveTo>
                <a:lnTo>
                  <a:pt x="2619910" y="0"/>
                </a:lnTo>
                <a:cubicBezTo>
                  <a:pt x="2638824" y="0"/>
                  <a:pt x="2654157" y="15333"/>
                  <a:pt x="2654157" y="34247"/>
                </a:cubicBezTo>
                <a:lnTo>
                  <a:pt x="2654157" y="650697"/>
                </a:lnTo>
                <a:cubicBezTo>
                  <a:pt x="2654157" y="669611"/>
                  <a:pt x="2638824" y="684944"/>
                  <a:pt x="2619910" y="684944"/>
                </a:cubicBezTo>
                <a:lnTo>
                  <a:pt x="34247" y="684944"/>
                </a:lnTo>
                <a:cubicBezTo>
                  <a:pt x="15333" y="684944"/>
                  <a:pt x="0" y="669611"/>
                  <a:pt x="0" y="650697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50" name="Text 48"/>
          <p:cNvSpPr/>
          <p:nvPr/>
        </p:nvSpPr>
        <p:spPr>
          <a:xfrm>
            <a:off x="9109753" y="3159303"/>
            <a:ext cx="2551416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8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3,500kg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26876" y="3433281"/>
            <a:ext cx="2517169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CO₂/Unit/Year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64494" y="3981236"/>
            <a:ext cx="5685034" cy="2876764"/>
          </a:xfrm>
          <a:custGeom>
            <a:avLst/>
            <a:gdLst/>
            <a:ahLst/>
            <a:cxnLst/>
            <a:rect l="l" t="t" r="r" b="b"/>
            <a:pathLst>
              <a:path w="5685034" h="2876764">
                <a:moveTo>
                  <a:pt x="34233" y="0"/>
                </a:moveTo>
                <a:lnTo>
                  <a:pt x="5650800" y="0"/>
                </a:lnTo>
                <a:cubicBezTo>
                  <a:pt x="5669707" y="0"/>
                  <a:pt x="5685034" y="15327"/>
                  <a:pt x="5685034" y="34233"/>
                </a:cubicBezTo>
                <a:lnTo>
                  <a:pt x="5685034" y="2842531"/>
                </a:lnTo>
                <a:cubicBezTo>
                  <a:pt x="5685034" y="2861437"/>
                  <a:pt x="5669707" y="2876764"/>
                  <a:pt x="5650800" y="2876764"/>
                </a:cubicBezTo>
                <a:lnTo>
                  <a:pt x="34233" y="2876764"/>
                </a:lnTo>
                <a:cubicBezTo>
                  <a:pt x="15327" y="2876764"/>
                  <a:pt x="0" y="2861437"/>
                  <a:pt x="0" y="2842531"/>
                </a:cubicBezTo>
                <a:lnTo>
                  <a:pt x="0" y="34233"/>
                </a:lnTo>
                <a:cubicBezTo>
                  <a:pt x="0" y="15340"/>
                  <a:pt x="15340" y="0"/>
                  <a:pt x="34233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53" name="Shape 51"/>
          <p:cNvSpPr/>
          <p:nvPr/>
        </p:nvSpPr>
        <p:spPr>
          <a:xfrm>
            <a:off x="6322888" y="4357955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42809" y="32107"/>
                </a:moveTo>
                <a:lnTo>
                  <a:pt x="42809" y="26756"/>
                </a:lnTo>
                <a:cubicBezTo>
                  <a:pt x="42809" y="11973"/>
                  <a:pt x="71571" y="0"/>
                  <a:pt x="107022" y="0"/>
                </a:cubicBezTo>
                <a:cubicBezTo>
                  <a:pt x="142474" y="0"/>
                  <a:pt x="171236" y="11973"/>
                  <a:pt x="171236" y="26756"/>
                </a:cubicBezTo>
                <a:lnTo>
                  <a:pt x="171236" y="32107"/>
                </a:lnTo>
                <a:cubicBezTo>
                  <a:pt x="171236" y="42341"/>
                  <a:pt x="157423" y="51237"/>
                  <a:pt x="137123" y="55752"/>
                </a:cubicBezTo>
                <a:cubicBezTo>
                  <a:pt x="136320" y="54816"/>
                  <a:pt x="135484" y="53913"/>
                  <a:pt x="134648" y="53076"/>
                </a:cubicBezTo>
                <a:cubicBezTo>
                  <a:pt x="129464" y="47959"/>
                  <a:pt x="122775" y="44080"/>
                  <a:pt x="115785" y="41204"/>
                </a:cubicBezTo>
                <a:cubicBezTo>
                  <a:pt x="101772" y="35351"/>
                  <a:pt x="83511" y="32140"/>
                  <a:pt x="64213" y="32140"/>
                </a:cubicBezTo>
                <a:cubicBezTo>
                  <a:pt x="56889" y="32140"/>
                  <a:pt x="49732" y="32608"/>
                  <a:pt x="42876" y="33511"/>
                </a:cubicBezTo>
                <a:cubicBezTo>
                  <a:pt x="42809" y="33077"/>
                  <a:pt x="42809" y="32608"/>
                  <a:pt x="42809" y="32140"/>
                </a:cubicBezTo>
                <a:close/>
                <a:moveTo>
                  <a:pt x="144480" y="118059"/>
                </a:moveTo>
                <a:lnTo>
                  <a:pt x="144480" y="102608"/>
                </a:lnTo>
                <a:cubicBezTo>
                  <a:pt x="149530" y="101303"/>
                  <a:pt x="154280" y="99765"/>
                  <a:pt x="158594" y="97959"/>
                </a:cubicBezTo>
                <a:cubicBezTo>
                  <a:pt x="163009" y="96120"/>
                  <a:pt x="167323" y="93879"/>
                  <a:pt x="171236" y="91170"/>
                </a:cubicBezTo>
                <a:lnTo>
                  <a:pt x="171236" y="96320"/>
                </a:lnTo>
                <a:cubicBezTo>
                  <a:pt x="171236" y="105283"/>
                  <a:pt x="160701" y="113210"/>
                  <a:pt x="144480" y="118059"/>
                </a:cubicBezTo>
                <a:close/>
                <a:moveTo>
                  <a:pt x="144480" y="85952"/>
                </a:moveTo>
                <a:lnTo>
                  <a:pt x="144480" y="74916"/>
                </a:lnTo>
                <a:cubicBezTo>
                  <a:pt x="144480" y="73411"/>
                  <a:pt x="144347" y="71973"/>
                  <a:pt x="144146" y="70568"/>
                </a:cubicBezTo>
                <a:cubicBezTo>
                  <a:pt x="149330" y="69264"/>
                  <a:pt x="154179" y="67692"/>
                  <a:pt x="158594" y="65819"/>
                </a:cubicBezTo>
                <a:cubicBezTo>
                  <a:pt x="163009" y="63946"/>
                  <a:pt x="167323" y="61739"/>
                  <a:pt x="171236" y="59030"/>
                </a:cubicBezTo>
                <a:lnTo>
                  <a:pt x="171236" y="64180"/>
                </a:lnTo>
                <a:cubicBezTo>
                  <a:pt x="171236" y="73143"/>
                  <a:pt x="160701" y="81070"/>
                  <a:pt x="144480" y="85919"/>
                </a:cubicBezTo>
                <a:close/>
                <a:moveTo>
                  <a:pt x="0" y="80267"/>
                </a:moveTo>
                <a:lnTo>
                  <a:pt x="0" y="74916"/>
                </a:lnTo>
                <a:cubicBezTo>
                  <a:pt x="0" y="60133"/>
                  <a:pt x="28762" y="48160"/>
                  <a:pt x="64213" y="48160"/>
                </a:cubicBezTo>
                <a:cubicBezTo>
                  <a:pt x="99665" y="48160"/>
                  <a:pt x="128427" y="60133"/>
                  <a:pt x="128427" y="74916"/>
                </a:cubicBezTo>
                <a:lnTo>
                  <a:pt x="128427" y="80267"/>
                </a:lnTo>
                <a:cubicBezTo>
                  <a:pt x="128427" y="95049"/>
                  <a:pt x="99665" y="107022"/>
                  <a:pt x="64213" y="107022"/>
                </a:cubicBezTo>
                <a:cubicBezTo>
                  <a:pt x="28762" y="107022"/>
                  <a:pt x="0" y="95049"/>
                  <a:pt x="0" y="80267"/>
                </a:cubicBezTo>
                <a:close/>
                <a:moveTo>
                  <a:pt x="128427" y="112374"/>
                </a:moveTo>
                <a:cubicBezTo>
                  <a:pt x="128427" y="127156"/>
                  <a:pt x="99665" y="139129"/>
                  <a:pt x="64213" y="139129"/>
                </a:cubicBezTo>
                <a:cubicBezTo>
                  <a:pt x="28762" y="139129"/>
                  <a:pt x="0" y="127156"/>
                  <a:pt x="0" y="112374"/>
                </a:cubicBezTo>
                <a:lnTo>
                  <a:pt x="0" y="107223"/>
                </a:lnTo>
                <a:cubicBezTo>
                  <a:pt x="3880" y="109932"/>
                  <a:pt x="8194" y="112139"/>
                  <a:pt x="12642" y="114012"/>
                </a:cubicBezTo>
                <a:cubicBezTo>
                  <a:pt x="26655" y="119865"/>
                  <a:pt x="44916" y="123076"/>
                  <a:pt x="64213" y="123076"/>
                </a:cubicBezTo>
                <a:cubicBezTo>
                  <a:pt x="83511" y="123076"/>
                  <a:pt x="101772" y="119832"/>
                  <a:pt x="115785" y="114012"/>
                </a:cubicBezTo>
                <a:cubicBezTo>
                  <a:pt x="120200" y="112173"/>
                  <a:pt x="124514" y="109932"/>
                  <a:pt x="128427" y="107223"/>
                </a:cubicBezTo>
                <a:lnTo>
                  <a:pt x="128427" y="112374"/>
                </a:lnTo>
                <a:close/>
                <a:moveTo>
                  <a:pt x="128427" y="139330"/>
                </a:moveTo>
                <a:lnTo>
                  <a:pt x="128427" y="144480"/>
                </a:lnTo>
                <a:cubicBezTo>
                  <a:pt x="128427" y="159263"/>
                  <a:pt x="99665" y="171236"/>
                  <a:pt x="64213" y="171236"/>
                </a:cubicBezTo>
                <a:cubicBezTo>
                  <a:pt x="28762" y="171236"/>
                  <a:pt x="0" y="159263"/>
                  <a:pt x="0" y="144480"/>
                </a:cubicBezTo>
                <a:lnTo>
                  <a:pt x="0" y="139330"/>
                </a:lnTo>
                <a:cubicBezTo>
                  <a:pt x="3880" y="142039"/>
                  <a:pt x="8194" y="144246"/>
                  <a:pt x="12642" y="146119"/>
                </a:cubicBezTo>
                <a:cubicBezTo>
                  <a:pt x="26655" y="151972"/>
                  <a:pt x="44916" y="155183"/>
                  <a:pt x="64213" y="155183"/>
                </a:cubicBezTo>
                <a:cubicBezTo>
                  <a:pt x="83511" y="155183"/>
                  <a:pt x="101772" y="151938"/>
                  <a:pt x="115785" y="146119"/>
                </a:cubicBezTo>
                <a:cubicBezTo>
                  <a:pt x="120200" y="144280"/>
                  <a:pt x="124514" y="142039"/>
                  <a:pt x="128427" y="13933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4" name="Text 52"/>
          <p:cNvSpPr/>
          <p:nvPr/>
        </p:nvSpPr>
        <p:spPr>
          <a:xfrm>
            <a:off x="6515528" y="4323708"/>
            <a:ext cx="5282629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Income Boost Breakdown ($72/acre)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01483" y="4666180"/>
            <a:ext cx="5411056" cy="410966"/>
          </a:xfrm>
          <a:custGeom>
            <a:avLst/>
            <a:gdLst/>
            <a:ahLst/>
            <a:cxnLst/>
            <a:rect l="l" t="t" r="r" b="b"/>
            <a:pathLst>
              <a:path w="5411056" h="410966">
                <a:moveTo>
                  <a:pt x="34246" y="0"/>
                </a:moveTo>
                <a:lnTo>
                  <a:pt x="5376810" y="0"/>
                </a:lnTo>
                <a:cubicBezTo>
                  <a:pt x="5395724" y="0"/>
                  <a:pt x="5411056" y="15332"/>
                  <a:pt x="5411056" y="34246"/>
                </a:cubicBezTo>
                <a:lnTo>
                  <a:pt x="5411056" y="376720"/>
                </a:lnTo>
                <a:cubicBezTo>
                  <a:pt x="5411056" y="395634"/>
                  <a:pt x="5395724" y="410966"/>
                  <a:pt x="5376810" y="410966"/>
                </a:cubicBezTo>
                <a:lnTo>
                  <a:pt x="34246" y="410966"/>
                </a:lnTo>
                <a:cubicBezTo>
                  <a:pt x="15332" y="410966"/>
                  <a:pt x="0" y="395634"/>
                  <a:pt x="0" y="376720"/>
                </a:cubicBezTo>
                <a:lnTo>
                  <a:pt x="0" y="34246"/>
                </a:lnTo>
                <a:cubicBezTo>
                  <a:pt x="0" y="15345"/>
                  <a:pt x="15345" y="0"/>
                  <a:pt x="3424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369978" y="4734674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34247" y="0"/>
                </a:moveTo>
                <a:lnTo>
                  <a:pt x="239730" y="0"/>
                </a:lnTo>
                <a:cubicBezTo>
                  <a:pt x="258632" y="0"/>
                  <a:pt x="273978" y="15346"/>
                  <a:pt x="273978" y="34247"/>
                </a:cubicBezTo>
                <a:lnTo>
                  <a:pt x="273978" y="239730"/>
                </a:lnTo>
                <a:cubicBezTo>
                  <a:pt x="273978" y="258645"/>
                  <a:pt x="258645" y="273978"/>
                  <a:pt x="239730" y="273978"/>
                </a:cubicBezTo>
                <a:lnTo>
                  <a:pt x="34247" y="273978"/>
                </a:lnTo>
                <a:cubicBezTo>
                  <a:pt x="15346" y="273978"/>
                  <a:pt x="0" y="258632"/>
                  <a:pt x="0" y="239730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7" name="Text 55"/>
          <p:cNvSpPr/>
          <p:nvPr/>
        </p:nvSpPr>
        <p:spPr>
          <a:xfrm>
            <a:off x="6340011" y="4734674"/>
            <a:ext cx="333910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46697" y="4768921"/>
            <a:ext cx="1181528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Subsidy Protection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382035" y="4751798"/>
            <a:ext cx="351034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$20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01483" y="5145640"/>
            <a:ext cx="5411056" cy="410966"/>
          </a:xfrm>
          <a:custGeom>
            <a:avLst/>
            <a:gdLst/>
            <a:ahLst/>
            <a:cxnLst/>
            <a:rect l="l" t="t" r="r" b="b"/>
            <a:pathLst>
              <a:path w="5411056" h="410966">
                <a:moveTo>
                  <a:pt x="34246" y="0"/>
                </a:moveTo>
                <a:lnTo>
                  <a:pt x="5376810" y="0"/>
                </a:lnTo>
                <a:cubicBezTo>
                  <a:pt x="5395724" y="0"/>
                  <a:pt x="5411056" y="15332"/>
                  <a:pt x="5411056" y="34246"/>
                </a:cubicBezTo>
                <a:lnTo>
                  <a:pt x="5411056" y="376720"/>
                </a:lnTo>
                <a:cubicBezTo>
                  <a:pt x="5411056" y="395634"/>
                  <a:pt x="5395724" y="410966"/>
                  <a:pt x="5376810" y="410966"/>
                </a:cubicBezTo>
                <a:lnTo>
                  <a:pt x="34246" y="410966"/>
                </a:lnTo>
                <a:cubicBezTo>
                  <a:pt x="15332" y="410966"/>
                  <a:pt x="0" y="395634"/>
                  <a:pt x="0" y="376720"/>
                </a:cubicBezTo>
                <a:lnTo>
                  <a:pt x="0" y="34246"/>
                </a:lnTo>
                <a:cubicBezTo>
                  <a:pt x="0" y="15345"/>
                  <a:pt x="15345" y="0"/>
                  <a:pt x="3424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369978" y="5214135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34247" y="0"/>
                </a:moveTo>
                <a:lnTo>
                  <a:pt x="239730" y="0"/>
                </a:lnTo>
                <a:cubicBezTo>
                  <a:pt x="258632" y="0"/>
                  <a:pt x="273978" y="15346"/>
                  <a:pt x="273978" y="34247"/>
                </a:cubicBezTo>
                <a:lnTo>
                  <a:pt x="273978" y="239730"/>
                </a:lnTo>
                <a:cubicBezTo>
                  <a:pt x="273978" y="258645"/>
                  <a:pt x="258645" y="273978"/>
                  <a:pt x="239730" y="273978"/>
                </a:cubicBezTo>
                <a:lnTo>
                  <a:pt x="34247" y="273978"/>
                </a:lnTo>
                <a:cubicBezTo>
                  <a:pt x="15346" y="273978"/>
                  <a:pt x="0" y="258632"/>
                  <a:pt x="0" y="239730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62" name="Text 60"/>
          <p:cNvSpPr/>
          <p:nvPr/>
        </p:nvSpPr>
        <p:spPr>
          <a:xfrm>
            <a:off x="6340011" y="5214135"/>
            <a:ext cx="333910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46697" y="5248382"/>
            <a:ext cx="933236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Access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392980" y="5231258"/>
            <a:ext cx="333910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$30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01483" y="5625101"/>
            <a:ext cx="5411056" cy="410966"/>
          </a:xfrm>
          <a:custGeom>
            <a:avLst/>
            <a:gdLst/>
            <a:ahLst/>
            <a:cxnLst/>
            <a:rect l="l" t="t" r="r" b="b"/>
            <a:pathLst>
              <a:path w="5411056" h="410966">
                <a:moveTo>
                  <a:pt x="34246" y="0"/>
                </a:moveTo>
                <a:lnTo>
                  <a:pt x="5376810" y="0"/>
                </a:lnTo>
                <a:cubicBezTo>
                  <a:pt x="5395724" y="0"/>
                  <a:pt x="5411056" y="15332"/>
                  <a:pt x="5411056" y="34246"/>
                </a:cubicBezTo>
                <a:lnTo>
                  <a:pt x="5411056" y="376720"/>
                </a:lnTo>
                <a:cubicBezTo>
                  <a:pt x="5411056" y="395634"/>
                  <a:pt x="5395724" y="410966"/>
                  <a:pt x="5376810" y="410966"/>
                </a:cubicBezTo>
                <a:lnTo>
                  <a:pt x="34246" y="410966"/>
                </a:lnTo>
                <a:cubicBezTo>
                  <a:pt x="15332" y="410966"/>
                  <a:pt x="0" y="395634"/>
                  <a:pt x="0" y="376720"/>
                </a:cubicBezTo>
                <a:lnTo>
                  <a:pt x="0" y="34246"/>
                </a:lnTo>
                <a:cubicBezTo>
                  <a:pt x="0" y="15345"/>
                  <a:pt x="15345" y="0"/>
                  <a:pt x="3424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369978" y="5693596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34247" y="0"/>
                </a:moveTo>
                <a:lnTo>
                  <a:pt x="239730" y="0"/>
                </a:lnTo>
                <a:cubicBezTo>
                  <a:pt x="258632" y="0"/>
                  <a:pt x="273978" y="15346"/>
                  <a:pt x="273978" y="34247"/>
                </a:cubicBezTo>
                <a:lnTo>
                  <a:pt x="273978" y="239730"/>
                </a:lnTo>
                <a:cubicBezTo>
                  <a:pt x="273978" y="258645"/>
                  <a:pt x="258645" y="273978"/>
                  <a:pt x="239730" y="273978"/>
                </a:cubicBezTo>
                <a:lnTo>
                  <a:pt x="34247" y="273978"/>
                </a:lnTo>
                <a:cubicBezTo>
                  <a:pt x="15346" y="273978"/>
                  <a:pt x="0" y="258632"/>
                  <a:pt x="0" y="239730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67" name="Text 65"/>
          <p:cNvSpPr/>
          <p:nvPr/>
        </p:nvSpPr>
        <p:spPr>
          <a:xfrm>
            <a:off x="6340011" y="5693596"/>
            <a:ext cx="333910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746697" y="5727843"/>
            <a:ext cx="1147281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Inclusion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409423" y="5710719"/>
            <a:ext cx="316787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$16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01483" y="6104562"/>
            <a:ext cx="5411056" cy="410966"/>
          </a:xfrm>
          <a:custGeom>
            <a:avLst/>
            <a:gdLst/>
            <a:ahLst/>
            <a:cxnLst/>
            <a:rect l="l" t="t" r="r" b="b"/>
            <a:pathLst>
              <a:path w="5411056" h="410966">
                <a:moveTo>
                  <a:pt x="34246" y="0"/>
                </a:moveTo>
                <a:lnTo>
                  <a:pt x="5376810" y="0"/>
                </a:lnTo>
                <a:cubicBezTo>
                  <a:pt x="5395724" y="0"/>
                  <a:pt x="5411056" y="15332"/>
                  <a:pt x="5411056" y="34246"/>
                </a:cubicBezTo>
                <a:lnTo>
                  <a:pt x="5411056" y="376720"/>
                </a:lnTo>
                <a:cubicBezTo>
                  <a:pt x="5411056" y="395634"/>
                  <a:pt x="5395724" y="410966"/>
                  <a:pt x="5376810" y="410966"/>
                </a:cubicBezTo>
                <a:lnTo>
                  <a:pt x="34246" y="410966"/>
                </a:lnTo>
                <a:cubicBezTo>
                  <a:pt x="15332" y="410966"/>
                  <a:pt x="0" y="395634"/>
                  <a:pt x="0" y="376720"/>
                </a:cubicBezTo>
                <a:lnTo>
                  <a:pt x="0" y="34246"/>
                </a:lnTo>
                <a:cubicBezTo>
                  <a:pt x="0" y="15345"/>
                  <a:pt x="15345" y="0"/>
                  <a:pt x="3424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6369978" y="6173056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34247" y="0"/>
                </a:moveTo>
                <a:lnTo>
                  <a:pt x="239730" y="0"/>
                </a:lnTo>
                <a:cubicBezTo>
                  <a:pt x="258632" y="0"/>
                  <a:pt x="273978" y="15346"/>
                  <a:pt x="273978" y="34247"/>
                </a:cubicBezTo>
                <a:lnTo>
                  <a:pt x="273978" y="239730"/>
                </a:lnTo>
                <a:cubicBezTo>
                  <a:pt x="273978" y="258645"/>
                  <a:pt x="258645" y="273978"/>
                  <a:pt x="239730" y="273978"/>
                </a:cubicBezTo>
                <a:lnTo>
                  <a:pt x="34247" y="273978"/>
                </a:lnTo>
                <a:cubicBezTo>
                  <a:pt x="15346" y="273978"/>
                  <a:pt x="0" y="258632"/>
                  <a:pt x="0" y="239730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340011" y="6173056"/>
            <a:ext cx="333910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746697" y="6207303"/>
            <a:ext cx="958921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Carbon Credits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467653" y="6190180"/>
            <a:ext cx="265416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443" y="360443"/>
            <a:ext cx="54067" cy="360443"/>
          </a:xfrm>
          <a:custGeom>
            <a:avLst/>
            <a:gdLst/>
            <a:ahLst/>
            <a:cxnLst/>
            <a:rect l="l" t="t" r="r" b="b"/>
            <a:pathLst>
              <a:path w="54067" h="360443">
                <a:moveTo>
                  <a:pt x="0" y="0"/>
                </a:moveTo>
                <a:lnTo>
                  <a:pt x="54067" y="0"/>
                </a:lnTo>
                <a:lnTo>
                  <a:pt x="54067" y="360443"/>
                </a:lnTo>
                <a:lnTo>
                  <a:pt x="0" y="360443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" name="Text 1"/>
          <p:cNvSpPr/>
          <p:nvPr/>
        </p:nvSpPr>
        <p:spPr>
          <a:xfrm>
            <a:off x="522643" y="432532"/>
            <a:ext cx="2126616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kern="0" spc="5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0443" y="792976"/>
            <a:ext cx="11633313" cy="405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54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Scaling Strategy: 2026-2030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0443" y="1270563"/>
            <a:ext cx="11552213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Phased approach for regional institutionalization across CIRDAP member countries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0443" y="1685073"/>
            <a:ext cx="3730590" cy="4199166"/>
          </a:xfrm>
          <a:custGeom>
            <a:avLst/>
            <a:gdLst/>
            <a:ahLst/>
            <a:cxnLst/>
            <a:rect l="l" t="t" r="r" b="b"/>
            <a:pathLst>
              <a:path w="3730590" h="4199166">
                <a:moveTo>
                  <a:pt x="36037" y="0"/>
                </a:moveTo>
                <a:lnTo>
                  <a:pt x="3694552" y="0"/>
                </a:lnTo>
                <a:cubicBezTo>
                  <a:pt x="3714455" y="0"/>
                  <a:pt x="3730590" y="16135"/>
                  <a:pt x="3730590" y="36037"/>
                </a:cubicBezTo>
                <a:lnTo>
                  <a:pt x="3730590" y="4163129"/>
                </a:lnTo>
                <a:cubicBezTo>
                  <a:pt x="3730590" y="4183032"/>
                  <a:pt x="3714455" y="4199166"/>
                  <a:pt x="3694552" y="4199166"/>
                </a:cubicBezTo>
                <a:lnTo>
                  <a:pt x="36037" y="4199166"/>
                </a:lnTo>
                <a:cubicBezTo>
                  <a:pt x="16135" y="4199166"/>
                  <a:pt x="0" y="4183032"/>
                  <a:pt x="0" y="4163129"/>
                </a:cubicBezTo>
                <a:lnTo>
                  <a:pt x="0" y="36037"/>
                </a:lnTo>
                <a:cubicBezTo>
                  <a:pt x="0" y="16148"/>
                  <a:pt x="16148" y="0"/>
                  <a:pt x="360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033" dist="901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0443" y="1685073"/>
            <a:ext cx="3730590" cy="36044"/>
          </a:xfrm>
          <a:custGeom>
            <a:avLst/>
            <a:gdLst/>
            <a:ahLst/>
            <a:cxnLst/>
            <a:rect l="l" t="t" r="r" b="b"/>
            <a:pathLst>
              <a:path w="3730590" h="36044">
                <a:moveTo>
                  <a:pt x="36044" y="0"/>
                </a:moveTo>
                <a:lnTo>
                  <a:pt x="3694545" y="0"/>
                </a:lnTo>
                <a:cubicBezTo>
                  <a:pt x="3714452" y="0"/>
                  <a:pt x="3730590" y="16138"/>
                  <a:pt x="3730590" y="36044"/>
                </a:cubicBezTo>
                <a:lnTo>
                  <a:pt x="3730590" y="36044"/>
                </a:lnTo>
                <a:lnTo>
                  <a:pt x="0" y="36044"/>
                </a:ln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Shape 6"/>
          <p:cNvSpPr/>
          <p:nvPr/>
        </p:nvSpPr>
        <p:spPr>
          <a:xfrm>
            <a:off x="540665" y="1883317"/>
            <a:ext cx="576710" cy="576710"/>
          </a:xfrm>
          <a:custGeom>
            <a:avLst/>
            <a:gdLst/>
            <a:ahLst/>
            <a:cxnLst/>
            <a:rect l="l" t="t" r="r" b="b"/>
            <a:pathLst>
              <a:path w="576710" h="576710">
                <a:moveTo>
                  <a:pt x="36044" y="0"/>
                </a:moveTo>
                <a:lnTo>
                  <a:pt x="540665" y="0"/>
                </a:lnTo>
                <a:cubicBezTo>
                  <a:pt x="560572" y="0"/>
                  <a:pt x="576710" y="16138"/>
                  <a:pt x="576710" y="36044"/>
                </a:cubicBezTo>
                <a:lnTo>
                  <a:pt x="576710" y="540665"/>
                </a:lnTo>
                <a:cubicBezTo>
                  <a:pt x="576710" y="560572"/>
                  <a:pt x="560572" y="576710"/>
                  <a:pt x="540665" y="576710"/>
                </a:cubicBezTo>
                <a:lnTo>
                  <a:pt x="36044" y="576710"/>
                </a:lnTo>
                <a:cubicBezTo>
                  <a:pt x="16138" y="576710"/>
                  <a:pt x="0" y="560572"/>
                  <a:pt x="0" y="540665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686788" y="2009472"/>
            <a:ext cx="423521" cy="32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Y1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5507" y="1919361"/>
            <a:ext cx="2050685" cy="14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3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Pilot Phase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5508" y="2207716"/>
            <a:ext cx="1090341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0665" y="2604204"/>
            <a:ext cx="3370146" cy="720887"/>
          </a:xfrm>
          <a:custGeom>
            <a:avLst/>
            <a:gdLst/>
            <a:ahLst/>
            <a:cxnLst/>
            <a:rect l="l" t="t" r="r" b="b"/>
            <a:pathLst>
              <a:path w="3370146" h="720887">
                <a:moveTo>
                  <a:pt x="36044" y="0"/>
                </a:moveTo>
                <a:lnTo>
                  <a:pt x="3334102" y="0"/>
                </a:lnTo>
                <a:cubicBezTo>
                  <a:pt x="3354009" y="0"/>
                  <a:pt x="3370146" y="16138"/>
                  <a:pt x="3370146" y="36044"/>
                </a:cubicBezTo>
                <a:lnTo>
                  <a:pt x="3370146" y="684843"/>
                </a:lnTo>
                <a:cubicBezTo>
                  <a:pt x="3370146" y="704749"/>
                  <a:pt x="3354009" y="720887"/>
                  <a:pt x="3334102" y="720887"/>
                </a:cubicBezTo>
                <a:lnTo>
                  <a:pt x="36044" y="720887"/>
                </a:lnTo>
                <a:cubicBezTo>
                  <a:pt x="16138" y="720887"/>
                  <a:pt x="0" y="704749"/>
                  <a:pt x="0" y="684843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8798" y="2766404"/>
            <a:ext cx="180222" cy="144177"/>
          </a:xfrm>
          <a:custGeom>
            <a:avLst/>
            <a:gdLst/>
            <a:ahLst/>
            <a:cxnLst/>
            <a:rect l="l" t="t" r="r" b="b"/>
            <a:pathLst>
              <a:path w="180222" h="144177">
                <a:moveTo>
                  <a:pt x="90111" y="4506"/>
                </a:moveTo>
                <a:cubicBezTo>
                  <a:pt x="106274" y="4506"/>
                  <a:pt x="119397" y="17628"/>
                  <a:pt x="119397" y="33792"/>
                </a:cubicBezTo>
                <a:cubicBezTo>
                  <a:pt x="119397" y="49955"/>
                  <a:pt x="106274" y="63078"/>
                  <a:pt x="90111" y="63078"/>
                </a:cubicBezTo>
                <a:cubicBezTo>
                  <a:pt x="73947" y="63078"/>
                  <a:pt x="60825" y="49955"/>
                  <a:pt x="60825" y="33792"/>
                </a:cubicBezTo>
                <a:cubicBezTo>
                  <a:pt x="60825" y="17628"/>
                  <a:pt x="73947" y="4506"/>
                  <a:pt x="90111" y="4506"/>
                </a:cubicBezTo>
                <a:close/>
                <a:moveTo>
                  <a:pt x="27033" y="24780"/>
                </a:moveTo>
                <a:cubicBezTo>
                  <a:pt x="38223" y="24780"/>
                  <a:pt x="47308" y="33865"/>
                  <a:pt x="47308" y="45055"/>
                </a:cubicBezTo>
                <a:cubicBezTo>
                  <a:pt x="47308" y="56245"/>
                  <a:pt x="38223" y="65330"/>
                  <a:pt x="27033" y="65330"/>
                </a:cubicBezTo>
                <a:cubicBezTo>
                  <a:pt x="15843" y="65330"/>
                  <a:pt x="6758" y="56245"/>
                  <a:pt x="6758" y="45055"/>
                </a:cubicBezTo>
                <a:cubicBezTo>
                  <a:pt x="6758" y="33865"/>
                  <a:pt x="15843" y="24780"/>
                  <a:pt x="27033" y="24780"/>
                </a:cubicBezTo>
                <a:close/>
                <a:moveTo>
                  <a:pt x="0" y="117144"/>
                </a:moveTo>
                <a:cubicBezTo>
                  <a:pt x="0" y="97235"/>
                  <a:pt x="16135" y="81100"/>
                  <a:pt x="36044" y="81100"/>
                </a:cubicBezTo>
                <a:cubicBezTo>
                  <a:pt x="39649" y="81100"/>
                  <a:pt x="43141" y="81635"/>
                  <a:pt x="46435" y="82620"/>
                </a:cubicBezTo>
                <a:cubicBezTo>
                  <a:pt x="37171" y="92983"/>
                  <a:pt x="31539" y="106669"/>
                  <a:pt x="31539" y="121650"/>
                </a:cubicBezTo>
                <a:lnTo>
                  <a:pt x="31539" y="126155"/>
                </a:lnTo>
                <a:cubicBezTo>
                  <a:pt x="31539" y="129365"/>
                  <a:pt x="32215" y="132407"/>
                  <a:pt x="33425" y="135166"/>
                </a:cubicBezTo>
                <a:lnTo>
                  <a:pt x="9011" y="135166"/>
                </a:lnTo>
                <a:cubicBezTo>
                  <a:pt x="4027" y="135166"/>
                  <a:pt x="0" y="131139"/>
                  <a:pt x="0" y="126155"/>
                </a:cubicBezTo>
                <a:lnTo>
                  <a:pt x="0" y="117144"/>
                </a:lnTo>
                <a:close/>
                <a:moveTo>
                  <a:pt x="146796" y="135166"/>
                </a:moveTo>
                <a:cubicBezTo>
                  <a:pt x="148007" y="132407"/>
                  <a:pt x="148683" y="129365"/>
                  <a:pt x="148683" y="126155"/>
                </a:cubicBezTo>
                <a:lnTo>
                  <a:pt x="148683" y="121650"/>
                </a:lnTo>
                <a:cubicBezTo>
                  <a:pt x="148683" y="106669"/>
                  <a:pt x="143051" y="92983"/>
                  <a:pt x="133786" y="82620"/>
                </a:cubicBezTo>
                <a:cubicBezTo>
                  <a:pt x="137081" y="81635"/>
                  <a:pt x="140573" y="81100"/>
                  <a:pt x="144177" y="81100"/>
                </a:cubicBezTo>
                <a:cubicBezTo>
                  <a:pt x="164086" y="81100"/>
                  <a:pt x="180222" y="97235"/>
                  <a:pt x="180222" y="117144"/>
                </a:cubicBezTo>
                <a:lnTo>
                  <a:pt x="180222" y="126155"/>
                </a:lnTo>
                <a:cubicBezTo>
                  <a:pt x="180222" y="131139"/>
                  <a:pt x="176195" y="135166"/>
                  <a:pt x="171211" y="135166"/>
                </a:cubicBezTo>
                <a:lnTo>
                  <a:pt x="146796" y="135166"/>
                </a:lnTo>
                <a:close/>
                <a:moveTo>
                  <a:pt x="132914" y="45055"/>
                </a:moveTo>
                <a:cubicBezTo>
                  <a:pt x="132914" y="33865"/>
                  <a:pt x="141998" y="24780"/>
                  <a:pt x="153188" y="24780"/>
                </a:cubicBezTo>
                <a:cubicBezTo>
                  <a:pt x="164379" y="24780"/>
                  <a:pt x="173463" y="33865"/>
                  <a:pt x="173463" y="45055"/>
                </a:cubicBezTo>
                <a:cubicBezTo>
                  <a:pt x="173463" y="56245"/>
                  <a:pt x="164379" y="65330"/>
                  <a:pt x="153188" y="65330"/>
                </a:cubicBezTo>
                <a:cubicBezTo>
                  <a:pt x="141998" y="65330"/>
                  <a:pt x="132914" y="56245"/>
                  <a:pt x="132914" y="45055"/>
                </a:cubicBezTo>
                <a:close/>
                <a:moveTo>
                  <a:pt x="45055" y="121650"/>
                </a:moveTo>
                <a:cubicBezTo>
                  <a:pt x="45055" y="96757"/>
                  <a:pt x="65218" y="76594"/>
                  <a:pt x="90111" y="76594"/>
                </a:cubicBezTo>
                <a:cubicBezTo>
                  <a:pt x="115004" y="76594"/>
                  <a:pt x="135166" y="96757"/>
                  <a:pt x="135166" y="121650"/>
                </a:cubicBezTo>
                <a:lnTo>
                  <a:pt x="135166" y="126155"/>
                </a:lnTo>
                <a:cubicBezTo>
                  <a:pt x="135166" y="131139"/>
                  <a:pt x="131139" y="135166"/>
                  <a:pt x="126155" y="135166"/>
                </a:cubicBezTo>
                <a:lnTo>
                  <a:pt x="54067" y="135166"/>
                </a:lnTo>
                <a:cubicBezTo>
                  <a:pt x="49082" y="135166"/>
                  <a:pt x="45055" y="131139"/>
                  <a:pt x="45055" y="126155"/>
                </a:cubicBezTo>
                <a:lnTo>
                  <a:pt x="45055" y="12165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901109" y="2712337"/>
            <a:ext cx="901109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500 Farmers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798" y="3000692"/>
            <a:ext cx="322596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enrollment and training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0665" y="3397180"/>
            <a:ext cx="3370146" cy="720887"/>
          </a:xfrm>
          <a:custGeom>
            <a:avLst/>
            <a:gdLst/>
            <a:ahLst/>
            <a:cxnLst/>
            <a:rect l="l" t="t" r="r" b="b"/>
            <a:pathLst>
              <a:path w="3370146" h="720887">
                <a:moveTo>
                  <a:pt x="36044" y="0"/>
                </a:moveTo>
                <a:lnTo>
                  <a:pt x="3334102" y="0"/>
                </a:lnTo>
                <a:cubicBezTo>
                  <a:pt x="3354009" y="0"/>
                  <a:pt x="3370146" y="16138"/>
                  <a:pt x="3370146" y="36044"/>
                </a:cubicBezTo>
                <a:lnTo>
                  <a:pt x="3370146" y="684843"/>
                </a:lnTo>
                <a:cubicBezTo>
                  <a:pt x="3370146" y="704749"/>
                  <a:pt x="3354009" y="720887"/>
                  <a:pt x="3334102" y="720887"/>
                </a:cubicBezTo>
                <a:lnTo>
                  <a:pt x="36044" y="720887"/>
                </a:lnTo>
                <a:cubicBezTo>
                  <a:pt x="16138" y="720887"/>
                  <a:pt x="0" y="704749"/>
                  <a:pt x="0" y="684843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75831" y="3559379"/>
            <a:ext cx="126155" cy="144177"/>
          </a:xfrm>
          <a:custGeom>
            <a:avLst/>
            <a:gdLst/>
            <a:ahLst/>
            <a:cxnLst/>
            <a:rect l="l" t="t" r="r" b="b"/>
            <a:pathLst>
              <a:path w="126155" h="144177">
                <a:moveTo>
                  <a:pt x="67949" y="-3661"/>
                </a:moveTo>
                <a:cubicBezTo>
                  <a:pt x="64739" y="-4308"/>
                  <a:pt x="61444" y="-4308"/>
                  <a:pt x="58234" y="-3661"/>
                </a:cubicBezTo>
                <a:lnTo>
                  <a:pt x="5435" y="6899"/>
                </a:lnTo>
                <a:cubicBezTo>
                  <a:pt x="2281" y="7519"/>
                  <a:pt x="0" y="10306"/>
                  <a:pt x="0" y="13517"/>
                </a:cubicBezTo>
                <a:cubicBezTo>
                  <a:pt x="0" y="16417"/>
                  <a:pt x="1830" y="18951"/>
                  <a:pt x="4506" y="19881"/>
                </a:cubicBezTo>
                <a:lnTo>
                  <a:pt x="4506" y="40550"/>
                </a:lnTo>
                <a:lnTo>
                  <a:pt x="84" y="62683"/>
                </a:lnTo>
                <a:cubicBezTo>
                  <a:pt x="28" y="62937"/>
                  <a:pt x="0" y="63218"/>
                  <a:pt x="0" y="63500"/>
                </a:cubicBezTo>
                <a:cubicBezTo>
                  <a:pt x="0" y="65753"/>
                  <a:pt x="1830" y="67611"/>
                  <a:pt x="4111" y="67611"/>
                </a:cubicBezTo>
                <a:lnTo>
                  <a:pt x="13939" y="67611"/>
                </a:lnTo>
                <a:cubicBezTo>
                  <a:pt x="16192" y="67611"/>
                  <a:pt x="18050" y="65781"/>
                  <a:pt x="18050" y="63500"/>
                </a:cubicBezTo>
                <a:cubicBezTo>
                  <a:pt x="18050" y="63218"/>
                  <a:pt x="18022" y="62965"/>
                  <a:pt x="17966" y="62683"/>
                </a:cubicBezTo>
                <a:lnTo>
                  <a:pt x="13517" y="40550"/>
                </a:lnTo>
                <a:lnTo>
                  <a:pt x="13517" y="21767"/>
                </a:lnTo>
                <a:lnTo>
                  <a:pt x="27033" y="24471"/>
                </a:lnTo>
                <a:lnTo>
                  <a:pt x="27033" y="40550"/>
                </a:lnTo>
                <a:cubicBezTo>
                  <a:pt x="27033" y="60459"/>
                  <a:pt x="43169" y="76594"/>
                  <a:pt x="63078" y="76594"/>
                </a:cubicBezTo>
                <a:cubicBezTo>
                  <a:pt x="82986" y="76594"/>
                  <a:pt x="99122" y="60459"/>
                  <a:pt x="99122" y="40550"/>
                </a:cubicBezTo>
                <a:lnTo>
                  <a:pt x="99122" y="24471"/>
                </a:lnTo>
                <a:lnTo>
                  <a:pt x="120720" y="20162"/>
                </a:lnTo>
                <a:cubicBezTo>
                  <a:pt x="123874" y="19515"/>
                  <a:pt x="126155" y="16727"/>
                  <a:pt x="126155" y="13517"/>
                </a:cubicBezTo>
                <a:cubicBezTo>
                  <a:pt x="126155" y="10306"/>
                  <a:pt x="123874" y="7519"/>
                  <a:pt x="120720" y="6899"/>
                </a:cubicBezTo>
                <a:lnTo>
                  <a:pt x="67949" y="-3661"/>
                </a:lnTo>
                <a:close/>
                <a:moveTo>
                  <a:pt x="63078" y="63078"/>
                </a:moveTo>
                <a:cubicBezTo>
                  <a:pt x="50631" y="63078"/>
                  <a:pt x="40550" y="52996"/>
                  <a:pt x="40550" y="40550"/>
                </a:cubicBezTo>
                <a:lnTo>
                  <a:pt x="85605" y="40550"/>
                </a:lnTo>
                <a:cubicBezTo>
                  <a:pt x="85605" y="52996"/>
                  <a:pt x="75524" y="63078"/>
                  <a:pt x="63078" y="63078"/>
                </a:cubicBezTo>
                <a:close/>
                <a:moveTo>
                  <a:pt x="33820" y="90139"/>
                </a:moveTo>
                <a:cubicBezTo>
                  <a:pt x="16530" y="98080"/>
                  <a:pt x="4506" y="115539"/>
                  <a:pt x="4506" y="135814"/>
                </a:cubicBezTo>
                <a:cubicBezTo>
                  <a:pt x="4506" y="140432"/>
                  <a:pt x="8251" y="144177"/>
                  <a:pt x="12869" y="144177"/>
                </a:cubicBezTo>
                <a:lnTo>
                  <a:pt x="56319" y="144177"/>
                </a:lnTo>
                <a:lnTo>
                  <a:pt x="56319" y="103064"/>
                </a:lnTo>
                <a:lnTo>
                  <a:pt x="40156" y="90956"/>
                </a:lnTo>
                <a:cubicBezTo>
                  <a:pt x="38325" y="89576"/>
                  <a:pt x="35875" y="89210"/>
                  <a:pt x="33792" y="90167"/>
                </a:cubicBezTo>
                <a:close/>
                <a:moveTo>
                  <a:pt x="69836" y="144177"/>
                </a:moveTo>
                <a:lnTo>
                  <a:pt x="113286" y="144177"/>
                </a:lnTo>
                <a:cubicBezTo>
                  <a:pt x="117904" y="144177"/>
                  <a:pt x="121650" y="140432"/>
                  <a:pt x="121650" y="135814"/>
                </a:cubicBezTo>
                <a:cubicBezTo>
                  <a:pt x="121650" y="115539"/>
                  <a:pt x="109625" y="98080"/>
                  <a:pt x="92335" y="90167"/>
                </a:cubicBezTo>
                <a:cubicBezTo>
                  <a:pt x="90252" y="89210"/>
                  <a:pt x="87802" y="89576"/>
                  <a:pt x="85971" y="90956"/>
                </a:cubicBezTo>
                <a:lnTo>
                  <a:pt x="69808" y="103064"/>
                </a:lnTo>
                <a:lnTo>
                  <a:pt x="69808" y="144177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8" name="Text 16"/>
          <p:cNvSpPr/>
          <p:nvPr/>
        </p:nvSpPr>
        <p:spPr>
          <a:xfrm>
            <a:off x="901109" y="3505313"/>
            <a:ext cx="1027264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50 Facilitators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8798" y="3793667"/>
            <a:ext cx="322596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NEET youth network activation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0665" y="4190155"/>
            <a:ext cx="3370146" cy="720887"/>
          </a:xfrm>
          <a:custGeom>
            <a:avLst/>
            <a:gdLst/>
            <a:ahLst/>
            <a:cxnLst/>
            <a:rect l="l" t="t" r="r" b="b"/>
            <a:pathLst>
              <a:path w="3370146" h="720887">
                <a:moveTo>
                  <a:pt x="36044" y="0"/>
                </a:moveTo>
                <a:lnTo>
                  <a:pt x="3334102" y="0"/>
                </a:lnTo>
                <a:cubicBezTo>
                  <a:pt x="3354009" y="0"/>
                  <a:pt x="3370146" y="16138"/>
                  <a:pt x="3370146" y="36044"/>
                </a:cubicBezTo>
                <a:lnTo>
                  <a:pt x="3370146" y="684843"/>
                </a:lnTo>
                <a:cubicBezTo>
                  <a:pt x="3370146" y="704749"/>
                  <a:pt x="3354009" y="720887"/>
                  <a:pt x="3334102" y="720887"/>
                </a:cubicBezTo>
                <a:lnTo>
                  <a:pt x="36044" y="720887"/>
                </a:lnTo>
                <a:cubicBezTo>
                  <a:pt x="16138" y="720887"/>
                  <a:pt x="0" y="704749"/>
                  <a:pt x="0" y="684843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6820" y="4352355"/>
            <a:ext cx="144177" cy="144177"/>
          </a:xfrm>
          <a:custGeom>
            <a:avLst/>
            <a:gdLst/>
            <a:ahLst/>
            <a:cxnLst/>
            <a:rect l="l" t="t" r="r" b="b"/>
            <a:pathLst>
              <a:path w="144177" h="144177">
                <a:moveTo>
                  <a:pt x="49561" y="6758"/>
                </a:moveTo>
                <a:cubicBezTo>
                  <a:pt x="49561" y="3013"/>
                  <a:pt x="46548" y="0"/>
                  <a:pt x="42803" y="0"/>
                </a:cubicBezTo>
                <a:cubicBezTo>
                  <a:pt x="39057" y="0"/>
                  <a:pt x="36044" y="3013"/>
                  <a:pt x="36044" y="6758"/>
                </a:cubicBezTo>
                <a:lnTo>
                  <a:pt x="36044" y="18022"/>
                </a:lnTo>
                <a:cubicBezTo>
                  <a:pt x="26104" y="18022"/>
                  <a:pt x="18022" y="26104"/>
                  <a:pt x="18022" y="36044"/>
                </a:cubicBezTo>
                <a:lnTo>
                  <a:pt x="6758" y="36044"/>
                </a:lnTo>
                <a:cubicBezTo>
                  <a:pt x="3013" y="36044"/>
                  <a:pt x="0" y="39057"/>
                  <a:pt x="0" y="42803"/>
                </a:cubicBezTo>
                <a:cubicBezTo>
                  <a:pt x="0" y="46548"/>
                  <a:pt x="3013" y="49561"/>
                  <a:pt x="6758" y="49561"/>
                </a:cubicBezTo>
                <a:lnTo>
                  <a:pt x="18022" y="49561"/>
                </a:lnTo>
                <a:lnTo>
                  <a:pt x="18022" y="65330"/>
                </a:lnTo>
                <a:lnTo>
                  <a:pt x="6758" y="65330"/>
                </a:lnTo>
                <a:cubicBezTo>
                  <a:pt x="3013" y="65330"/>
                  <a:pt x="0" y="68343"/>
                  <a:pt x="0" y="72089"/>
                </a:cubicBezTo>
                <a:cubicBezTo>
                  <a:pt x="0" y="75834"/>
                  <a:pt x="3013" y="78847"/>
                  <a:pt x="6758" y="78847"/>
                </a:cubicBezTo>
                <a:lnTo>
                  <a:pt x="18022" y="78847"/>
                </a:lnTo>
                <a:lnTo>
                  <a:pt x="18022" y="94616"/>
                </a:lnTo>
                <a:lnTo>
                  <a:pt x="6758" y="94616"/>
                </a:lnTo>
                <a:cubicBezTo>
                  <a:pt x="3013" y="94616"/>
                  <a:pt x="0" y="97629"/>
                  <a:pt x="0" y="101375"/>
                </a:cubicBezTo>
                <a:cubicBezTo>
                  <a:pt x="0" y="105120"/>
                  <a:pt x="3013" y="108133"/>
                  <a:pt x="6758" y="108133"/>
                </a:cubicBezTo>
                <a:lnTo>
                  <a:pt x="18022" y="108133"/>
                </a:lnTo>
                <a:cubicBezTo>
                  <a:pt x="18022" y="118073"/>
                  <a:pt x="26104" y="126155"/>
                  <a:pt x="36044" y="126155"/>
                </a:cubicBezTo>
                <a:lnTo>
                  <a:pt x="36044" y="137419"/>
                </a:lnTo>
                <a:cubicBezTo>
                  <a:pt x="36044" y="141164"/>
                  <a:pt x="39057" y="144177"/>
                  <a:pt x="42803" y="144177"/>
                </a:cubicBezTo>
                <a:cubicBezTo>
                  <a:pt x="46548" y="144177"/>
                  <a:pt x="49561" y="141164"/>
                  <a:pt x="49561" y="137419"/>
                </a:cubicBezTo>
                <a:lnTo>
                  <a:pt x="49561" y="126155"/>
                </a:lnTo>
                <a:lnTo>
                  <a:pt x="65330" y="126155"/>
                </a:lnTo>
                <a:lnTo>
                  <a:pt x="65330" y="137419"/>
                </a:lnTo>
                <a:cubicBezTo>
                  <a:pt x="65330" y="141164"/>
                  <a:pt x="68343" y="144177"/>
                  <a:pt x="72089" y="144177"/>
                </a:cubicBezTo>
                <a:cubicBezTo>
                  <a:pt x="75834" y="144177"/>
                  <a:pt x="78847" y="141164"/>
                  <a:pt x="78847" y="137419"/>
                </a:cubicBezTo>
                <a:lnTo>
                  <a:pt x="78847" y="126155"/>
                </a:lnTo>
                <a:lnTo>
                  <a:pt x="94616" y="126155"/>
                </a:lnTo>
                <a:lnTo>
                  <a:pt x="94616" y="137419"/>
                </a:lnTo>
                <a:cubicBezTo>
                  <a:pt x="94616" y="141164"/>
                  <a:pt x="97629" y="144177"/>
                  <a:pt x="101375" y="144177"/>
                </a:cubicBezTo>
                <a:cubicBezTo>
                  <a:pt x="105120" y="144177"/>
                  <a:pt x="108133" y="141164"/>
                  <a:pt x="108133" y="137419"/>
                </a:cubicBezTo>
                <a:lnTo>
                  <a:pt x="108133" y="126155"/>
                </a:lnTo>
                <a:cubicBezTo>
                  <a:pt x="118073" y="126155"/>
                  <a:pt x="126155" y="118073"/>
                  <a:pt x="126155" y="108133"/>
                </a:cubicBezTo>
                <a:lnTo>
                  <a:pt x="137419" y="108133"/>
                </a:lnTo>
                <a:cubicBezTo>
                  <a:pt x="141164" y="108133"/>
                  <a:pt x="144177" y="105120"/>
                  <a:pt x="144177" y="101375"/>
                </a:cubicBezTo>
                <a:cubicBezTo>
                  <a:pt x="144177" y="97629"/>
                  <a:pt x="141164" y="94616"/>
                  <a:pt x="137419" y="94616"/>
                </a:cubicBezTo>
                <a:lnTo>
                  <a:pt x="126155" y="94616"/>
                </a:lnTo>
                <a:lnTo>
                  <a:pt x="126155" y="78847"/>
                </a:lnTo>
                <a:lnTo>
                  <a:pt x="137419" y="78847"/>
                </a:lnTo>
                <a:cubicBezTo>
                  <a:pt x="141164" y="78847"/>
                  <a:pt x="144177" y="75834"/>
                  <a:pt x="144177" y="72089"/>
                </a:cubicBezTo>
                <a:cubicBezTo>
                  <a:pt x="144177" y="68343"/>
                  <a:pt x="141164" y="65330"/>
                  <a:pt x="137419" y="65330"/>
                </a:cubicBezTo>
                <a:lnTo>
                  <a:pt x="126155" y="65330"/>
                </a:lnTo>
                <a:lnTo>
                  <a:pt x="126155" y="49561"/>
                </a:lnTo>
                <a:lnTo>
                  <a:pt x="137419" y="49561"/>
                </a:lnTo>
                <a:cubicBezTo>
                  <a:pt x="141164" y="49561"/>
                  <a:pt x="144177" y="46548"/>
                  <a:pt x="144177" y="42803"/>
                </a:cubicBezTo>
                <a:cubicBezTo>
                  <a:pt x="144177" y="39057"/>
                  <a:pt x="141164" y="36044"/>
                  <a:pt x="137419" y="36044"/>
                </a:cubicBezTo>
                <a:lnTo>
                  <a:pt x="126155" y="36044"/>
                </a:lnTo>
                <a:cubicBezTo>
                  <a:pt x="126155" y="26104"/>
                  <a:pt x="118073" y="18022"/>
                  <a:pt x="108133" y="18022"/>
                </a:cubicBezTo>
                <a:lnTo>
                  <a:pt x="108133" y="6758"/>
                </a:lnTo>
                <a:cubicBezTo>
                  <a:pt x="108133" y="3013"/>
                  <a:pt x="105120" y="0"/>
                  <a:pt x="101375" y="0"/>
                </a:cubicBezTo>
                <a:cubicBezTo>
                  <a:pt x="97629" y="0"/>
                  <a:pt x="94616" y="3013"/>
                  <a:pt x="94616" y="6758"/>
                </a:cubicBezTo>
                <a:lnTo>
                  <a:pt x="94616" y="18022"/>
                </a:lnTo>
                <a:lnTo>
                  <a:pt x="78847" y="18022"/>
                </a:lnTo>
                <a:lnTo>
                  <a:pt x="78847" y="6758"/>
                </a:lnTo>
                <a:cubicBezTo>
                  <a:pt x="78847" y="3013"/>
                  <a:pt x="75834" y="0"/>
                  <a:pt x="72089" y="0"/>
                </a:cubicBezTo>
                <a:cubicBezTo>
                  <a:pt x="68343" y="0"/>
                  <a:pt x="65330" y="3013"/>
                  <a:pt x="65330" y="6758"/>
                </a:cubicBezTo>
                <a:lnTo>
                  <a:pt x="65330" y="18022"/>
                </a:lnTo>
                <a:lnTo>
                  <a:pt x="49561" y="18022"/>
                </a:lnTo>
                <a:lnTo>
                  <a:pt x="49561" y="6758"/>
                </a:lnTo>
                <a:close/>
                <a:moveTo>
                  <a:pt x="45055" y="36044"/>
                </a:moveTo>
                <a:lnTo>
                  <a:pt x="99122" y="36044"/>
                </a:lnTo>
                <a:cubicBezTo>
                  <a:pt x="104106" y="36044"/>
                  <a:pt x="108133" y="40071"/>
                  <a:pt x="108133" y="45055"/>
                </a:cubicBezTo>
                <a:lnTo>
                  <a:pt x="108133" y="99122"/>
                </a:lnTo>
                <a:cubicBezTo>
                  <a:pt x="108133" y="104106"/>
                  <a:pt x="104106" y="108133"/>
                  <a:pt x="99122" y="108133"/>
                </a:cubicBezTo>
                <a:lnTo>
                  <a:pt x="45055" y="108133"/>
                </a:lnTo>
                <a:cubicBezTo>
                  <a:pt x="40071" y="108133"/>
                  <a:pt x="36044" y="104106"/>
                  <a:pt x="36044" y="99122"/>
                </a:cubicBezTo>
                <a:lnTo>
                  <a:pt x="36044" y="45055"/>
                </a:lnTo>
                <a:cubicBezTo>
                  <a:pt x="36044" y="40071"/>
                  <a:pt x="40071" y="36044"/>
                  <a:pt x="45055" y="36044"/>
                </a:cubicBezTo>
                <a:close/>
                <a:moveTo>
                  <a:pt x="49561" y="49561"/>
                </a:moveTo>
                <a:lnTo>
                  <a:pt x="49561" y="94616"/>
                </a:lnTo>
                <a:lnTo>
                  <a:pt x="94616" y="94616"/>
                </a:lnTo>
                <a:lnTo>
                  <a:pt x="94616" y="49561"/>
                </a:lnTo>
                <a:lnTo>
                  <a:pt x="49561" y="49561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2" name="Text 20"/>
          <p:cNvSpPr/>
          <p:nvPr/>
        </p:nvSpPr>
        <p:spPr>
          <a:xfrm>
            <a:off x="901109" y="4298288"/>
            <a:ext cx="892098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100 Sensors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8798" y="4586643"/>
            <a:ext cx="322596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12-parameter soil analysis deployment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0665" y="4983131"/>
            <a:ext cx="3370146" cy="720887"/>
          </a:xfrm>
          <a:custGeom>
            <a:avLst/>
            <a:gdLst/>
            <a:ahLst/>
            <a:cxnLst/>
            <a:rect l="l" t="t" r="r" b="b"/>
            <a:pathLst>
              <a:path w="3370146" h="720887">
                <a:moveTo>
                  <a:pt x="36044" y="0"/>
                </a:moveTo>
                <a:lnTo>
                  <a:pt x="3334102" y="0"/>
                </a:lnTo>
                <a:cubicBezTo>
                  <a:pt x="3354009" y="0"/>
                  <a:pt x="3370146" y="16138"/>
                  <a:pt x="3370146" y="36044"/>
                </a:cubicBezTo>
                <a:lnTo>
                  <a:pt x="3370146" y="684843"/>
                </a:lnTo>
                <a:cubicBezTo>
                  <a:pt x="3370146" y="704749"/>
                  <a:pt x="3354009" y="720887"/>
                  <a:pt x="3334102" y="720887"/>
                </a:cubicBezTo>
                <a:lnTo>
                  <a:pt x="36044" y="720887"/>
                </a:lnTo>
                <a:cubicBezTo>
                  <a:pt x="16138" y="720887"/>
                  <a:pt x="0" y="704749"/>
                  <a:pt x="0" y="684843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66820" y="5145330"/>
            <a:ext cx="144177" cy="144177"/>
          </a:xfrm>
          <a:custGeom>
            <a:avLst/>
            <a:gdLst/>
            <a:ahLst/>
            <a:cxnLst/>
            <a:rect l="l" t="t" r="r" b="b"/>
            <a:pathLst>
              <a:path w="144177" h="144177">
                <a:moveTo>
                  <a:pt x="0" y="36044"/>
                </a:moveTo>
                <a:lnTo>
                  <a:pt x="0" y="45055"/>
                </a:lnTo>
                <a:lnTo>
                  <a:pt x="144177" y="45055"/>
                </a:lnTo>
                <a:lnTo>
                  <a:pt x="144177" y="36044"/>
                </a:lnTo>
                <a:cubicBezTo>
                  <a:pt x="144177" y="26104"/>
                  <a:pt x="136096" y="18022"/>
                  <a:pt x="126155" y="18022"/>
                </a:cubicBezTo>
                <a:lnTo>
                  <a:pt x="18022" y="18022"/>
                </a:lnTo>
                <a:cubicBezTo>
                  <a:pt x="8082" y="18022"/>
                  <a:pt x="0" y="26104"/>
                  <a:pt x="0" y="36044"/>
                </a:cubicBezTo>
                <a:close/>
                <a:moveTo>
                  <a:pt x="0" y="58572"/>
                </a:moveTo>
                <a:lnTo>
                  <a:pt x="0" y="108133"/>
                </a:lnTo>
                <a:cubicBezTo>
                  <a:pt x="0" y="118073"/>
                  <a:pt x="8082" y="126155"/>
                  <a:pt x="18022" y="126155"/>
                </a:cubicBezTo>
                <a:lnTo>
                  <a:pt x="126155" y="126155"/>
                </a:lnTo>
                <a:cubicBezTo>
                  <a:pt x="136096" y="126155"/>
                  <a:pt x="144177" y="118073"/>
                  <a:pt x="144177" y="108133"/>
                </a:cubicBezTo>
                <a:lnTo>
                  <a:pt x="144177" y="58572"/>
                </a:lnTo>
                <a:lnTo>
                  <a:pt x="0" y="58572"/>
                </a:lnTo>
                <a:close/>
                <a:moveTo>
                  <a:pt x="18022" y="101375"/>
                </a:moveTo>
                <a:cubicBezTo>
                  <a:pt x="18022" y="97629"/>
                  <a:pt x="21035" y="94616"/>
                  <a:pt x="24780" y="94616"/>
                </a:cubicBezTo>
                <a:lnTo>
                  <a:pt x="38297" y="94616"/>
                </a:lnTo>
                <a:cubicBezTo>
                  <a:pt x="42042" y="94616"/>
                  <a:pt x="45055" y="97629"/>
                  <a:pt x="45055" y="101375"/>
                </a:cubicBezTo>
                <a:cubicBezTo>
                  <a:pt x="45055" y="105120"/>
                  <a:pt x="42042" y="108133"/>
                  <a:pt x="38297" y="108133"/>
                </a:cubicBezTo>
                <a:lnTo>
                  <a:pt x="24780" y="108133"/>
                </a:lnTo>
                <a:cubicBezTo>
                  <a:pt x="21035" y="108133"/>
                  <a:pt x="18022" y="105120"/>
                  <a:pt x="18022" y="101375"/>
                </a:cubicBezTo>
                <a:close/>
                <a:moveTo>
                  <a:pt x="58572" y="101375"/>
                </a:moveTo>
                <a:cubicBezTo>
                  <a:pt x="58572" y="97629"/>
                  <a:pt x="61585" y="94616"/>
                  <a:pt x="65330" y="94616"/>
                </a:cubicBezTo>
                <a:lnTo>
                  <a:pt x="83353" y="94616"/>
                </a:lnTo>
                <a:cubicBezTo>
                  <a:pt x="87098" y="94616"/>
                  <a:pt x="90111" y="97629"/>
                  <a:pt x="90111" y="101375"/>
                </a:cubicBezTo>
                <a:cubicBezTo>
                  <a:pt x="90111" y="105120"/>
                  <a:pt x="87098" y="108133"/>
                  <a:pt x="83353" y="108133"/>
                </a:cubicBezTo>
                <a:lnTo>
                  <a:pt x="65330" y="108133"/>
                </a:lnTo>
                <a:cubicBezTo>
                  <a:pt x="61585" y="108133"/>
                  <a:pt x="58572" y="105120"/>
                  <a:pt x="58572" y="101375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6" name="Text 24"/>
          <p:cNvSpPr/>
          <p:nvPr/>
        </p:nvSpPr>
        <p:spPr>
          <a:xfrm>
            <a:off x="901109" y="5091264"/>
            <a:ext cx="1198475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e-Bill Terminals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8798" y="5379619"/>
            <a:ext cx="322596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NID-linked subsidy verification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31831" y="1685073"/>
            <a:ext cx="3730590" cy="4199166"/>
          </a:xfrm>
          <a:custGeom>
            <a:avLst/>
            <a:gdLst/>
            <a:ahLst/>
            <a:cxnLst/>
            <a:rect l="l" t="t" r="r" b="b"/>
            <a:pathLst>
              <a:path w="3730590" h="4199166">
                <a:moveTo>
                  <a:pt x="36037" y="0"/>
                </a:moveTo>
                <a:lnTo>
                  <a:pt x="3694552" y="0"/>
                </a:lnTo>
                <a:cubicBezTo>
                  <a:pt x="3714455" y="0"/>
                  <a:pt x="3730590" y="16135"/>
                  <a:pt x="3730590" y="36037"/>
                </a:cubicBezTo>
                <a:lnTo>
                  <a:pt x="3730590" y="4163129"/>
                </a:lnTo>
                <a:cubicBezTo>
                  <a:pt x="3730590" y="4183032"/>
                  <a:pt x="3714455" y="4199166"/>
                  <a:pt x="3694552" y="4199166"/>
                </a:cubicBezTo>
                <a:lnTo>
                  <a:pt x="36037" y="4199166"/>
                </a:lnTo>
                <a:cubicBezTo>
                  <a:pt x="16135" y="4199166"/>
                  <a:pt x="0" y="4183032"/>
                  <a:pt x="0" y="4163129"/>
                </a:cubicBezTo>
                <a:lnTo>
                  <a:pt x="0" y="36037"/>
                </a:lnTo>
                <a:cubicBezTo>
                  <a:pt x="0" y="16148"/>
                  <a:pt x="16148" y="0"/>
                  <a:pt x="360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033" dist="901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31831" y="1685073"/>
            <a:ext cx="3730590" cy="36044"/>
          </a:xfrm>
          <a:custGeom>
            <a:avLst/>
            <a:gdLst/>
            <a:ahLst/>
            <a:cxnLst/>
            <a:rect l="l" t="t" r="r" b="b"/>
            <a:pathLst>
              <a:path w="3730590" h="36044">
                <a:moveTo>
                  <a:pt x="36044" y="0"/>
                </a:moveTo>
                <a:lnTo>
                  <a:pt x="3694545" y="0"/>
                </a:lnTo>
                <a:cubicBezTo>
                  <a:pt x="3714452" y="0"/>
                  <a:pt x="3730590" y="16138"/>
                  <a:pt x="3730590" y="36044"/>
                </a:cubicBezTo>
                <a:lnTo>
                  <a:pt x="3730590" y="36044"/>
                </a:lnTo>
                <a:lnTo>
                  <a:pt x="0" y="36044"/>
                </a:ln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30" name="Shape 28"/>
          <p:cNvSpPr/>
          <p:nvPr/>
        </p:nvSpPr>
        <p:spPr>
          <a:xfrm>
            <a:off x="4412053" y="1883317"/>
            <a:ext cx="576710" cy="576710"/>
          </a:xfrm>
          <a:custGeom>
            <a:avLst/>
            <a:gdLst/>
            <a:ahLst/>
            <a:cxnLst/>
            <a:rect l="l" t="t" r="r" b="b"/>
            <a:pathLst>
              <a:path w="576710" h="576710">
                <a:moveTo>
                  <a:pt x="36044" y="0"/>
                </a:moveTo>
                <a:lnTo>
                  <a:pt x="540665" y="0"/>
                </a:lnTo>
                <a:cubicBezTo>
                  <a:pt x="560572" y="0"/>
                  <a:pt x="576710" y="16138"/>
                  <a:pt x="576710" y="36044"/>
                </a:cubicBezTo>
                <a:lnTo>
                  <a:pt x="576710" y="540665"/>
                </a:lnTo>
                <a:cubicBezTo>
                  <a:pt x="576710" y="560572"/>
                  <a:pt x="560572" y="576710"/>
                  <a:pt x="540665" y="576710"/>
                </a:cubicBezTo>
                <a:lnTo>
                  <a:pt x="36044" y="576710"/>
                </a:lnTo>
                <a:cubicBezTo>
                  <a:pt x="16138" y="576710"/>
                  <a:pt x="0" y="560572"/>
                  <a:pt x="0" y="540665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31" name="Text 29"/>
          <p:cNvSpPr/>
          <p:nvPr/>
        </p:nvSpPr>
        <p:spPr>
          <a:xfrm>
            <a:off x="4549524" y="2009472"/>
            <a:ext cx="432532" cy="32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Y3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96895" y="1919361"/>
            <a:ext cx="2649259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3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National Scale-up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96896" y="2207716"/>
            <a:ext cx="1739140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2028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12053" y="2604204"/>
            <a:ext cx="3370146" cy="720887"/>
          </a:xfrm>
          <a:custGeom>
            <a:avLst/>
            <a:gdLst/>
            <a:ahLst/>
            <a:cxnLst/>
            <a:rect l="l" t="t" r="r" b="b"/>
            <a:pathLst>
              <a:path w="3370146" h="720887">
                <a:moveTo>
                  <a:pt x="36044" y="0"/>
                </a:moveTo>
                <a:lnTo>
                  <a:pt x="3334102" y="0"/>
                </a:lnTo>
                <a:cubicBezTo>
                  <a:pt x="3354009" y="0"/>
                  <a:pt x="3370146" y="16138"/>
                  <a:pt x="3370146" y="36044"/>
                </a:cubicBezTo>
                <a:lnTo>
                  <a:pt x="3370146" y="684843"/>
                </a:lnTo>
                <a:cubicBezTo>
                  <a:pt x="3370146" y="704749"/>
                  <a:pt x="3354009" y="720887"/>
                  <a:pt x="3334102" y="720887"/>
                </a:cubicBezTo>
                <a:lnTo>
                  <a:pt x="36044" y="720887"/>
                </a:lnTo>
                <a:cubicBezTo>
                  <a:pt x="16138" y="720887"/>
                  <a:pt x="0" y="704749"/>
                  <a:pt x="0" y="684843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20186" y="2766404"/>
            <a:ext cx="180222" cy="144177"/>
          </a:xfrm>
          <a:custGeom>
            <a:avLst/>
            <a:gdLst/>
            <a:ahLst/>
            <a:cxnLst/>
            <a:rect l="l" t="t" r="r" b="b"/>
            <a:pathLst>
              <a:path w="180222" h="144177">
                <a:moveTo>
                  <a:pt x="162200" y="13517"/>
                </a:moveTo>
                <a:cubicBezTo>
                  <a:pt x="162200" y="10391"/>
                  <a:pt x="160594" y="7490"/>
                  <a:pt x="157919" y="5857"/>
                </a:cubicBezTo>
                <a:cubicBezTo>
                  <a:pt x="155244" y="4224"/>
                  <a:pt x="151949" y="4055"/>
                  <a:pt x="149162" y="5463"/>
                </a:cubicBezTo>
                <a:lnTo>
                  <a:pt x="116440" y="21824"/>
                </a:lnTo>
                <a:lnTo>
                  <a:pt x="65922" y="4956"/>
                </a:lnTo>
                <a:cubicBezTo>
                  <a:pt x="63641" y="4196"/>
                  <a:pt x="61191" y="4365"/>
                  <a:pt x="59051" y="5435"/>
                </a:cubicBezTo>
                <a:lnTo>
                  <a:pt x="23006" y="23457"/>
                </a:lnTo>
                <a:cubicBezTo>
                  <a:pt x="19937" y="25006"/>
                  <a:pt x="18022" y="28131"/>
                  <a:pt x="18022" y="31539"/>
                </a:cubicBezTo>
                <a:lnTo>
                  <a:pt x="18022" y="130661"/>
                </a:lnTo>
                <a:cubicBezTo>
                  <a:pt x="18022" y="133786"/>
                  <a:pt x="19627" y="136687"/>
                  <a:pt x="22302" y="138320"/>
                </a:cubicBezTo>
                <a:cubicBezTo>
                  <a:pt x="24978" y="139953"/>
                  <a:pt x="28272" y="140122"/>
                  <a:pt x="31060" y="138714"/>
                </a:cubicBezTo>
                <a:lnTo>
                  <a:pt x="63753" y="122354"/>
                </a:lnTo>
                <a:lnTo>
                  <a:pt x="112554" y="138630"/>
                </a:lnTo>
                <a:cubicBezTo>
                  <a:pt x="111343" y="136828"/>
                  <a:pt x="110161" y="134941"/>
                  <a:pt x="109006" y="133026"/>
                </a:cubicBezTo>
                <a:cubicBezTo>
                  <a:pt x="105908" y="127873"/>
                  <a:pt x="102839" y="121959"/>
                  <a:pt x="100558" y="115624"/>
                </a:cubicBezTo>
                <a:lnTo>
                  <a:pt x="72061" y="106134"/>
                </a:lnTo>
                <a:lnTo>
                  <a:pt x="72061" y="26020"/>
                </a:lnTo>
                <a:lnTo>
                  <a:pt x="108105" y="38044"/>
                </a:lnTo>
                <a:lnTo>
                  <a:pt x="108105" y="66006"/>
                </a:lnTo>
                <a:cubicBezTo>
                  <a:pt x="116834" y="55925"/>
                  <a:pt x="129788" y="49561"/>
                  <a:pt x="144149" y="49561"/>
                </a:cubicBezTo>
                <a:cubicBezTo>
                  <a:pt x="150513" y="49561"/>
                  <a:pt x="156596" y="50800"/>
                  <a:pt x="162171" y="53081"/>
                </a:cubicBezTo>
                <a:lnTo>
                  <a:pt x="162200" y="13517"/>
                </a:lnTo>
                <a:close/>
                <a:moveTo>
                  <a:pt x="144177" y="63078"/>
                </a:moveTo>
                <a:cubicBezTo>
                  <a:pt x="125508" y="63078"/>
                  <a:pt x="110386" y="77946"/>
                  <a:pt x="110386" y="96278"/>
                </a:cubicBezTo>
                <a:cubicBezTo>
                  <a:pt x="110386" y="115680"/>
                  <a:pt x="128436" y="138630"/>
                  <a:pt x="138151" y="149584"/>
                </a:cubicBezTo>
                <a:cubicBezTo>
                  <a:pt x="141418" y="153245"/>
                  <a:pt x="146965" y="153245"/>
                  <a:pt x="150232" y="149584"/>
                </a:cubicBezTo>
                <a:cubicBezTo>
                  <a:pt x="159947" y="138630"/>
                  <a:pt x="177997" y="115680"/>
                  <a:pt x="177997" y="96278"/>
                </a:cubicBezTo>
                <a:cubicBezTo>
                  <a:pt x="177997" y="77946"/>
                  <a:pt x="162875" y="63078"/>
                  <a:pt x="144206" y="63078"/>
                </a:cubicBezTo>
                <a:close/>
                <a:moveTo>
                  <a:pt x="132914" y="96869"/>
                </a:moveTo>
                <a:cubicBezTo>
                  <a:pt x="132914" y="90652"/>
                  <a:pt x="137961" y="85605"/>
                  <a:pt x="144177" y="85605"/>
                </a:cubicBezTo>
                <a:cubicBezTo>
                  <a:pt x="150394" y="85605"/>
                  <a:pt x="155441" y="90652"/>
                  <a:pt x="155441" y="96869"/>
                </a:cubicBezTo>
                <a:cubicBezTo>
                  <a:pt x="155441" y="103086"/>
                  <a:pt x="150394" y="108133"/>
                  <a:pt x="144177" y="108133"/>
                </a:cubicBezTo>
                <a:cubicBezTo>
                  <a:pt x="137961" y="108133"/>
                  <a:pt x="132914" y="103086"/>
                  <a:pt x="132914" y="96869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36" name="Text 34"/>
          <p:cNvSpPr/>
          <p:nvPr/>
        </p:nvSpPr>
        <p:spPr>
          <a:xfrm>
            <a:off x="4772497" y="2712337"/>
            <a:ext cx="648798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30 AEZs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20186" y="3000692"/>
            <a:ext cx="322596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Agro-Ecological Zone coverage expansion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12053" y="3397180"/>
            <a:ext cx="3370146" cy="720887"/>
          </a:xfrm>
          <a:custGeom>
            <a:avLst/>
            <a:gdLst/>
            <a:ahLst/>
            <a:cxnLst/>
            <a:rect l="l" t="t" r="r" b="b"/>
            <a:pathLst>
              <a:path w="3370146" h="720887">
                <a:moveTo>
                  <a:pt x="36044" y="0"/>
                </a:moveTo>
                <a:lnTo>
                  <a:pt x="3334102" y="0"/>
                </a:lnTo>
                <a:cubicBezTo>
                  <a:pt x="3354009" y="0"/>
                  <a:pt x="3370146" y="16138"/>
                  <a:pt x="3370146" y="36044"/>
                </a:cubicBezTo>
                <a:lnTo>
                  <a:pt x="3370146" y="684843"/>
                </a:lnTo>
                <a:cubicBezTo>
                  <a:pt x="3370146" y="704749"/>
                  <a:pt x="3354009" y="720887"/>
                  <a:pt x="3334102" y="720887"/>
                </a:cubicBezTo>
                <a:lnTo>
                  <a:pt x="36044" y="720887"/>
                </a:lnTo>
                <a:cubicBezTo>
                  <a:pt x="16138" y="720887"/>
                  <a:pt x="0" y="704749"/>
                  <a:pt x="0" y="684843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29197" y="3559379"/>
            <a:ext cx="162200" cy="144177"/>
          </a:xfrm>
          <a:custGeom>
            <a:avLst/>
            <a:gdLst/>
            <a:ahLst/>
            <a:cxnLst/>
            <a:rect l="l" t="t" r="r" b="b"/>
            <a:pathLst>
              <a:path w="162200" h="144177">
                <a:moveTo>
                  <a:pt x="69836" y="24780"/>
                </a:moveTo>
                <a:lnTo>
                  <a:pt x="92364" y="24780"/>
                </a:lnTo>
                <a:lnTo>
                  <a:pt x="92364" y="38297"/>
                </a:lnTo>
                <a:lnTo>
                  <a:pt x="69836" y="38297"/>
                </a:lnTo>
                <a:lnTo>
                  <a:pt x="69836" y="24780"/>
                </a:lnTo>
                <a:close/>
                <a:moveTo>
                  <a:pt x="67583" y="9011"/>
                </a:moveTo>
                <a:cubicBezTo>
                  <a:pt x="60121" y="9011"/>
                  <a:pt x="54067" y="15065"/>
                  <a:pt x="54067" y="22528"/>
                </a:cubicBezTo>
                <a:lnTo>
                  <a:pt x="54067" y="40550"/>
                </a:lnTo>
                <a:cubicBezTo>
                  <a:pt x="54067" y="48012"/>
                  <a:pt x="60121" y="54067"/>
                  <a:pt x="67583" y="54067"/>
                </a:cubicBezTo>
                <a:lnTo>
                  <a:pt x="72089" y="54067"/>
                </a:lnTo>
                <a:lnTo>
                  <a:pt x="72089" y="63078"/>
                </a:lnTo>
                <a:lnTo>
                  <a:pt x="9011" y="63078"/>
                </a:lnTo>
                <a:cubicBezTo>
                  <a:pt x="4027" y="63078"/>
                  <a:pt x="0" y="67104"/>
                  <a:pt x="0" y="72089"/>
                </a:cubicBezTo>
                <a:cubicBezTo>
                  <a:pt x="0" y="77073"/>
                  <a:pt x="4027" y="81100"/>
                  <a:pt x="9011" y="81100"/>
                </a:cubicBezTo>
                <a:lnTo>
                  <a:pt x="36044" y="81100"/>
                </a:lnTo>
                <a:lnTo>
                  <a:pt x="36044" y="90111"/>
                </a:lnTo>
                <a:lnTo>
                  <a:pt x="31539" y="90111"/>
                </a:lnTo>
                <a:cubicBezTo>
                  <a:pt x="24076" y="90111"/>
                  <a:pt x="18022" y="96165"/>
                  <a:pt x="18022" y="103627"/>
                </a:cubicBezTo>
                <a:lnTo>
                  <a:pt x="18022" y="121650"/>
                </a:lnTo>
                <a:cubicBezTo>
                  <a:pt x="18022" y="129112"/>
                  <a:pt x="24076" y="135166"/>
                  <a:pt x="31539" y="135166"/>
                </a:cubicBezTo>
                <a:lnTo>
                  <a:pt x="58572" y="135166"/>
                </a:lnTo>
                <a:cubicBezTo>
                  <a:pt x="66034" y="135166"/>
                  <a:pt x="72089" y="129112"/>
                  <a:pt x="72089" y="121650"/>
                </a:cubicBezTo>
                <a:lnTo>
                  <a:pt x="72089" y="103627"/>
                </a:lnTo>
                <a:cubicBezTo>
                  <a:pt x="72089" y="96165"/>
                  <a:pt x="66034" y="90111"/>
                  <a:pt x="58572" y="90111"/>
                </a:cubicBezTo>
                <a:lnTo>
                  <a:pt x="54067" y="90111"/>
                </a:lnTo>
                <a:lnTo>
                  <a:pt x="54067" y="81100"/>
                </a:lnTo>
                <a:lnTo>
                  <a:pt x="108133" y="81100"/>
                </a:lnTo>
                <a:lnTo>
                  <a:pt x="108133" y="90111"/>
                </a:lnTo>
                <a:lnTo>
                  <a:pt x="103627" y="90111"/>
                </a:lnTo>
                <a:cubicBezTo>
                  <a:pt x="96165" y="90111"/>
                  <a:pt x="90111" y="96165"/>
                  <a:pt x="90111" y="103627"/>
                </a:cubicBezTo>
                <a:lnTo>
                  <a:pt x="90111" y="121650"/>
                </a:lnTo>
                <a:cubicBezTo>
                  <a:pt x="90111" y="129112"/>
                  <a:pt x="96165" y="135166"/>
                  <a:pt x="103627" y="135166"/>
                </a:cubicBezTo>
                <a:lnTo>
                  <a:pt x="130661" y="135166"/>
                </a:lnTo>
                <a:cubicBezTo>
                  <a:pt x="138123" y="135166"/>
                  <a:pt x="144177" y="129112"/>
                  <a:pt x="144177" y="121650"/>
                </a:cubicBezTo>
                <a:lnTo>
                  <a:pt x="144177" y="103627"/>
                </a:lnTo>
                <a:cubicBezTo>
                  <a:pt x="144177" y="96165"/>
                  <a:pt x="138123" y="90111"/>
                  <a:pt x="130661" y="90111"/>
                </a:cubicBezTo>
                <a:lnTo>
                  <a:pt x="126155" y="90111"/>
                </a:lnTo>
                <a:lnTo>
                  <a:pt x="126155" y="81100"/>
                </a:lnTo>
                <a:lnTo>
                  <a:pt x="153188" y="81100"/>
                </a:lnTo>
                <a:cubicBezTo>
                  <a:pt x="158173" y="81100"/>
                  <a:pt x="162200" y="77073"/>
                  <a:pt x="162200" y="72089"/>
                </a:cubicBezTo>
                <a:cubicBezTo>
                  <a:pt x="162200" y="67104"/>
                  <a:pt x="158173" y="63078"/>
                  <a:pt x="153188" y="63078"/>
                </a:cubicBezTo>
                <a:lnTo>
                  <a:pt x="90111" y="63078"/>
                </a:lnTo>
                <a:lnTo>
                  <a:pt x="90111" y="54067"/>
                </a:lnTo>
                <a:lnTo>
                  <a:pt x="94616" y="54067"/>
                </a:lnTo>
                <a:cubicBezTo>
                  <a:pt x="102079" y="54067"/>
                  <a:pt x="108133" y="48012"/>
                  <a:pt x="108133" y="40550"/>
                </a:cubicBezTo>
                <a:lnTo>
                  <a:pt x="108133" y="22528"/>
                </a:lnTo>
                <a:cubicBezTo>
                  <a:pt x="108133" y="15065"/>
                  <a:pt x="102079" y="9011"/>
                  <a:pt x="94616" y="9011"/>
                </a:cubicBezTo>
                <a:lnTo>
                  <a:pt x="67583" y="9011"/>
                </a:lnTo>
                <a:close/>
                <a:moveTo>
                  <a:pt x="126155" y="105880"/>
                </a:moveTo>
                <a:lnTo>
                  <a:pt x="128408" y="105880"/>
                </a:lnTo>
                <a:lnTo>
                  <a:pt x="128408" y="119397"/>
                </a:lnTo>
                <a:lnTo>
                  <a:pt x="105880" y="119397"/>
                </a:lnTo>
                <a:lnTo>
                  <a:pt x="105880" y="105880"/>
                </a:lnTo>
                <a:lnTo>
                  <a:pt x="126155" y="105880"/>
                </a:lnTo>
                <a:close/>
                <a:moveTo>
                  <a:pt x="54067" y="105880"/>
                </a:moveTo>
                <a:lnTo>
                  <a:pt x="56319" y="105880"/>
                </a:lnTo>
                <a:lnTo>
                  <a:pt x="56319" y="119397"/>
                </a:lnTo>
                <a:lnTo>
                  <a:pt x="33792" y="119397"/>
                </a:lnTo>
                <a:lnTo>
                  <a:pt x="33792" y="105880"/>
                </a:lnTo>
                <a:lnTo>
                  <a:pt x="54067" y="105880"/>
                </a:ln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40" name="Text 38"/>
          <p:cNvSpPr/>
          <p:nvPr/>
        </p:nvSpPr>
        <p:spPr>
          <a:xfrm>
            <a:off x="4772497" y="3505313"/>
            <a:ext cx="1189463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Regional Nodes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20186" y="3793667"/>
            <a:ext cx="322596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Hyperledger Fabric node activation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12053" y="4190155"/>
            <a:ext cx="3370146" cy="720887"/>
          </a:xfrm>
          <a:custGeom>
            <a:avLst/>
            <a:gdLst/>
            <a:ahLst/>
            <a:cxnLst/>
            <a:rect l="l" t="t" r="r" b="b"/>
            <a:pathLst>
              <a:path w="3370146" h="720887">
                <a:moveTo>
                  <a:pt x="36044" y="0"/>
                </a:moveTo>
                <a:lnTo>
                  <a:pt x="3334102" y="0"/>
                </a:lnTo>
                <a:cubicBezTo>
                  <a:pt x="3354009" y="0"/>
                  <a:pt x="3370146" y="16138"/>
                  <a:pt x="3370146" y="36044"/>
                </a:cubicBezTo>
                <a:lnTo>
                  <a:pt x="3370146" y="684843"/>
                </a:lnTo>
                <a:cubicBezTo>
                  <a:pt x="3370146" y="704749"/>
                  <a:pt x="3354009" y="720887"/>
                  <a:pt x="3334102" y="720887"/>
                </a:cubicBezTo>
                <a:lnTo>
                  <a:pt x="36044" y="720887"/>
                </a:lnTo>
                <a:cubicBezTo>
                  <a:pt x="16138" y="720887"/>
                  <a:pt x="0" y="704749"/>
                  <a:pt x="0" y="684843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29197" y="4352355"/>
            <a:ext cx="162200" cy="144177"/>
          </a:xfrm>
          <a:custGeom>
            <a:avLst/>
            <a:gdLst/>
            <a:ahLst/>
            <a:cxnLst/>
            <a:rect l="l" t="t" r="r" b="b"/>
            <a:pathLst>
              <a:path w="162200" h="144177">
                <a:moveTo>
                  <a:pt x="13517" y="55137"/>
                </a:moveTo>
                <a:lnTo>
                  <a:pt x="72427" y="79382"/>
                </a:lnTo>
                <a:cubicBezTo>
                  <a:pt x="75186" y="80508"/>
                  <a:pt x="78115" y="81100"/>
                  <a:pt x="81100" y="81100"/>
                </a:cubicBezTo>
                <a:cubicBezTo>
                  <a:pt x="84085" y="81100"/>
                  <a:pt x="87013" y="80508"/>
                  <a:pt x="89773" y="79382"/>
                </a:cubicBezTo>
                <a:lnTo>
                  <a:pt x="158032" y="51279"/>
                </a:lnTo>
                <a:cubicBezTo>
                  <a:pt x="160566" y="50237"/>
                  <a:pt x="162200" y="47787"/>
                  <a:pt x="162200" y="45055"/>
                </a:cubicBezTo>
                <a:cubicBezTo>
                  <a:pt x="162200" y="42324"/>
                  <a:pt x="160566" y="39874"/>
                  <a:pt x="158032" y="38832"/>
                </a:cubicBezTo>
                <a:lnTo>
                  <a:pt x="89773" y="10729"/>
                </a:lnTo>
                <a:cubicBezTo>
                  <a:pt x="87013" y="9602"/>
                  <a:pt x="84085" y="9011"/>
                  <a:pt x="81100" y="9011"/>
                </a:cubicBezTo>
                <a:cubicBezTo>
                  <a:pt x="78115" y="9011"/>
                  <a:pt x="75186" y="9602"/>
                  <a:pt x="72427" y="10729"/>
                </a:cubicBezTo>
                <a:lnTo>
                  <a:pt x="4168" y="38832"/>
                </a:lnTo>
                <a:cubicBezTo>
                  <a:pt x="1633" y="39874"/>
                  <a:pt x="0" y="42324"/>
                  <a:pt x="0" y="45055"/>
                </a:cubicBezTo>
                <a:lnTo>
                  <a:pt x="0" y="128408"/>
                </a:lnTo>
                <a:cubicBezTo>
                  <a:pt x="0" y="132153"/>
                  <a:pt x="3013" y="135166"/>
                  <a:pt x="6758" y="135166"/>
                </a:cubicBezTo>
                <a:cubicBezTo>
                  <a:pt x="10504" y="135166"/>
                  <a:pt x="13517" y="132153"/>
                  <a:pt x="13517" y="128408"/>
                </a:cubicBezTo>
                <a:lnTo>
                  <a:pt x="13517" y="55137"/>
                </a:lnTo>
                <a:close/>
                <a:moveTo>
                  <a:pt x="27033" y="75327"/>
                </a:moveTo>
                <a:lnTo>
                  <a:pt x="27033" y="108133"/>
                </a:lnTo>
                <a:cubicBezTo>
                  <a:pt x="27033" y="123058"/>
                  <a:pt x="51251" y="135166"/>
                  <a:pt x="81100" y="135166"/>
                </a:cubicBezTo>
                <a:cubicBezTo>
                  <a:pt x="110949" y="135166"/>
                  <a:pt x="135166" y="123058"/>
                  <a:pt x="135166" y="108133"/>
                </a:cubicBezTo>
                <a:lnTo>
                  <a:pt x="135166" y="75299"/>
                </a:lnTo>
                <a:lnTo>
                  <a:pt x="94926" y="91885"/>
                </a:lnTo>
                <a:cubicBezTo>
                  <a:pt x="90533" y="93687"/>
                  <a:pt x="85859" y="94616"/>
                  <a:pt x="81100" y="94616"/>
                </a:cubicBezTo>
                <a:cubicBezTo>
                  <a:pt x="76341" y="94616"/>
                  <a:pt x="71666" y="93687"/>
                  <a:pt x="67273" y="91885"/>
                </a:cubicBezTo>
                <a:lnTo>
                  <a:pt x="27033" y="75299"/>
                </a:ln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44" name="Text 42"/>
          <p:cNvSpPr/>
          <p:nvPr/>
        </p:nvSpPr>
        <p:spPr>
          <a:xfrm>
            <a:off x="4772497" y="4298288"/>
            <a:ext cx="1090341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Training Scale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20186" y="4586643"/>
            <a:ext cx="322596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Institutional capacity building programs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412053" y="4983131"/>
            <a:ext cx="3370146" cy="720887"/>
          </a:xfrm>
          <a:custGeom>
            <a:avLst/>
            <a:gdLst/>
            <a:ahLst/>
            <a:cxnLst/>
            <a:rect l="l" t="t" r="r" b="b"/>
            <a:pathLst>
              <a:path w="3370146" h="720887">
                <a:moveTo>
                  <a:pt x="36044" y="0"/>
                </a:moveTo>
                <a:lnTo>
                  <a:pt x="3334102" y="0"/>
                </a:lnTo>
                <a:cubicBezTo>
                  <a:pt x="3354009" y="0"/>
                  <a:pt x="3370146" y="16138"/>
                  <a:pt x="3370146" y="36044"/>
                </a:cubicBezTo>
                <a:lnTo>
                  <a:pt x="3370146" y="684843"/>
                </a:lnTo>
                <a:cubicBezTo>
                  <a:pt x="3370146" y="704749"/>
                  <a:pt x="3354009" y="720887"/>
                  <a:pt x="3334102" y="720887"/>
                </a:cubicBezTo>
                <a:lnTo>
                  <a:pt x="36044" y="720887"/>
                </a:lnTo>
                <a:cubicBezTo>
                  <a:pt x="16138" y="720887"/>
                  <a:pt x="0" y="704749"/>
                  <a:pt x="0" y="684843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29197" y="5145330"/>
            <a:ext cx="162200" cy="144177"/>
          </a:xfrm>
          <a:custGeom>
            <a:avLst/>
            <a:gdLst/>
            <a:ahLst/>
            <a:cxnLst/>
            <a:rect l="l" t="t" r="r" b="b"/>
            <a:pathLst>
              <a:path w="162200" h="144177">
                <a:moveTo>
                  <a:pt x="75721" y="23992"/>
                </a:moveTo>
                <a:lnTo>
                  <a:pt x="42887" y="60487"/>
                </a:lnTo>
                <a:cubicBezTo>
                  <a:pt x="41592" y="61923"/>
                  <a:pt x="41648" y="64148"/>
                  <a:pt x="43028" y="65527"/>
                </a:cubicBezTo>
                <a:cubicBezTo>
                  <a:pt x="51617" y="74116"/>
                  <a:pt x="65556" y="74116"/>
                  <a:pt x="74144" y="65527"/>
                </a:cubicBezTo>
                <a:lnTo>
                  <a:pt x="83099" y="56573"/>
                </a:lnTo>
                <a:cubicBezTo>
                  <a:pt x="84282" y="55390"/>
                  <a:pt x="85774" y="54742"/>
                  <a:pt x="87295" y="54630"/>
                </a:cubicBezTo>
                <a:cubicBezTo>
                  <a:pt x="89210" y="54461"/>
                  <a:pt x="91181" y="55108"/>
                  <a:pt x="92645" y="56573"/>
                </a:cubicBezTo>
                <a:lnTo>
                  <a:pt x="142375" y="105880"/>
                </a:lnTo>
                <a:lnTo>
                  <a:pt x="162200" y="90111"/>
                </a:lnTo>
                <a:lnTo>
                  <a:pt x="162200" y="9011"/>
                </a:lnTo>
                <a:lnTo>
                  <a:pt x="130661" y="27033"/>
                </a:lnTo>
                <a:lnTo>
                  <a:pt x="123959" y="22556"/>
                </a:lnTo>
                <a:cubicBezTo>
                  <a:pt x="119510" y="19599"/>
                  <a:pt x="114300" y="18022"/>
                  <a:pt x="108950" y="18022"/>
                </a:cubicBezTo>
                <a:lnTo>
                  <a:pt x="89125" y="18022"/>
                </a:lnTo>
                <a:cubicBezTo>
                  <a:pt x="88816" y="18022"/>
                  <a:pt x="88478" y="18022"/>
                  <a:pt x="88168" y="18050"/>
                </a:cubicBezTo>
                <a:cubicBezTo>
                  <a:pt x="83409" y="18304"/>
                  <a:pt x="78931" y="20444"/>
                  <a:pt x="75721" y="23992"/>
                </a:cubicBezTo>
                <a:close/>
                <a:moveTo>
                  <a:pt x="32834" y="51448"/>
                </a:moveTo>
                <a:lnTo>
                  <a:pt x="62909" y="18022"/>
                </a:lnTo>
                <a:lnTo>
                  <a:pt x="51757" y="18022"/>
                </a:lnTo>
                <a:cubicBezTo>
                  <a:pt x="44577" y="18022"/>
                  <a:pt x="37706" y="20866"/>
                  <a:pt x="32637" y="25935"/>
                </a:cubicBezTo>
                <a:lnTo>
                  <a:pt x="31539" y="27033"/>
                </a:lnTo>
                <a:lnTo>
                  <a:pt x="0" y="9011"/>
                </a:lnTo>
                <a:lnTo>
                  <a:pt x="0" y="90111"/>
                </a:lnTo>
                <a:lnTo>
                  <a:pt x="44042" y="126803"/>
                </a:lnTo>
                <a:cubicBezTo>
                  <a:pt x="50518" y="132210"/>
                  <a:pt x="58685" y="135166"/>
                  <a:pt x="67104" y="135166"/>
                </a:cubicBezTo>
                <a:lnTo>
                  <a:pt x="71525" y="135166"/>
                </a:lnTo>
                <a:lnTo>
                  <a:pt x="69554" y="133195"/>
                </a:lnTo>
                <a:cubicBezTo>
                  <a:pt x="66907" y="130548"/>
                  <a:pt x="66907" y="126268"/>
                  <a:pt x="69554" y="123649"/>
                </a:cubicBezTo>
                <a:cubicBezTo>
                  <a:pt x="72201" y="121030"/>
                  <a:pt x="76482" y="121002"/>
                  <a:pt x="79100" y="123649"/>
                </a:cubicBezTo>
                <a:lnTo>
                  <a:pt x="90646" y="135194"/>
                </a:lnTo>
                <a:lnTo>
                  <a:pt x="93180" y="135194"/>
                </a:lnTo>
                <a:cubicBezTo>
                  <a:pt x="98559" y="135194"/>
                  <a:pt x="103825" y="133984"/>
                  <a:pt x="108612" y="131731"/>
                </a:cubicBezTo>
                <a:lnTo>
                  <a:pt x="101093" y="124184"/>
                </a:lnTo>
                <a:cubicBezTo>
                  <a:pt x="98446" y="121537"/>
                  <a:pt x="98446" y="117257"/>
                  <a:pt x="101093" y="114638"/>
                </a:cubicBezTo>
                <a:cubicBezTo>
                  <a:pt x="103740" y="112019"/>
                  <a:pt x="108020" y="111991"/>
                  <a:pt x="110639" y="114638"/>
                </a:cubicBezTo>
                <a:lnTo>
                  <a:pt x="119650" y="123649"/>
                </a:lnTo>
                <a:lnTo>
                  <a:pt x="124578" y="118721"/>
                </a:lnTo>
                <a:cubicBezTo>
                  <a:pt x="127084" y="116215"/>
                  <a:pt x="127817" y="112582"/>
                  <a:pt x="126718" y="109400"/>
                </a:cubicBezTo>
                <a:lnTo>
                  <a:pt x="87886" y="70878"/>
                </a:lnTo>
                <a:lnTo>
                  <a:pt x="83690" y="75074"/>
                </a:lnTo>
                <a:cubicBezTo>
                  <a:pt x="69808" y="88956"/>
                  <a:pt x="47336" y="88956"/>
                  <a:pt x="33454" y="75074"/>
                </a:cubicBezTo>
                <a:cubicBezTo>
                  <a:pt x="26977" y="68597"/>
                  <a:pt x="26724" y="58206"/>
                  <a:pt x="32834" y="5142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48" name="Text 46"/>
          <p:cNvSpPr/>
          <p:nvPr/>
        </p:nvSpPr>
        <p:spPr>
          <a:xfrm>
            <a:off x="4772497" y="5091264"/>
            <a:ext cx="1135397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PPP Expansion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20186" y="5379619"/>
            <a:ext cx="322596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sector partnership mobilization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03271" y="1685073"/>
            <a:ext cx="3730590" cy="4199166"/>
          </a:xfrm>
          <a:custGeom>
            <a:avLst/>
            <a:gdLst/>
            <a:ahLst/>
            <a:cxnLst/>
            <a:rect l="l" t="t" r="r" b="b"/>
            <a:pathLst>
              <a:path w="3730590" h="4199166">
                <a:moveTo>
                  <a:pt x="36037" y="0"/>
                </a:moveTo>
                <a:lnTo>
                  <a:pt x="3694552" y="0"/>
                </a:lnTo>
                <a:cubicBezTo>
                  <a:pt x="3714455" y="0"/>
                  <a:pt x="3730590" y="16135"/>
                  <a:pt x="3730590" y="36037"/>
                </a:cubicBezTo>
                <a:lnTo>
                  <a:pt x="3730590" y="4163129"/>
                </a:lnTo>
                <a:cubicBezTo>
                  <a:pt x="3730590" y="4183032"/>
                  <a:pt x="3714455" y="4199166"/>
                  <a:pt x="3694552" y="4199166"/>
                </a:cubicBezTo>
                <a:lnTo>
                  <a:pt x="36037" y="4199166"/>
                </a:lnTo>
                <a:cubicBezTo>
                  <a:pt x="16135" y="4199166"/>
                  <a:pt x="0" y="4183032"/>
                  <a:pt x="0" y="4163129"/>
                </a:cubicBezTo>
                <a:lnTo>
                  <a:pt x="0" y="36037"/>
                </a:lnTo>
                <a:cubicBezTo>
                  <a:pt x="0" y="16148"/>
                  <a:pt x="16148" y="0"/>
                  <a:pt x="360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033" dist="901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03271" y="1685073"/>
            <a:ext cx="3730590" cy="36044"/>
          </a:xfrm>
          <a:custGeom>
            <a:avLst/>
            <a:gdLst/>
            <a:ahLst/>
            <a:cxnLst/>
            <a:rect l="l" t="t" r="r" b="b"/>
            <a:pathLst>
              <a:path w="3730590" h="36044">
                <a:moveTo>
                  <a:pt x="36044" y="0"/>
                </a:moveTo>
                <a:lnTo>
                  <a:pt x="3694545" y="0"/>
                </a:lnTo>
                <a:cubicBezTo>
                  <a:pt x="3714452" y="0"/>
                  <a:pt x="3730590" y="16138"/>
                  <a:pt x="3730590" y="36044"/>
                </a:cubicBezTo>
                <a:lnTo>
                  <a:pt x="3730590" y="36044"/>
                </a:lnTo>
                <a:lnTo>
                  <a:pt x="0" y="36044"/>
                </a:ln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2" name="Shape 50"/>
          <p:cNvSpPr/>
          <p:nvPr/>
        </p:nvSpPr>
        <p:spPr>
          <a:xfrm>
            <a:off x="8283493" y="1883317"/>
            <a:ext cx="576710" cy="576710"/>
          </a:xfrm>
          <a:custGeom>
            <a:avLst/>
            <a:gdLst/>
            <a:ahLst/>
            <a:cxnLst/>
            <a:rect l="l" t="t" r="r" b="b"/>
            <a:pathLst>
              <a:path w="576710" h="576710">
                <a:moveTo>
                  <a:pt x="36044" y="0"/>
                </a:moveTo>
                <a:lnTo>
                  <a:pt x="540665" y="0"/>
                </a:lnTo>
                <a:cubicBezTo>
                  <a:pt x="560572" y="0"/>
                  <a:pt x="576710" y="16138"/>
                  <a:pt x="576710" y="36044"/>
                </a:cubicBezTo>
                <a:lnTo>
                  <a:pt x="576710" y="540665"/>
                </a:lnTo>
                <a:cubicBezTo>
                  <a:pt x="576710" y="560572"/>
                  <a:pt x="560572" y="576710"/>
                  <a:pt x="540665" y="576710"/>
                </a:cubicBezTo>
                <a:lnTo>
                  <a:pt x="36044" y="576710"/>
                </a:lnTo>
                <a:cubicBezTo>
                  <a:pt x="16138" y="576710"/>
                  <a:pt x="0" y="560572"/>
                  <a:pt x="0" y="540665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3" name="Text 51"/>
          <p:cNvSpPr/>
          <p:nvPr/>
        </p:nvSpPr>
        <p:spPr>
          <a:xfrm>
            <a:off x="8429360" y="2009472"/>
            <a:ext cx="423521" cy="32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Y5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968336" y="1919362"/>
            <a:ext cx="2241621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3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Vision 2030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968336" y="2207716"/>
            <a:ext cx="1162430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2030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83493" y="2604204"/>
            <a:ext cx="3370146" cy="720887"/>
          </a:xfrm>
          <a:custGeom>
            <a:avLst/>
            <a:gdLst/>
            <a:ahLst/>
            <a:cxnLst/>
            <a:rect l="l" t="t" r="r" b="b"/>
            <a:pathLst>
              <a:path w="3370146" h="720887">
                <a:moveTo>
                  <a:pt x="36044" y="0"/>
                </a:moveTo>
                <a:lnTo>
                  <a:pt x="3334102" y="0"/>
                </a:lnTo>
                <a:cubicBezTo>
                  <a:pt x="3354009" y="0"/>
                  <a:pt x="3370146" y="16138"/>
                  <a:pt x="3370146" y="36044"/>
                </a:cubicBezTo>
                <a:lnTo>
                  <a:pt x="3370146" y="684843"/>
                </a:lnTo>
                <a:cubicBezTo>
                  <a:pt x="3370146" y="704749"/>
                  <a:pt x="3354009" y="720887"/>
                  <a:pt x="3334102" y="720887"/>
                </a:cubicBezTo>
                <a:lnTo>
                  <a:pt x="36044" y="720887"/>
                </a:lnTo>
                <a:cubicBezTo>
                  <a:pt x="16138" y="720887"/>
                  <a:pt x="0" y="704749"/>
                  <a:pt x="0" y="684843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18659" y="2766404"/>
            <a:ext cx="126155" cy="144177"/>
          </a:xfrm>
          <a:custGeom>
            <a:avLst/>
            <a:gdLst/>
            <a:ahLst/>
            <a:cxnLst/>
            <a:rect l="l" t="t" r="r" b="b"/>
            <a:pathLst>
              <a:path w="126155" h="144177">
                <a:moveTo>
                  <a:pt x="126155" y="57953"/>
                </a:moveTo>
                <a:cubicBezTo>
                  <a:pt x="121988" y="60712"/>
                  <a:pt x="117200" y="62937"/>
                  <a:pt x="112216" y="64711"/>
                </a:cubicBezTo>
                <a:cubicBezTo>
                  <a:pt x="98981" y="69442"/>
                  <a:pt x="81607" y="72089"/>
                  <a:pt x="63078" y="72089"/>
                </a:cubicBezTo>
                <a:cubicBezTo>
                  <a:pt x="44549" y="72089"/>
                  <a:pt x="27146" y="69414"/>
                  <a:pt x="13939" y="64711"/>
                </a:cubicBezTo>
                <a:cubicBezTo>
                  <a:pt x="8983" y="62937"/>
                  <a:pt x="4168" y="60712"/>
                  <a:pt x="0" y="57953"/>
                </a:cubicBezTo>
                <a:lnTo>
                  <a:pt x="0" y="81100"/>
                </a:lnTo>
                <a:cubicBezTo>
                  <a:pt x="0" y="93546"/>
                  <a:pt x="28244" y="103627"/>
                  <a:pt x="63078" y="103627"/>
                </a:cubicBezTo>
                <a:cubicBezTo>
                  <a:pt x="97911" y="103627"/>
                  <a:pt x="126155" y="93546"/>
                  <a:pt x="126155" y="81100"/>
                </a:cubicBezTo>
                <a:lnTo>
                  <a:pt x="126155" y="57953"/>
                </a:lnTo>
                <a:close/>
                <a:moveTo>
                  <a:pt x="126155" y="36044"/>
                </a:moveTo>
                <a:lnTo>
                  <a:pt x="126155" y="22528"/>
                </a:lnTo>
                <a:cubicBezTo>
                  <a:pt x="126155" y="10081"/>
                  <a:pt x="97911" y="0"/>
                  <a:pt x="63078" y="0"/>
                </a:cubicBezTo>
                <a:cubicBezTo>
                  <a:pt x="28244" y="0"/>
                  <a:pt x="0" y="10081"/>
                  <a:pt x="0" y="22528"/>
                </a:cubicBezTo>
                <a:lnTo>
                  <a:pt x="0" y="36044"/>
                </a:lnTo>
                <a:cubicBezTo>
                  <a:pt x="0" y="48491"/>
                  <a:pt x="28244" y="58572"/>
                  <a:pt x="63078" y="58572"/>
                </a:cubicBezTo>
                <a:cubicBezTo>
                  <a:pt x="97911" y="58572"/>
                  <a:pt x="126155" y="48491"/>
                  <a:pt x="126155" y="36044"/>
                </a:cubicBezTo>
                <a:close/>
                <a:moveTo>
                  <a:pt x="112216" y="109766"/>
                </a:moveTo>
                <a:cubicBezTo>
                  <a:pt x="99009" y="114469"/>
                  <a:pt x="81635" y="117144"/>
                  <a:pt x="63078" y="117144"/>
                </a:cubicBezTo>
                <a:cubicBezTo>
                  <a:pt x="44520" y="117144"/>
                  <a:pt x="27146" y="114469"/>
                  <a:pt x="13939" y="109766"/>
                </a:cubicBezTo>
                <a:cubicBezTo>
                  <a:pt x="8983" y="107992"/>
                  <a:pt x="4168" y="105768"/>
                  <a:pt x="0" y="103008"/>
                </a:cubicBezTo>
                <a:lnTo>
                  <a:pt x="0" y="121650"/>
                </a:lnTo>
                <a:cubicBezTo>
                  <a:pt x="0" y="134096"/>
                  <a:pt x="28244" y="144177"/>
                  <a:pt x="63078" y="144177"/>
                </a:cubicBezTo>
                <a:cubicBezTo>
                  <a:pt x="97911" y="144177"/>
                  <a:pt x="126155" y="134096"/>
                  <a:pt x="126155" y="121650"/>
                </a:cubicBezTo>
                <a:lnTo>
                  <a:pt x="126155" y="103008"/>
                </a:lnTo>
                <a:cubicBezTo>
                  <a:pt x="121988" y="105768"/>
                  <a:pt x="117200" y="107992"/>
                  <a:pt x="112216" y="109766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8" name="Text 56"/>
          <p:cNvSpPr/>
          <p:nvPr/>
        </p:nvSpPr>
        <p:spPr>
          <a:xfrm>
            <a:off x="8643936" y="2712337"/>
            <a:ext cx="1450785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Ag-Data Commons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91626" y="3000692"/>
            <a:ext cx="322596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platform institutionalization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83493" y="3397180"/>
            <a:ext cx="3370146" cy="720887"/>
          </a:xfrm>
          <a:custGeom>
            <a:avLst/>
            <a:gdLst/>
            <a:ahLst/>
            <a:cxnLst/>
            <a:rect l="l" t="t" r="r" b="b"/>
            <a:pathLst>
              <a:path w="3370146" h="720887">
                <a:moveTo>
                  <a:pt x="36044" y="0"/>
                </a:moveTo>
                <a:lnTo>
                  <a:pt x="3334102" y="0"/>
                </a:lnTo>
                <a:cubicBezTo>
                  <a:pt x="3354009" y="0"/>
                  <a:pt x="3370146" y="16138"/>
                  <a:pt x="3370146" y="36044"/>
                </a:cubicBezTo>
                <a:lnTo>
                  <a:pt x="3370146" y="684843"/>
                </a:lnTo>
                <a:cubicBezTo>
                  <a:pt x="3370146" y="704749"/>
                  <a:pt x="3354009" y="720887"/>
                  <a:pt x="3334102" y="720887"/>
                </a:cubicBezTo>
                <a:lnTo>
                  <a:pt x="36044" y="720887"/>
                </a:lnTo>
                <a:cubicBezTo>
                  <a:pt x="16138" y="720887"/>
                  <a:pt x="0" y="704749"/>
                  <a:pt x="0" y="684843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00637" y="3559379"/>
            <a:ext cx="162200" cy="144177"/>
          </a:xfrm>
          <a:custGeom>
            <a:avLst/>
            <a:gdLst/>
            <a:ahLst/>
            <a:cxnLst/>
            <a:rect l="l" t="t" r="r" b="b"/>
            <a:pathLst>
              <a:path w="162200" h="144177">
                <a:moveTo>
                  <a:pt x="90111" y="0"/>
                </a:moveTo>
                <a:cubicBezTo>
                  <a:pt x="80171" y="0"/>
                  <a:pt x="72089" y="8082"/>
                  <a:pt x="72089" y="18022"/>
                </a:cubicBezTo>
                <a:lnTo>
                  <a:pt x="72089" y="27033"/>
                </a:lnTo>
                <a:lnTo>
                  <a:pt x="58572" y="27033"/>
                </a:lnTo>
                <a:lnTo>
                  <a:pt x="58572" y="6758"/>
                </a:lnTo>
                <a:cubicBezTo>
                  <a:pt x="58572" y="3013"/>
                  <a:pt x="55559" y="0"/>
                  <a:pt x="51814" y="0"/>
                </a:cubicBezTo>
                <a:cubicBezTo>
                  <a:pt x="48069" y="0"/>
                  <a:pt x="45055" y="3013"/>
                  <a:pt x="45055" y="6758"/>
                </a:cubicBezTo>
                <a:lnTo>
                  <a:pt x="45055" y="27033"/>
                </a:lnTo>
                <a:lnTo>
                  <a:pt x="27033" y="27033"/>
                </a:lnTo>
                <a:lnTo>
                  <a:pt x="27033" y="6758"/>
                </a:lnTo>
                <a:cubicBezTo>
                  <a:pt x="27033" y="3013"/>
                  <a:pt x="24020" y="0"/>
                  <a:pt x="20275" y="0"/>
                </a:cubicBezTo>
                <a:cubicBezTo>
                  <a:pt x="16530" y="0"/>
                  <a:pt x="13517" y="3013"/>
                  <a:pt x="13517" y="6758"/>
                </a:cubicBezTo>
                <a:lnTo>
                  <a:pt x="13517" y="27596"/>
                </a:lnTo>
                <a:cubicBezTo>
                  <a:pt x="5745" y="29596"/>
                  <a:pt x="0" y="36664"/>
                  <a:pt x="0" y="45055"/>
                </a:cubicBezTo>
                <a:lnTo>
                  <a:pt x="0" y="126155"/>
                </a:lnTo>
                <a:cubicBezTo>
                  <a:pt x="0" y="136096"/>
                  <a:pt x="8082" y="144177"/>
                  <a:pt x="18022" y="144177"/>
                </a:cubicBezTo>
                <a:lnTo>
                  <a:pt x="144177" y="144177"/>
                </a:lnTo>
                <a:cubicBezTo>
                  <a:pt x="154118" y="144177"/>
                  <a:pt x="162200" y="136096"/>
                  <a:pt x="162200" y="126155"/>
                </a:cubicBezTo>
                <a:lnTo>
                  <a:pt x="162200" y="72089"/>
                </a:lnTo>
                <a:cubicBezTo>
                  <a:pt x="162200" y="62148"/>
                  <a:pt x="154118" y="54067"/>
                  <a:pt x="144177" y="54067"/>
                </a:cubicBezTo>
                <a:lnTo>
                  <a:pt x="126155" y="54067"/>
                </a:lnTo>
                <a:lnTo>
                  <a:pt x="126155" y="18022"/>
                </a:lnTo>
                <a:cubicBezTo>
                  <a:pt x="126155" y="8082"/>
                  <a:pt x="118073" y="0"/>
                  <a:pt x="108133" y="0"/>
                </a:cubicBezTo>
                <a:lnTo>
                  <a:pt x="90111" y="0"/>
                </a:lnTo>
                <a:close/>
                <a:moveTo>
                  <a:pt x="108133" y="31539"/>
                </a:moveTo>
                <a:lnTo>
                  <a:pt x="108133" y="40550"/>
                </a:lnTo>
                <a:cubicBezTo>
                  <a:pt x="108133" y="43028"/>
                  <a:pt x="106106" y="45055"/>
                  <a:pt x="103627" y="45055"/>
                </a:cubicBezTo>
                <a:lnTo>
                  <a:pt x="94616" y="45055"/>
                </a:lnTo>
                <a:cubicBezTo>
                  <a:pt x="92138" y="45055"/>
                  <a:pt x="90111" y="43028"/>
                  <a:pt x="90111" y="40550"/>
                </a:cubicBezTo>
                <a:lnTo>
                  <a:pt x="90111" y="31539"/>
                </a:lnTo>
                <a:cubicBezTo>
                  <a:pt x="90111" y="29061"/>
                  <a:pt x="92138" y="27033"/>
                  <a:pt x="94616" y="27033"/>
                </a:cubicBezTo>
                <a:lnTo>
                  <a:pt x="103627" y="27033"/>
                </a:lnTo>
                <a:cubicBezTo>
                  <a:pt x="106106" y="27033"/>
                  <a:pt x="108133" y="29061"/>
                  <a:pt x="108133" y="31539"/>
                </a:cubicBezTo>
                <a:close/>
                <a:moveTo>
                  <a:pt x="103627" y="54067"/>
                </a:moveTo>
                <a:cubicBezTo>
                  <a:pt x="106106" y="54067"/>
                  <a:pt x="108133" y="56094"/>
                  <a:pt x="108133" y="58572"/>
                </a:cubicBezTo>
                <a:lnTo>
                  <a:pt x="108133" y="67583"/>
                </a:lnTo>
                <a:cubicBezTo>
                  <a:pt x="108133" y="70061"/>
                  <a:pt x="106106" y="72089"/>
                  <a:pt x="103627" y="72089"/>
                </a:cubicBezTo>
                <a:lnTo>
                  <a:pt x="94616" y="72089"/>
                </a:lnTo>
                <a:cubicBezTo>
                  <a:pt x="92138" y="72089"/>
                  <a:pt x="90111" y="70061"/>
                  <a:pt x="90111" y="67583"/>
                </a:cubicBezTo>
                <a:lnTo>
                  <a:pt x="90111" y="58572"/>
                </a:lnTo>
                <a:cubicBezTo>
                  <a:pt x="90111" y="56094"/>
                  <a:pt x="92138" y="54067"/>
                  <a:pt x="94616" y="54067"/>
                </a:cubicBezTo>
                <a:lnTo>
                  <a:pt x="103627" y="54067"/>
                </a:lnTo>
                <a:close/>
                <a:moveTo>
                  <a:pt x="108133" y="85605"/>
                </a:moveTo>
                <a:lnTo>
                  <a:pt x="108133" y="94616"/>
                </a:lnTo>
                <a:cubicBezTo>
                  <a:pt x="108133" y="97094"/>
                  <a:pt x="106106" y="99122"/>
                  <a:pt x="103627" y="99122"/>
                </a:cubicBezTo>
                <a:lnTo>
                  <a:pt x="94616" y="99122"/>
                </a:lnTo>
                <a:cubicBezTo>
                  <a:pt x="92138" y="99122"/>
                  <a:pt x="90111" y="97094"/>
                  <a:pt x="90111" y="94616"/>
                </a:cubicBezTo>
                <a:lnTo>
                  <a:pt x="90111" y="85605"/>
                </a:lnTo>
                <a:cubicBezTo>
                  <a:pt x="90111" y="83127"/>
                  <a:pt x="92138" y="81100"/>
                  <a:pt x="94616" y="81100"/>
                </a:cubicBezTo>
                <a:lnTo>
                  <a:pt x="103627" y="81100"/>
                </a:lnTo>
                <a:cubicBezTo>
                  <a:pt x="106106" y="81100"/>
                  <a:pt x="108133" y="83127"/>
                  <a:pt x="108133" y="85605"/>
                </a:cubicBezTo>
                <a:close/>
                <a:moveTo>
                  <a:pt x="139672" y="81100"/>
                </a:moveTo>
                <a:cubicBezTo>
                  <a:pt x="142150" y="81100"/>
                  <a:pt x="144177" y="83127"/>
                  <a:pt x="144177" y="85605"/>
                </a:cubicBezTo>
                <a:lnTo>
                  <a:pt x="144177" y="94616"/>
                </a:lnTo>
                <a:cubicBezTo>
                  <a:pt x="144177" y="97094"/>
                  <a:pt x="142150" y="99122"/>
                  <a:pt x="139672" y="99122"/>
                </a:cubicBezTo>
                <a:lnTo>
                  <a:pt x="130661" y="99122"/>
                </a:lnTo>
                <a:cubicBezTo>
                  <a:pt x="128183" y="99122"/>
                  <a:pt x="126155" y="97094"/>
                  <a:pt x="126155" y="94616"/>
                </a:cubicBezTo>
                <a:lnTo>
                  <a:pt x="126155" y="85605"/>
                </a:lnTo>
                <a:cubicBezTo>
                  <a:pt x="126155" y="83127"/>
                  <a:pt x="128183" y="81100"/>
                  <a:pt x="130661" y="81100"/>
                </a:cubicBezTo>
                <a:lnTo>
                  <a:pt x="139672" y="81100"/>
                </a:lnTo>
                <a:close/>
                <a:moveTo>
                  <a:pt x="72089" y="85605"/>
                </a:moveTo>
                <a:lnTo>
                  <a:pt x="72089" y="94616"/>
                </a:lnTo>
                <a:cubicBezTo>
                  <a:pt x="72089" y="97094"/>
                  <a:pt x="70061" y="99122"/>
                  <a:pt x="67583" y="99122"/>
                </a:cubicBezTo>
                <a:lnTo>
                  <a:pt x="58572" y="99122"/>
                </a:lnTo>
                <a:cubicBezTo>
                  <a:pt x="56094" y="99122"/>
                  <a:pt x="54067" y="97094"/>
                  <a:pt x="54067" y="94616"/>
                </a:cubicBezTo>
                <a:lnTo>
                  <a:pt x="54067" y="85605"/>
                </a:lnTo>
                <a:cubicBezTo>
                  <a:pt x="54067" y="83127"/>
                  <a:pt x="56094" y="81100"/>
                  <a:pt x="58572" y="81100"/>
                </a:cubicBezTo>
                <a:lnTo>
                  <a:pt x="67583" y="81100"/>
                </a:lnTo>
                <a:cubicBezTo>
                  <a:pt x="70061" y="81100"/>
                  <a:pt x="72089" y="83127"/>
                  <a:pt x="72089" y="85605"/>
                </a:cubicBezTo>
                <a:close/>
                <a:moveTo>
                  <a:pt x="67583" y="54067"/>
                </a:moveTo>
                <a:cubicBezTo>
                  <a:pt x="70061" y="54067"/>
                  <a:pt x="72089" y="56094"/>
                  <a:pt x="72089" y="58572"/>
                </a:cubicBezTo>
                <a:lnTo>
                  <a:pt x="72089" y="67583"/>
                </a:lnTo>
                <a:cubicBezTo>
                  <a:pt x="72089" y="70061"/>
                  <a:pt x="70061" y="72089"/>
                  <a:pt x="67583" y="72089"/>
                </a:cubicBezTo>
                <a:lnTo>
                  <a:pt x="58572" y="72089"/>
                </a:lnTo>
                <a:cubicBezTo>
                  <a:pt x="56094" y="72089"/>
                  <a:pt x="54067" y="70061"/>
                  <a:pt x="54067" y="67583"/>
                </a:cubicBezTo>
                <a:lnTo>
                  <a:pt x="54067" y="58572"/>
                </a:lnTo>
                <a:cubicBezTo>
                  <a:pt x="54067" y="56094"/>
                  <a:pt x="56094" y="54067"/>
                  <a:pt x="58572" y="54067"/>
                </a:cubicBezTo>
                <a:lnTo>
                  <a:pt x="67583" y="54067"/>
                </a:lnTo>
                <a:close/>
                <a:moveTo>
                  <a:pt x="36044" y="85605"/>
                </a:moveTo>
                <a:lnTo>
                  <a:pt x="36044" y="94616"/>
                </a:lnTo>
                <a:cubicBezTo>
                  <a:pt x="36044" y="97094"/>
                  <a:pt x="34017" y="99122"/>
                  <a:pt x="31539" y="99122"/>
                </a:cubicBezTo>
                <a:lnTo>
                  <a:pt x="22528" y="99122"/>
                </a:lnTo>
                <a:cubicBezTo>
                  <a:pt x="20050" y="99122"/>
                  <a:pt x="18022" y="97094"/>
                  <a:pt x="18022" y="94616"/>
                </a:cubicBezTo>
                <a:lnTo>
                  <a:pt x="18022" y="85605"/>
                </a:lnTo>
                <a:cubicBezTo>
                  <a:pt x="18022" y="83127"/>
                  <a:pt x="20050" y="81100"/>
                  <a:pt x="22528" y="81100"/>
                </a:cubicBezTo>
                <a:lnTo>
                  <a:pt x="31539" y="81100"/>
                </a:lnTo>
                <a:cubicBezTo>
                  <a:pt x="34017" y="81100"/>
                  <a:pt x="36044" y="83127"/>
                  <a:pt x="36044" y="85605"/>
                </a:cubicBezTo>
                <a:close/>
                <a:moveTo>
                  <a:pt x="31539" y="54067"/>
                </a:moveTo>
                <a:cubicBezTo>
                  <a:pt x="34017" y="54067"/>
                  <a:pt x="36044" y="56094"/>
                  <a:pt x="36044" y="58572"/>
                </a:cubicBezTo>
                <a:lnTo>
                  <a:pt x="36044" y="67583"/>
                </a:lnTo>
                <a:cubicBezTo>
                  <a:pt x="36044" y="70061"/>
                  <a:pt x="34017" y="72089"/>
                  <a:pt x="31539" y="72089"/>
                </a:cubicBezTo>
                <a:lnTo>
                  <a:pt x="22528" y="72089"/>
                </a:lnTo>
                <a:cubicBezTo>
                  <a:pt x="20050" y="72089"/>
                  <a:pt x="18022" y="70061"/>
                  <a:pt x="18022" y="67583"/>
                </a:cubicBezTo>
                <a:lnTo>
                  <a:pt x="18022" y="58572"/>
                </a:lnTo>
                <a:cubicBezTo>
                  <a:pt x="18022" y="56094"/>
                  <a:pt x="20050" y="54067"/>
                  <a:pt x="22528" y="54067"/>
                </a:cubicBezTo>
                <a:lnTo>
                  <a:pt x="31539" y="54067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62" name="Text 60"/>
          <p:cNvSpPr/>
          <p:nvPr/>
        </p:nvSpPr>
        <p:spPr>
          <a:xfrm>
            <a:off x="8643936" y="3505313"/>
            <a:ext cx="1396718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Smart Agri-Towns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91626" y="3793667"/>
            <a:ext cx="322596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Tech-enabled rural transformation hubs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83493" y="4190155"/>
            <a:ext cx="3370146" cy="720887"/>
          </a:xfrm>
          <a:custGeom>
            <a:avLst/>
            <a:gdLst/>
            <a:ahLst/>
            <a:cxnLst/>
            <a:rect l="l" t="t" r="r" b="b"/>
            <a:pathLst>
              <a:path w="3370146" h="720887">
                <a:moveTo>
                  <a:pt x="36044" y="0"/>
                </a:moveTo>
                <a:lnTo>
                  <a:pt x="3334102" y="0"/>
                </a:lnTo>
                <a:cubicBezTo>
                  <a:pt x="3354009" y="0"/>
                  <a:pt x="3370146" y="16138"/>
                  <a:pt x="3370146" y="36044"/>
                </a:cubicBezTo>
                <a:lnTo>
                  <a:pt x="3370146" y="684843"/>
                </a:lnTo>
                <a:cubicBezTo>
                  <a:pt x="3370146" y="704749"/>
                  <a:pt x="3354009" y="720887"/>
                  <a:pt x="3334102" y="720887"/>
                </a:cubicBezTo>
                <a:lnTo>
                  <a:pt x="36044" y="720887"/>
                </a:lnTo>
                <a:cubicBezTo>
                  <a:pt x="16138" y="720887"/>
                  <a:pt x="0" y="704749"/>
                  <a:pt x="0" y="684843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09648" y="4352355"/>
            <a:ext cx="144177" cy="144177"/>
          </a:xfrm>
          <a:custGeom>
            <a:avLst/>
            <a:gdLst/>
            <a:ahLst/>
            <a:cxnLst/>
            <a:rect l="l" t="t" r="r" b="b"/>
            <a:pathLst>
              <a:path w="144177" h="144177">
                <a:moveTo>
                  <a:pt x="14080" y="80199"/>
                </a:moveTo>
                <a:cubicBezTo>
                  <a:pt x="15263" y="80790"/>
                  <a:pt x="16614" y="81100"/>
                  <a:pt x="18022" y="81100"/>
                </a:cubicBezTo>
                <a:lnTo>
                  <a:pt x="32299" y="81100"/>
                </a:lnTo>
                <a:cubicBezTo>
                  <a:pt x="34693" y="81100"/>
                  <a:pt x="36974" y="82057"/>
                  <a:pt x="38663" y="83747"/>
                </a:cubicBezTo>
                <a:lnTo>
                  <a:pt x="42408" y="87492"/>
                </a:lnTo>
                <a:cubicBezTo>
                  <a:pt x="44098" y="89182"/>
                  <a:pt x="46379" y="90139"/>
                  <a:pt x="48773" y="90139"/>
                </a:cubicBezTo>
                <a:lnTo>
                  <a:pt x="54038" y="90139"/>
                </a:lnTo>
                <a:cubicBezTo>
                  <a:pt x="59023" y="90139"/>
                  <a:pt x="63049" y="86112"/>
                  <a:pt x="63049" y="81128"/>
                </a:cubicBezTo>
                <a:lnTo>
                  <a:pt x="63049" y="69864"/>
                </a:lnTo>
                <a:cubicBezTo>
                  <a:pt x="63049" y="66119"/>
                  <a:pt x="66063" y="63106"/>
                  <a:pt x="69808" y="63106"/>
                </a:cubicBezTo>
                <a:cubicBezTo>
                  <a:pt x="73553" y="63106"/>
                  <a:pt x="76566" y="60093"/>
                  <a:pt x="76566" y="56347"/>
                </a:cubicBezTo>
                <a:lnTo>
                  <a:pt x="76566" y="44323"/>
                </a:lnTo>
                <a:cubicBezTo>
                  <a:pt x="76566" y="41930"/>
                  <a:pt x="77524" y="39649"/>
                  <a:pt x="79213" y="37959"/>
                </a:cubicBezTo>
                <a:lnTo>
                  <a:pt x="82958" y="34214"/>
                </a:lnTo>
                <a:cubicBezTo>
                  <a:pt x="84648" y="32524"/>
                  <a:pt x="85605" y="30243"/>
                  <a:pt x="85605" y="27850"/>
                </a:cubicBezTo>
                <a:lnTo>
                  <a:pt x="85605" y="16051"/>
                </a:lnTo>
                <a:cubicBezTo>
                  <a:pt x="85605" y="15713"/>
                  <a:pt x="85577" y="15403"/>
                  <a:pt x="85549" y="15065"/>
                </a:cubicBezTo>
                <a:cubicBezTo>
                  <a:pt x="81212" y="14052"/>
                  <a:pt x="76707" y="13517"/>
                  <a:pt x="72089" y="13517"/>
                </a:cubicBezTo>
                <a:cubicBezTo>
                  <a:pt x="39733" y="13517"/>
                  <a:pt x="13517" y="39733"/>
                  <a:pt x="13517" y="72089"/>
                </a:cubicBezTo>
                <a:cubicBezTo>
                  <a:pt x="13517" y="74848"/>
                  <a:pt x="13714" y="77552"/>
                  <a:pt x="14080" y="80199"/>
                </a:cubicBezTo>
                <a:close/>
                <a:moveTo>
                  <a:pt x="127648" y="90702"/>
                </a:moveTo>
                <a:cubicBezTo>
                  <a:pt x="126747" y="90308"/>
                  <a:pt x="125761" y="90111"/>
                  <a:pt x="124691" y="90111"/>
                </a:cubicBezTo>
                <a:lnTo>
                  <a:pt x="121650" y="90111"/>
                </a:lnTo>
                <a:cubicBezTo>
                  <a:pt x="119172" y="90111"/>
                  <a:pt x="117144" y="88083"/>
                  <a:pt x="117144" y="85605"/>
                </a:cubicBezTo>
                <a:cubicBezTo>
                  <a:pt x="117144" y="83127"/>
                  <a:pt x="115117" y="81100"/>
                  <a:pt x="112639" y="81100"/>
                </a:cubicBezTo>
                <a:lnTo>
                  <a:pt x="102867" y="81100"/>
                </a:lnTo>
                <a:cubicBezTo>
                  <a:pt x="100474" y="81100"/>
                  <a:pt x="98193" y="82057"/>
                  <a:pt x="96503" y="83747"/>
                </a:cubicBezTo>
                <a:lnTo>
                  <a:pt x="83747" y="96503"/>
                </a:lnTo>
                <a:cubicBezTo>
                  <a:pt x="82057" y="98193"/>
                  <a:pt x="81100" y="100474"/>
                  <a:pt x="81100" y="102867"/>
                </a:cubicBezTo>
                <a:lnTo>
                  <a:pt x="81100" y="108133"/>
                </a:lnTo>
                <a:cubicBezTo>
                  <a:pt x="81100" y="113117"/>
                  <a:pt x="85127" y="117144"/>
                  <a:pt x="90111" y="117144"/>
                </a:cubicBezTo>
                <a:lnTo>
                  <a:pt x="95377" y="117144"/>
                </a:lnTo>
                <a:cubicBezTo>
                  <a:pt x="97770" y="117144"/>
                  <a:pt x="100051" y="118102"/>
                  <a:pt x="101741" y="119791"/>
                </a:cubicBezTo>
                <a:cubicBezTo>
                  <a:pt x="102360" y="120411"/>
                  <a:pt x="103064" y="120946"/>
                  <a:pt x="103796" y="121340"/>
                </a:cubicBezTo>
                <a:cubicBezTo>
                  <a:pt x="114863" y="114187"/>
                  <a:pt x="123367" y="103430"/>
                  <a:pt x="127620" y="90702"/>
                </a:cubicBezTo>
                <a:close/>
                <a:moveTo>
                  <a:pt x="0" y="72089"/>
                </a:moveTo>
                <a:cubicBezTo>
                  <a:pt x="0" y="32302"/>
                  <a:pt x="32302" y="0"/>
                  <a:pt x="72089" y="0"/>
                </a:cubicBezTo>
                <a:cubicBezTo>
                  <a:pt x="111876" y="0"/>
                  <a:pt x="144177" y="32302"/>
                  <a:pt x="144177" y="72089"/>
                </a:cubicBezTo>
                <a:cubicBezTo>
                  <a:pt x="144177" y="111876"/>
                  <a:pt x="111876" y="144177"/>
                  <a:pt x="72089" y="144177"/>
                </a:cubicBezTo>
                <a:cubicBezTo>
                  <a:pt x="32302" y="144177"/>
                  <a:pt x="0" y="111876"/>
                  <a:pt x="0" y="72089"/>
                </a:cubicBezTo>
                <a:close/>
                <a:moveTo>
                  <a:pt x="36044" y="103627"/>
                </a:moveTo>
                <a:cubicBezTo>
                  <a:pt x="36044" y="106106"/>
                  <a:pt x="38072" y="108133"/>
                  <a:pt x="40550" y="108133"/>
                </a:cubicBezTo>
                <a:lnTo>
                  <a:pt x="49561" y="108133"/>
                </a:lnTo>
                <a:cubicBezTo>
                  <a:pt x="52039" y="108133"/>
                  <a:pt x="54067" y="106106"/>
                  <a:pt x="54067" y="103627"/>
                </a:cubicBezTo>
                <a:cubicBezTo>
                  <a:pt x="54067" y="101149"/>
                  <a:pt x="52039" y="99122"/>
                  <a:pt x="49561" y="99122"/>
                </a:cubicBezTo>
                <a:lnTo>
                  <a:pt x="40550" y="99122"/>
                </a:lnTo>
                <a:cubicBezTo>
                  <a:pt x="38072" y="99122"/>
                  <a:pt x="36044" y="101149"/>
                  <a:pt x="36044" y="103627"/>
                </a:cubicBezTo>
                <a:close/>
                <a:moveTo>
                  <a:pt x="76594" y="72089"/>
                </a:moveTo>
                <a:cubicBezTo>
                  <a:pt x="74116" y="72089"/>
                  <a:pt x="72089" y="74116"/>
                  <a:pt x="72089" y="76594"/>
                </a:cubicBezTo>
                <a:lnTo>
                  <a:pt x="72089" y="85605"/>
                </a:lnTo>
                <a:cubicBezTo>
                  <a:pt x="72089" y="88083"/>
                  <a:pt x="74116" y="90111"/>
                  <a:pt x="76594" y="90111"/>
                </a:cubicBezTo>
                <a:cubicBezTo>
                  <a:pt x="79072" y="90111"/>
                  <a:pt x="81100" y="88083"/>
                  <a:pt x="81100" y="85605"/>
                </a:cubicBezTo>
                <a:lnTo>
                  <a:pt x="81100" y="76594"/>
                </a:lnTo>
                <a:cubicBezTo>
                  <a:pt x="81100" y="74116"/>
                  <a:pt x="79072" y="72089"/>
                  <a:pt x="76594" y="72089"/>
                </a:cubicBezTo>
                <a:close/>
                <a:moveTo>
                  <a:pt x="90111" y="40550"/>
                </a:moveTo>
                <a:lnTo>
                  <a:pt x="90111" y="49561"/>
                </a:lnTo>
                <a:cubicBezTo>
                  <a:pt x="90111" y="52039"/>
                  <a:pt x="92138" y="54067"/>
                  <a:pt x="94616" y="54067"/>
                </a:cubicBezTo>
                <a:cubicBezTo>
                  <a:pt x="97094" y="54067"/>
                  <a:pt x="99122" y="52039"/>
                  <a:pt x="99122" y="49561"/>
                </a:cubicBezTo>
                <a:lnTo>
                  <a:pt x="99122" y="40550"/>
                </a:lnTo>
                <a:cubicBezTo>
                  <a:pt x="99122" y="38072"/>
                  <a:pt x="97094" y="36044"/>
                  <a:pt x="94616" y="36044"/>
                </a:cubicBezTo>
                <a:cubicBezTo>
                  <a:pt x="92138" y="36044"/>
                  <a:pt x="90111" y="38072"/>
                  <a:pt x="90111" y="4055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66" name="Text 64"/>
          <p:cNvSpPr/>
          <p:nvPr/>
        </p:nvSpPr>
        <p:spPr>
          <a:xfrm>
            <a:off x="8643936" y="4298288"/>
            <a:ext cx="937153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15 Countries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91626" y="4586643"/>
            <a:ext cx="322596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CIRDAP member country coverage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83493" y="4983131"/>
            <a:ext cx="3370146" cy="720887"/>
          </a:xfrm>
          <a:custGeom>
            <a:avLst/>
            <a:gdLst/>
            <a:ahLst/>
            <a:cxnLst/>
            <a:rect l="l" t="t" r="r" b="b"/>
            <a:pathLst>
              <a:path w="3370146" h="720887">
                <a:moveTo>
                  <a:pt x="36044" y="0"/>
                </a:moveTo>
                <a:lnTo>
                  <a:pt x="3334102" y="0"/>
                </a:lnTo>
                <a:cubicBezTo>
                  <a:pt x="3354009" y="0"/>
                  <a:pt x="3370146" y="16138"/>
                  <a:pt x="3370146" y="36044"/>
                </a:cubicBezTo>
                <a:lnTo>
                  <a:pt x="3370146" y="684843"/>
                </a:lnTo>
                <a:cubicBezTo>
                  <a:pt x="3370146" y="704749"/>
                  <a:pt x="3354009" y="720887"/>
                  <a:pt x="3334102" y="720887"/>
                </a:cubicBezTo>
                <a:lnTo>
                  <a:pt x="36044" y="720887"/>
                </a:lnTo>
                <a:cubicBezTo>
                  <a:pt x="16138" y="720887"/>
                  <a:pt x="0" y="704749"/>
                  <a:pt x="0" y="684843"/>
                </a:cubicBezTo>
                <a:lnTo>
                  <a:pt x="0" y="36044"/>
                </a:lnTo>
                <a:cubicBezTo>
                  <a:pt x="0" y="16151"/>
                  <a:pt x="16151" y="0"/>
                  <a:pt x="36044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391626" y="5145330"/>
            <a:ext cx="180222" cy="144177"/>
          </a:xfrm>
          <a:custGeom>
            <a:avLst/>
            <a:gdLst/>
            <a:ahLst/>
            <a:cxnLst/>
            <a:rect l="l" t="t" r="r" b="b"/>
            <a:pathLst>
              <a:path w="180222" h="144177">
                <a:moveTo>
                  <a:pt x="0" y="72089"/>
                </a:moveTo>
                <a:cubicBezTo>
                  <a:pt x="0" y="47196"/>
                  <a:pt x="20162" y="27033"/>
                  <a:pt x="45055" y="27033"/>
                </a:cubicBezTo>
                <a:cubicBezTo>
                  <a:pt x="59248" y="27033"/>
                  <a:pt x="72596" y="33707"/>
                  <a:pt x="81100" y="45055"/>
                </a:cubicBezTo>
                <a:lnTo>
                  <a:pt x="90111" y="57080"/>
                </a:lnTo>
                <a:lnTo>
                  <a:pt x="99122" y="45055"/>
                </a:lnTo>
                <a:cubicBezTo>
                  <a:pt x="107626" y="33707"/>
                  <a:pt x="120974" y="27033"/>
                  <a:pt x="135166" y="27033"/>
                </a:cubicBezTo>
                <a:cubicBezTo>
                  <a:pt x="160059" y="27033"/>
                  <a:pt x="180222" y="47196"/>
                  <a:pt x="180222" y="72089"/>
                </a:cubicBezTo>
                <a:cubicBezTo>
                  <a:pt x="180222" y="96982"/>
                  <a:pt x="160059" y="117144"/>
                  <a:pt x="135166" y="117144"/>
                </a:cubicBezTo>
                <a:cubicBezTo>
                  <a:pt x="120974" y="117144"/>
                  <a:pt x="107626" y="110470"/>
                  <a:pt x="99122" y="99122"/>
                </a:cubicBezTo>
                <a:lnTo>
                  <a:pt x="90111" y="87098"/>
                </a:lnTo>
                <a:lnTo>
                  <a:pt x="81100" y="99122"/>
                </a:lnTo>
                <a:cubicBezTo>
                  <a:pt x="72596" y="110470"/>
                  <a:pt x="59248" y="117144"/>
                  <a:pt x="45055" y="117144"/>
                </a:cubicBezTo>
                <a:cubicBezTo>
                  <a:pt x="20162" y="117144"/>
                  <a:pt x="0" y="96982"/>
                  <a:pt x="0" y="72089"/>
                </a:cubicBezTo>
                <a:close/>
                <a:moveTo>
                  <a:pt x="78847" y="72089"/>
                </a:moveTo>
                <a:lnTo>
                  <a:pt x="66682" y="55869"/>
                </a:lnTo>
                <a:cubicBezTo>
                  <a:pt x="61585" y="49054"/>
                  <a:pt x="53560" y="45055"/>
                  <a:pt x="45055" y="45055"/>
                </a:cubicBezTo>
                <a:cubicBezTo>
                  <a:pt x="30131" y="45055"/>
                  <a:pt x="18022" y="57164"/>
                  <a:pt x="18022" y="72089"/>
                </a:cubicBezTo>
                <a:cubicBezTo>
                  <a:pt x="18022" y="87013"/>
                  <a:pt x="30131" y="99122"/>
                  <a:pt x="45055" y="99122"/>
                </a:cubicBezTo>
                <a:cubicBezTo>
                  <a:pt x="53560" y="99122"/>
                  <a:pt x="61585" y="95123"/>
                  <a:pt x="66682" y="88309"/>
                </a:cubicBezTo>
                <a:lnTo>
                  <a:pt x="78847" y="72089"/>
                </a:lnTo>
                <a:close/>
                <a:moveTo>
                  <a:pt x="101375" y="72089"/>
                </a:moveTo>
                <a:lnTo>
                  <a:pt x="113540" y="88309"/>
                </a:lnTo>
                <a:cubicBezTo>
                  <a:pt x="118637" y="95123"/>
                  <a:pt x="126662" y="99122"/>
                  <a:pt x="135166" y="99122"/>
                </a:cubicBezTo>
                <a:cubicBezTo>
                  <a:pt x="150091" y="99122"/>
                  <a:pt x="162200" y="87013"/>
                  <a:pt x="162200" y="72089"/>
                </a:cubicBezTo>
                <a:cubicBezTo>
                  <a:pt x="162200" y="57164"/>
                  <a:pt x="150091" y="45055"/>
                  <a:pt x="135166" y="45055"/>
                </a:cubicBezTo>
                <a:cubicBezTo>
                  <a:pt x="126662" y="45055"/>
                  <a:pt x="118637" y="49054"/>
                  <a:pt x="113540" y="55869"/>
                </a:cubicBezTo>
                <a:lnTo>
                  <a:pt x="101375" y="72089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70" name="Text 68"/>
          <p:cNvSpPr/>
          <p:nvPr/>
        </p:nvSpPr>
        <p:spPr>
          <a:xfrm>
            <a:off x="8643936" y="5091264"/>
            <a:ext cx="1045286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Sustainability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391626" y="5379619"/>
            <a:ext cx="3225969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Self-sustaining circular ecosystem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60443" y="6028417"/>
            <a:ext cx="11471113" cy="829020"/>
          </a:xfrm>
          <a:custGeom>
            <a:avLst/>
            <a:gdLst/>
            <a:ahLst/>
            <a:cxnLst/>
            <a:rect l="l" t="t" r="r" b="b"/>
            <a:pathLst>
              <a:path w="11471113" h="829020">
                <a:moveTo>
                  <a:pt x="36046" y="0"/>
                </a:moveTo>
                <a:lnTo>
                  <a:pt x="11435067" y="0"/>
                </a:lnTo>
                <a:cubicBezTo>
                  <a:pt x="11454975" y="0"/>
                  <a:pt x="11471113" y="16138"/>
                  <a:pt x="11471113" y="36046"/>
                </a:cubicBezTo>
                <a:lnTo>
                  <a:pt x="11471113" y="792974"/>
                </a:lnTo>
                <a:cubicBezTo>
                  <a:pt x="11471113" y="812882"/>
                  <a:pt x="11454975" y="829020"/>
                  <a:pt x="11435067" y="829020"/>
                </a:cubicBezTo>
                <a:lnTo>
                  <a:pt x="36046" y="829020"/>
                </a:lnTo>
                <a:cubicBezTo>
                  <a:pt x="16138" y="829020"/>
                  <a:pt x="0" y="812882"/>
                  <a:pt x="0" y="792974"/>
                </a:cubicBezTo>
                <a:lnTo>
                  <a:pt x="0" y="36046"/>
                </a:lnTo>
                <a:cubicBezTo>
                  <a:pt x="0" y="16152"/>
                  <a:pt x="16152" y="0"/>
                  <a:pt x="36046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73" name="Shape 71"/>
          <p:cNvSpPr/>
          <p:nvPr/>
        </p:nvSpPr>
        <p:spPr>
          <a:xfrm>
            <a:off x="545171" y="6280727"/>
            <a:ext cx="324399" cy="324399"/>
          </a:xfrm>
          <a:custGeom>
            <a:avLst/>
            <a:gdLst/>
            <a:ahLst/>
            <a:cxnLst/>
            <a:rect l="l" t="t" r="r" b="b"/>
            <a:pathLst>
              <a:path w="324399" h="324399">
                <a:moveTo>
                  <a:pt x="81100" y="202749"/>
                </a:moveTo>
                <a:lnTo>
                  <a:pt x="15523" y="202749"/>
                </a:lnTo>
                <a:cubicBezTo>
                  <a:pt x="-253" y="202749"/>
                  <a:pt x="-9947" y="185579"/>
                  <a:pt x="-1837" y="172020"/>
                </a:cubicBezTo>
                <a:lnTo>
                  <a:pt x="31680" y="116137"/>
                </a:lnTo>
                <a:cubicBezTo>
                  <a:pt x="37192" y="106950"/>
                  <a:pt x="47076" y="101375"/>
                  <a:pt x="57784" y="101375"/>
                </a:cubicBezTo>
                <a:lnTo>
                  <a:pt x="117975" y="101375"/>
                </a:lnTo>
                <a:cubicBezTo>
                  <a:pt x="166191" y="19705"/>
                  <a:pt x="238104" y="15586"/>
                  <a:pt x="286194" y="22619"/>
                </a:cubicBezTo>
                <a:cubicBezTo>
                  <a:pt x="294303" y="23823"/>
                  <a:pt x="300639" y="30159"/>
                  <a:pt x="301780" y="38206"/>
                </a:cubicBezTo>
                <a:cubicBezTo>
                  <a:pt x="308813" y="86295"/>
                  <a:pt x="304694" y="158208"/>
                  <a:pt x="223024" y="206424"/>
                </a:cubicBezTo>
                <a:lnTo>
                  <a:pt x="223024" y="266616"/>
                </a:lnTo>
                <a:cubicBezTo>
                  <a:pt x="223024" y="277323"/>
                  <a:pt x="217449" y="287207"/>
                  <a:pt x="208262" y="292720"/>
                </a:cubicBezTo>
                <a:lnTo>
                  <a:pt x="152379" y="326237"/>
                </a:lnTo>
                <a:cubicBezTo>
                  <a:pt x="138883" y="334347"/>
                  <a:pt x="121650" y="324589"/>
                  <a:pt x="121650" y="308876"/>
                </a:cubicBezTo>
                <a:lnTo>
                  <a:pt x="121650" y="243299"/>
                </a:lnTo>
                <a:cubicBezTo>
                  <a:pt x="121650" y="220934"/>
                  <a:pt x="103466" y="202749"/>
                  <a:pt x="81100" y="202749"/>
                </a:cubicBezTo>
                <a:lnTo>
                  <a:pt x="81036" y="202749"/>
                </a:lnTo>
                <a:close/>
                <a:moveTo>
                  <a:pt x="253437" y="101375"/>
                </a:moveTo>
                <a:cubicBezTo>
                  <a:pt x="253437" y="84590"/>
                  <a:pt x="239809" y="70962"/>
                  <a:pt x="223024" y="70962"/>
                </a:cubicBezTo>
                <a:cubicBezTo>
                  <a:pt x="206239" y="70962"/>
                  <a:pt x="192612" y="84590"/>
                  <a:pt x="192612" y="101375"/>
                </a:cubicBezTo>
                <a:cubicBezTo>
                  <a:pt x="192612" y="118160"/>
                  <a:pt x="206239" y="131787"/>
                  <a:pt x="223024" y="131787"/>
                </a:cubicBezTo>
                <a:cubicBezTo>
                  <a:pt x="239809" y="131787"/>
                  <a:pt x="253437" y="118160"/>
                  <a:pt x="253437" y="101375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74" name="Text 72"/>
          <p:cNvSpPr/>
          <p:nvPr/>
        </p:nvSpPr>
        <p:spPr>
          <a:xfrm>
            <a:off x="1054297" y="6190616"/>
            <a:ext cx="5181375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Scaling Trajectory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54297" y="6478971"/>
            <a:ext cx="5163353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500 farmers to regional transformation across 15 CIRDAP member countries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500655" y="6172594"/>
            <a:ext cx="513632" cy="32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9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500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532194" y="6496993"/>
            <a:ext cx="450554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1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0095387" y="6172594"/>
            <a:ext cx="729898" cy="32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9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30K+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0126926" y="6496993"/>
            <a:ext cx="666820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3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0902084" y="6172594"/>
            <a:ext cx="856053" cy="32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9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500K+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0933622" y="6496993"/>
            <a:ext cx="792976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027" y="334027"/>
            <a:ext cx="50104" cy="334027"/>
          </a:xfrm>
          <a:custGeom>
            <a:avLst/>
            <a:gdLst/>
            <a:ahLst/>
            <a:cxnLst/>
            <a:rect l="l" t="t" r="r" b="b"/>
            <a:pathLst>
              <a:path w="50104" h="334027">
                <a:moveTo>
                  <a:pt x="0" y="0"/>
                </a:moveTo>
                <a:lnTo>
                  <a:pt x="50104" y="0"/>
                </a:lnTo>
                <a:lnTo>
                  <a:pt x="50104" y="334027"/>
                </a:lnTo>
                <a:lnTo>
                  <a:pt x="0" y="334027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" name="Text 1"/>
          <p:cNvSpPr/>
          <p:nvPr/>
        </p:nvSpPr>
        <p:spPr>
          <a:xfrm>
            <a:off x="484340" y="400833"/>
            <a:ext cx="1611682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b="1" kern="0" spc="53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ALIGNMENT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4027" y="734860"/>
            <a:ext cx="11674258" cy="37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6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Alignment with CIRDAP Priorities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4027" y="1144044"/>
            <a:ext cx="11599101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4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GreenLoop 3.0 directly supports CIRDAP's 2025-26 strategic focus areas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729" y="1444668"/>
            <a:ext cx="5678466" cy="1503123"/>
          </a:xfrm>
          <a:custGeom>
            <a:avLst/>
            <a:gdLst/>
            <a:ahLst/>
            <a:cxnLst/>
            <a:rect l="l" t="t" r="r" b="b"/>
            <a:pathLst>
              <a:path w="5678466" h="1503123">
                <a:moveTo>
                  <a:pt x="33399" y="0"/>
                </a:moveTo>
                <a:lnTo>
                  <a:pt x="5645066" y="0"/>
                </a:lnTo>
                <a:cubicBezTo>
                  <a:pt x="5663512" y="0"/>
                  <a:pt x="5678466" y="14953"/>
                  <a:pt x="5678466" y="33399"/>
                </a:cubicBezTo>
                <a:lnTo>
                  <a:pt x="5678466" y="1469724"/>
                </a:lnTo>
                <a:cubicBezTo>
                  <a:pt x="5678466" y="1488170"/>
                  <a:pt x="5663512" y="1503123"/>
                  <a:pt x="5645066" y="1503123"/>
                </a:cubicBezTo>
                <a:lnTo>
                  <a:pt x="33399" y="1503123"/>
                </a:lnTo>
                <a:cubicBezTo>
                  <a:pt x="14953" y="1503123"/>
                  <a:pt x="0" y="1488170"/>
                  <a:pt x="0" y="1469724"/>
                </a:cubicBezTo>
                <a:lnTo>
                  <a:pt x="0" y="33399"/>
                </a:lnTo>
                <a:cubicBezTo>
                  <a:pt x="0" y="14966"/>
                  <a:pt x="14966" y="0"/>
                  <a:pt x="333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052" dist="835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0729" y="1444668"/>
            <a:ext cx="33403" cy="1503123"/>
          </a:xfrm>
          <a:custGeom>
            <a:avLst/>
            <a:gdLst/>
            <a:ahLst/>
            <a:cxnLst/>
            <a:rect l="l" t="t" r="r" b="b"/>
            <a:pathLst>
              <a:path w="33403" h="1503123">
                <a:moveTo>
                  <a:pt x="33403" y="0"/>
                </a:moveTo>
                <a:lnTo>
                  <a:pt x="33403" y="0"/>
                </a:lnTo>
                <a:lnTo>
                  <a:pt x="33403" y="1503123"/>
                </a:lnTo>
                <a:lnTo>
                  <a:pt x="33403" y="1503123"/>
                </a:lnTo>
                <a:cubicBezTo>
                  <a:pt x="14955" y="1503123"/>
                  <a:pt x="0" y="1488168"/>
                  <a:pt x="0" y="146972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Shape 6"/>
          <p:cNvSpPr/>
          <p:nvPr/>
        </p:nvSpPr>
        <p:spPr>
          <a:xfrm>
            <a:off x="501041" y="1578279"/>
            <a:ext cx="400833" cy="400833"/>
          </a:xfrm>
          <a:custGeom>
            <a:avLst/>
            <a:gdLst/>
            <a:ahLst/>
            <a:cxnLst/>
            <a:rect l="l" t="t" r="r" b="b"/>
            <a:pathLst>
              <a:path w="400833" h="400833">
                <a:moveTo>
                  <a:pt x="33401" y="0"/>
                </a:moveTo>
                <a:lnTo>
                  <a:pt x="367431" y="0"/>
                </a:lnTo>
                <a:cubicBezTo>
                  <a:pt x="385879" y="0"/>
                  <a:pt x="400833" y="14954"/>
                  <a:pt x="400833" y="33401"/>
                </a:cubicBezTo>
                <a:lnTo>
                  <a:pt x="400833" y="367431"/>
                </a:lnTo>
                <a:cubicBezTo>
                  <a:pt x="400833" y="385879"/>
                  <a:pt x="385879" y="400833"/>
                  <a:pt x="367431" y="400833"/>
                </a:cubicBezTo>
                <a:lnTo>
                  <a:pt x="33401" y="400833"/>
                </a:lnTo>
                <a:cubicBezTo>
                  <a:pt x="14954" y="400833"/>
                  <a:pt x="0" y="385879"/>
                  <a:pt x="0" y="367431"/>
                </a:cubicBezTo>
                <a:lnTo>
                  <a:pt x="0" y="33401"/>
                </a:lnTo>
                <a:cubicBezTo>
                  <a:pt x="0" y="14967"/>
                  <a:pt x="14967" y="0"/>
                  <a:pt x="33401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Shape 7"/>
          <p:cNvSpPr/>
          <p:nvPr/>
        </p:nvSpPr>
        <p:spPr>
          <a:xfrm>
            <a:off x="607512" y="1695189"/>
            <a:ext cx="187890" cy="167014"/>
          </a:xfrm>
          <a:custGeom>
            <a:avLst/>
            <a:gdLst/>
            <a:ahLst/>
            <a:cxnLst/>
            <a:rect l="l" t="t" r="r" b="b"/>
            <a:pathLst>
              <a:path w="187890" h="167014">
                <a:moveTo>
                  <a:pt x="98903" y="-1044"/>
                </a:moveTo>
                <a:cubicBezTo>
                  <a:pt x="98545" y="-2740"/>
                  <a:pt x="97403" y="-4143"/>
                  <a:pt x="95805" y="-4828"/>
                </a:cubicBezTo>
                <a:cubicBezTo>
                  <a:pt x="94206" y="-5513"/>
                  <a:pt x="92379" y="-5317"/>
                  <a:pt x="90944" y="-4371"/>
                </a:cubicBezTo>
                <a:lnTo>
                  <a:pt x="67849" y="10960"/>
                </a:lnTo>
                <a:lnTo>
                  <a:pt x="44787" y="-4338"/>
                </a:lnTo>
                <a:cubicBezTo>
                  <a:pt x="43352" y="-5284"/>
                  <a:pt x="41525" y="-5480"/>
                  <a:pt x="39927" y="-4795"/>
                </a:cubicBezTo>
                <a:cubicBezTo>
                  <a:pt x="38328" y="-4110"/>
                  <a:pt x="37154" y="-2707"/>
                  <a:pt x="36828" y="-1011"/>
                </a:cubicBezTo>
                <a:lnTo>
                  <a:pt x="31315" y="26096"/>
                </a:lnTo>
                <a:lnTo>
                  <a:pt x="4175" y="31576"/>
                </a:lnTo>
                <a:cubicBezTo>
                  <a:pt x="2479" y="31935"/>
                  <a:pt x="1076" y="33077"/>
                  <a:pt x="391" y="34675"/>
                </a:cubicBezTo>
                <a:cubicBezTo>
                  <a:pt x="-294" y="36273"/>
                  <a:pt x="-98" y="38100"/>
                  <a:pt x="848" y="39535"/>
                </a:cubicBezTo>
                <a:lnTo>
                  <a:pt x="16179" y="62630"/>
                </a:lnTo>
                <a:lnTo>
                  <a:pt x="881" y="85692"/>
                </a:lnTo>
                <a:cubicBezTo>
                  <a:pt x="-65" y="87128"/>
                  <a:pt x="-261" y="88954"/>
                  <a:pt x="424" y="90553"/>
                </a:cubicBezTo>
                <a:cubicBezTo>
                  <a:pt x="1109" y="92151"/>
                  <a:pt x="2512" y="93325"/>
                  <a:pt x="4208" y="93652"/>
                </a:cubicBezTo>
                <a:lnTo>
                  <a:pt x="31315" y="99164"/>
                </a:lnTo>
                <a:lnTo>
                  <a:pt x="36795" y="126304"/>
                </a:lnTo>
                <a:cubicBezTo>
                  <a:pt x="37154" y="128000"/>
                  <a:pt x="38296" y="129403"/>
                  <a:pt x="39894" y="130088"/>
                </a:cubicBezTo>
                <a:cubicBezTo>
                  <a:pt x="41492" y="130773"/>
                  <a:pt x="43319" y="130577"/>
                  <a:pt x="44754" y="129631"/>
                </a:cubicBezTo>
                <a:lnTo>
                  <a:pt x="66708" y="115083"/>
                </a:lnTo>
                <a:cubicBezTo>
                  <a:pt x="61554" y="108755"/>
                  <a:pt x="58226" y="100893"/>
                  <a:pt x="57509" y="92282"/>
                </a:cubicBezTo>
                <a:cubicBezTo>
                  <a:pt x="45276" y="88008"/>
                  <a:pt x="36502" y="76396"/>
                  <a:pt x="36502" y="62695"/>
                </a:cubicBezTo>
                <a:cubicBezTo>
                  <a:pt x="36502" y="45407"/>
                  <a:pt x="50528" y="31380"/>
                  <a:pt x="67817" y="31380"/>
                </a:cubicBezTo>
                <a:cubicBezTo>
                  <a:pt x="74895" y="31380"/>
                  <a:pt x="81452" y="33729"/>
                  <a:pt x="86671" y="37709"/>
                </a:cubicBezTo>
                <a:cubicBezTo>
                  <a:pt x="91727" y="31967"/>
                  <a:pt x="98708" y="27923"/>
                  <a:pt x="106602" y="26618"/>
                </a:cubicBezTo>
                <a:lnTo>
                  <a:pt x="104384" y="26096"/>
                </a:lnTo>
                <a:lnTo>
                  <a:pt x="98903" y="-1044"/>
                </a:lnTo>
                <a:close/>
                <a:moveTo>
                  <a:pt x="79266" y="51898"/>
                </a:moveTo>
                <a:cubicBezTo>
                  <a:pt x="76396" y="48865"/>
                  <a:pt x="72351" y="46973"/>
                  <a:pt x="67849" y="46973"/>
                </a:cubicBezTo>
                <a:cubicBezTo>
                  <a:pt x="59205" y="46973"/>
                  <a:pt x="52192" y="53986"/>
                  <a:pt x="52192" y="62630"/>
                </a:cubicBezTo>
                <a:cubicBezTo>
                  <a:pt x="52192" y="68176"/>
                  <a:pt x="55095" y="73068"/>
                  <a:pt x="59433" y="75841"/>
                </a:cubicBezTo>
                <a:cubicBezTo>
                  <a:pt x="62761" y="65599"/>
                  <a:pt x="69904" y="57117"/>
                  <a:pt x="79234" y="52029"/>
                </a:cubicBezTo>
                <a:lnTo>
                  <a:pt x="79266" y="51898"/>
                </a:lnTo>
                <a:close/>
                <a:moveTo>
                  <a:pt x="99164" y="114822"/>
                </a:moveTo>
                <a:lnTo>
                  <a:pt x="161795" y="114822"/>
                </a:lnTo>
                <a:cubicBezTo>
                  <a:pt x="176213" y="114822"/>
                  <a:pt x="187890" y="103144"/>
                  <a:pt x="187890" y="88726"/>
                </a:cubicBezTo>
                <a:cubicBezTo>
                  <a:pt x="187890" y="77668"/>
                  <a:pt x="181008" y="68208"/>
                  <a:pt x="171287" y="64424"/>
                </a:cubicBezTo>
                <a:cubicBezTo>
                  <a:pt x="171907" y="62206"/>
                  <a:pt x="172233" y="59857"/>
                  <a:pt x="172233" y="57411"/>
                </a:cubicBezTo>
                <a:cubicBezTo>
                  <a:pt x="172233" y="42993"/>
                  <a:pt x="160555" y="31315"/>
                  <a:pt x="146137" y="31315"/>
                </a:cubicBezTo>
                <a:cubicBezTo>
                  <a:pt x="136090" y="31315"/>
                  <a:pt x="127381" y="36991"/>
                  <a:pt x="123010" y="45276"/>
                </a:cubicBezTo>
                <a:cubicBezTo>
                  <a:pt x="119976" y="43058"/>
                  <a:pt x="116257" y="41753"/>
                  <a:pt x="112212" y="41753"/>
                </a:cubicBezTo>
                <a:cubicBezTo>
                  <a:pt x="102133" y="41753"/>
                  <a:pt x="93945" y="49941"/>
                  <a:pt x="93945" y="60021"/>
                </a:cubicBezTo>
                <a:cubicBezTo>
                  <a:pt x="93945" y="61064"/>
                  <a:pt x="94043" y="62108"/>
                  <a:pt x="94206" y="63087"/>
                </a:cubicBezTo>
                <a:cubicBezTo>
                  <a:pt x="82169" y="65403"/>
                  <a:pt x="73068" y="76004"/>
                  <a:pt x="73068" y="88726"/>
                </a:cubicBezTo>
                <a:cubicBezTo>
                  <a:pt x="73068" y="103144"/>
                  <a:pt x="84746" y="114822"/>
                  <a:pt x="99164" y="114822"/>
                </a:cubicBezTo>
                <a:close/>
                <a:moveTo>
                  <a:pt x="92967" y="130838"/>
                </a:moveTo>
                <a:cubicBezTo>
                  <a:pt x="88857" y="129468"/>
                  <a:pt x="84420" y="131686"/>
                  <a:pt x="83050" y="135796"/>
                </a:cubicBezTo>
                <a:lnTo>
                  <a:pt x="76070" y="156706"/>
                </a:lnTo>
                <a:cubicBezTo>
                  <a:pt x="74699" y="160816"/>
                  <a:pt x="76918" y="165252"/>
                  <a:pt x="81028" y="166622"/>
                </a:cubicBezTo>
                <a:cubicBezTo>
                  <a:pt x="85138" y="167992"/>
                  <a:pt x="89574" y="165774"/>
                  <a:pt x="90944" y="161664"/>
                </a:cubicBezTo>
                <a:lnTo>
                  <a:pt x="97925" y="140755"/>
                </a:lnTo>
                <a:cubicBezTo>
                  <a:pt x="99295" y="136645"/>
                  <a:pt x="97077" y="132208"/>
                  <a:pt x="92967" y="130838"/>
                </a:cubicBezTo>
                <a:close/>
                <a:moveTo>
                  <a:pt x="132110" y="130838"/>
                </a:moveTo>
                <a:cubicBezTo>
                  <a:pt x="128000" y="129468"/>
                  <a:pt x="123564" y="131686"/>
                  <a:pt x="122194" y="135796"/>
                </a:cubicBezTo>
                <a:lnTo>
                  <a:pt x="115213" y="156706"/>
                </a:lnTo>
                <a:cubicBezTo>
                  <a:pt x="113843" y="160816"/>
                  <a:pt x="116061" y="165252"/>
                  <a:pt x="120172" y="166622"/>
                </a:cubicBezTo>
                <a:cubicBezTo>
                  <a:pt x="124282" y="167992"/>
                  <a:pt x="128718" y="165774"/>
                  <a:pt x="130088" y="161664"/>
                </a:cubicBezTo>
                <a:lnTo>
                  <a:pt x="137069" y="140755"/>
                </a:lnTo>
                <a:cubicBezTo>
                  <a:pt x="138439" y="136645"/>
                  <a:pt x="136221" y="132208"/>
                  <a:pt x="132110" y="130838"/>
                </a:cubicBezTo>
                <a:close/>
                <a:moveTo>
                  <a:pt x="171254" y="130838"/>
                </a:moveTo>
                <a:cubicBezTo>
                  <a:pt x="167144" y="129468"/>
                  <a:pt x="162708" y="131686"/>
                  <a:pt x="161338" y="135796"/>
                </a:cubicBezTo>
                <a:lnTo>
                  <a:pt x="154357" y="156706"/>
                </a:lnTo>
                <a:cubicBezTo>
                  <a:pt x="152987" y="160816"/>
                  <a:pt x="155205" y="165252"/>
                  <a:pt x="159315" y="166622"/>
                </a:cubicBezTo>
                <a:cubicBezTo>
                  <a:pt x="163426" y="167992"/>
                  <a:pt x="167862" y="165774"/>
                  <a:pt x="169232" y="161664"/>
                </a:cubicBezTo>
                <a:lnTo>
                  <a:pt x="176213" y="140755"/>
                </a:lnTo>
                <a:cubicBezTo>
                  <a:pt x="177583" y="136645"/>
                  <a:pt x="175364" y="132208"/>
                  <a:pt x="171254" y="1308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2082" y="1661786"/>
            <a:ext cx="2396647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Climate-Resilient Food Security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1041" y="2045918"/>
            <a:ext cx="5461348" cy="43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CIRDAP's priority on </a:t>
            </a:r>
            <a:r>
              <a:rPr lang="en-US" sz="1052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climate-resilient food security and safety</a:t>
            </a:r>
            <a:r>
              <a:rPr lang="en-US" sz="105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aligns with GreenLoop's 3F4D+MD irrigation, solar cold chain, and carbon sequestration.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1041" y="2546959"/>
            <a:ext cx="1269304" cy="267222"/>
          </a:xfrm>
          <a:custGeom>
            <a:avLst/>
            <a:gdLst/>
            <a:ahLst/>
            <a:cxnLst/>
            <a:rect l="l" t="t" r="r" b="b"/>
            <a:pathLst>
              <a:path w="1269304" h="267222">
                <a:moveTo>
                  <a:pt x="33403" y="0"/>
                </a:moveTo>
                <a:lnTo>
                  <a:pt x="1235901" y="0"/>
                </a:lnTo>
                <a:cubicBezTo>
                  <a:pt x="1254349" y="0"/>
                  <a:pt x="1269304" y="14955"/>
                  <a:pt x="1269304" y="33403"/>
                </a:cubicBezTo>
                <a:lnTo>
                  <a:pt x="1269304" y="233819"/>
                </a:lnTo>
                <a:cubicBezTo>
                  <a:pt x="1269304" y="252267"/>
                  <a:pt x="1254349" y="267222"/>
                  <a:pt x="1235901" y="267222"/>
                </a:cubicBezTo>
                <a:lnTo>
                  <a:pt x="33403" y="267222"/>
                </a:lnTo>
                <a:cubicBezTo>
                  <a:pt x="14955" y="267222"/>
                  <a:pt x="0" y="252267"/>
                  <a:pt x="0" y="233819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1041" y="2546959"/>
            <a:ext cx="1336110" cy="267222"/>
          </a:xfrm>
          <a:prstGeom prst="rect">
            <a:avLst/>
          </a:prstGeom>
          <a:noFill/>
          <a:ln/>
        </p:spPr>
        <p:txBody>
          <a:bodyPr wrap="square" lIns="100208" tIns="33403" rIns="100208" bIns="33403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57% water savings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35822" y="2546959"/>
            <a:ext cx="1219200" cy="267222"/>
          </a:xfrm>
          <a:custGeom>
            <a:avLst/>
            <a:gdLst/>
            <a:ahLst/>
            <a:cxnLst/>
            <a:rect l="l" t="t" r="r" b="b"/>
            <a:pathLst>
              <a:path w="1219200" h="267222">
                <a:moveTo>
                  <a:pt x="33403" y="0"/>
                </a:moveTo>
                <a:lnTo>
                  <a:pt x="1185797" y="0"/>
                </a:lnTo>
                <a:cubicBezTo>
                  <a:pt x="1204245" y="0"/>
                  <a:pt x="1219200" y="14955"/>
                  <a:pt x="1219200" y="33403"/>
                </a:cubicBezTo>
                <a:lnTo>
                  <a:pt x="1219200" y="233819"/>
                </a:lnTo>
                <a:cubicBezTo>
                  <a:pt x="1219200" y="252267"/>
                  <a:pt x="1204245" y="267222"/>
                  <a:pt x="1185797" y="267222"/>
                </a:cubicBezTo>
                <a:lnTo>
                  <a:pt x="33403" y="267222"/>
                </a:lnTo>
                <a:cubicBezTo>
                  <a:pt x="14955" y="267222"/>
                  <a:pt x="0" y="252267"/>
                  <a:pt x="0" y="233819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835822" y="2546959"/>
            <a:ext cx="1286005" cy="267222"/>
          </a:xfrm>
          <a:prstGeom prst="rect">
            <a:avLst/>
          </a:prstGeom>
          <a:noFill/>
          <a:ln/>
        </p:spPr>
        <p:txBody>
          <a:bodyPr wrap="square" lIns="100208" tIns="33403" rIns="100208" bIns="33403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3,500kg CO₂/unit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0729" y="3048000"/>
            <a:ext cx="5678466" cy="1503123"/>
          </a:xfrm>
          <a:custGeom>
            <a:avLst/>
            <a:gdLst/>
            <a:ahLst/>
            <a:cxnLst/>
            <a:rect l="l" t="t" r="r" b="b"/>
            <a:pathLst>
              <a:path w="5678466" h="1503123">
                <a:moveTo>
                  <a:pt x="33399" y="0"/>
                </a:moveTo>
                <a:lnTo>
                  <a:pt x="5645066" y="0"/>
                </a:lnTo>
                <a:cubicBezTo>
                  <a:pt x="5663512" y="0"/>
                  <a:pt x="5678466" y="14953"/>
                  <a:pt x="5678466" y="33399"/>
                </a:cubicBezTo>
                <a:lnTo>
                  <a:pt x="5678466" y="1469724"/>
                </a:lnTo>
                <a:cubicBezTo>
                  <a:pt x="5678466" y="1488170"/>
                  <a:pt x="5663512" y="1503123"/>
                  <a:pt x="5645066" y="1503123"/>
                </a:cubicBezTo>
                <a:lnTo>
                  <a:pt x="33399" y="1503123"/>
                </a:lnTo>
                <a:cubicBezTo>
                  <a:pt x="14953" y="1503123"/>
                  <a:pt x="0" y="1488170"/>
                  <a:pt x="0" y="1469724"/>
                </a:cubicBezTo>
                <a:lnTo>
                  <a:pt x="0" y="33399"/>
                </a:lnTo>
                <a:cubicBezTo>
                  <a:pt x="0" y="14966"/>
                  <a:pt x="14966" y="0"/>
                  <a:pt x="333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052" dist="835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0729" y="3048000"/>
            <a:ext cx="33403" cy="1503123"/>
          </a:xfrm>
          <a:custGeom>
            <a:avLst/>
            <a:gdLst/>
            <a:ahLst/>
            <a:cxnLst/>
            <a:rect l="l" t="t" r="r" b="b"/>
            <a:pathLst>
              <a:path w="33403" h="1503123">
                <a:moveTo>
                  <a:pt x="33403" y="0"/>
                </a:moveTo>
                <a:lnTo>
                  <a:pt x="33403" y="0"/>
                </a:lnTo>
                <a:lnTo>
                  <a:pt x="33403" y="1503123"/>
                </a:lnTo>
                <a:lnTo>
                  <a:pt x="33403" y="1503123"/>
                </a:lnTo>
                <a:cubicBezTo>
                  <a:pt x="14955" y="1503123"/>
                  <a:pt x="0" y="1488168"/>
                  <a:pt x="0" y="146972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18" name="Shape 16"/>
          <p:cNvSpPr/>
          <p:nvPr/>
        </p:nvSpPr>
        <p:spPr>
          <a:xfrm>
            <a:off x="501041" y="3181611"/>
            <a:ext cx="400833" cy="400833"/>
          </a:xfrm>
          <a:custGeom>
            <a:avLst/>
            <a:gdLst/>
            <a:ahLst/>
            <a:cxnLst/>
            <a:rect l="l" t="t" r="r" b="b"/>
            <a:pathLst>
              <a:path w="400833" h="400833">
                <a:moveTo>
                  <a:pt x="33401" y="0"/>
                </a:moveTo>
                <a:lnTo>
                  <a:pt x="367431" y="0"/>
                </a:lnTo>
                <a:cubicBezTo>
                  <a:pt x="385879" y="0"/>
                  <a:pt x="400833" y="14954"/>
                  <a:pt x="400833" y="33401"/>
                </a:cubicBezTo>
                <a:lnTo>
                  <a:pt x="400833" y="367431"/>
                </a:lnTo>
                <a:cubicBezTo>
                  <a:pt x="400833" y="385879"/>
                  <a:pt x="385879" y="400833"/>
                  <a:pt x="367431" y="400833"/>
                </a:cubicBezTo>
                <a:lnTo>
                  <a:pt x="33401" y="400833"/>
                </a:lnTo>
                <a:cubicBezTo>
                  <a:pt x="14954" y="400833"/>
                  <a:pt x="0" y="385879"/>
                  <a:pt x="0" y="367431"/>
                </a:cubicBezTo>
                <a:lnTo>
                  <a:pt x="0" y="33401"/>
                </a:lnTo>
                <a:cubicBezTo>
                  <a:pt x="0" y="14967"/>
                  <a:pt x="14967" y="0"/>
                  <a:pt x="33401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19" name="Shape 17"/>
          <p:cNvSpPr/>
          <p:nvPr/>
        </p:nvSpPr>
        <p:spPr>
          <a:xfrm>
            <a:off x="597074" y="3298521"/>
            <a:ext cx="208767" cy="167014"/>
          </a:xfrm>
          <a:custGeom>
            <a:avLst/>
            <a:gdLst/>
            <a:ahLst/>
            <a:cxnLst/>
            <a:rect l="l" t="t" r="r" b="b"/>
            <a:pathLst>
              <a:path w="208767" h="167014">
                <a:moveTo>
                  <a:pt x="20877" y="31315"/>
                </a:moveTo>
                <a:cubicBezTo>
                  <a:pt x="20877" y="19800"/>
                  <a:pt x="30239" y="10438"/>
                  <a:pt x="41753" y="10438"/>
                </a:cubicBezTo>
                <a:lnTo>
                  <a:pt x="167014" y="10438"/>
                </a:lnTo>
                <a:cubicBezTo>
                  <a:pt x="178529" y="10438"/>
                  <a:pt x="187890" y="19800"/>
                  <a:pt x="187890" y="31315"/>
                </a:cubicBezTo>
                <a:lnTo>
                  <a:pt x="187890" y="109603"/>
                </a:lnTo>
                <a:lnTo>
                  <a:pt x="167014" y="109603"/>
                </a:lnTo>
                <a:lnTo>
                  <a:pt x="167014" y="31315"/>
                </a:lnTo>
                <a:lnTo>
                  <a:pt x="41753" y="31315"/>
                </a:lnTo>
                <a:lnTo>
                  <a:pt x="41753" y="109603"/>
                </a:lnTo>
                <a:lnTo>
                  <a:pt x="20877" y="109603"/>
                </a:lnTo>
                <a:lnTo>
                  <a:pt x="20877" y="31315"/>
                </a:lnTo>
                <a:close/>
                <a:moveTo>
                  <a:pt x="0" y="131523"/>
                </a:moveTo>
                <a:cubicBezTo>
                  <a:pt x="0" y="128066"/>
                  <a:pt x="2805" y="125260"/>
                  <a:pt x="6263" y="125260"/>
                </a:cubicBezTo>
                <a:lnTo>
                  <a:pt x="202504" y="125260"/>
                </a:lnTo>
                <a:cubicBezTo>
                  <a:pt x="205962" y="125260"/>
                  <a:pt x="208767" y="128066"/>
                  <a:pt x="208767" y="131523"/>
                </a:cubicBezTo>
                <a:cubicBezTo>
                  <a:pt x="208767" y="145354"/>
                  <a:pt x="197546" y="156575"/>
                  <a:pt x="183715" y="156575"/>
                </a:cubicBezTo>
                <a:lnTo>
                  <a:pt x="25052" y="156575"/>
                </a:lnTo>
                <a:cubicBezTo>
                  <a:pt x="11221" y="156575"/>
                  <a:pt x="0" y="145354"/>
                  <a:pt x="0" y="131523"/>
                </a:cubicBezTo>
                <a:close/>
                <a:moveTo>
                  <a:pt x="91662" y="68176"/>
                </a:moveTo>
                <a:lnTo>
                  <a:pt x="81550" y="78288"/>
                </a:lnTo>
                <a:lnTo>
                  <a:pt x="91662" y="88400"/>
                </a:lnTo>
                <a:cubicBezTo>
                  <a:pt x="94728" y="91466"/>
                  <a:pt x="94728" y="96424"/>
                  <a:pt x="91662" y="99458"/>
                </a:cubicBezTo>
                <a:cubicBezTo>
                  <a:pt x="88596" y="102492"/>
                  <a:pt x="83637" y="102524"/>
                  <a:pt x="80604" y="99458"/>
                </a:cubicBezTo>
                <a:lnTo>
                  <a:pt x="64946" y="83800"/>
                </a:lnTo>
                <a:cubicBezTo>
                  <a:pt x="61880" y="80734"/>
                  <a:pt x="61880" y="75776"/>
                  <a:pt x="64946" y="72742"/>
                </a:cubicBezTo>
                <a:lnTo>
                  <a:pt x="80604" y="57085"/>
                </a:lnTo>
                <a:cubicBezTo>
                  <a:pt x="83670" y="54018"/>
                  <a:pt x="88628" y="54018"/>
                  <a:pt x="91662" y="57085"/>
                </a:cubicBezTo>
                <a:cubicBezTo>
                  <a:pt x="94695" y="60151"/>
                  <a:pt x="94728" y="65109"/>
                  <a:pt x="91662" y="68143"/>
                </a:cubicBezTo>
                <a:close/>
                <a:moveTo>
                  <a:pt x="128196" y="57085"/>
                </a:moveTo>
                <a:lnTo>
                  <a:pt x="143854" y="72742"/>
                </a:lnTo>
                <a:cubicBezTo>
                  <a:pt x="146920" y="75809"/>
                  <a:pt x="146920" y="80767"/>
                  <a:pt x="143854" y="83800"/>
                </a:cubicBezTo>
                <a:lnTo>
                  <a:pt x="128196" y="99458"/>
                </a:lnTo>
                <a:cubicBezTo>
                  <a:pt x="125130" y="102524"/>
                  <a:pt x="120172" y="102524"/>
                  <a:pt x="117138" y="99458"/>
                </a:cubicBezTo>
                <a:cubicBezTo>
                  <a:pt x="114104" y="96392"/>
                  <a:pt x="114072" y="91433"/>
                  <a:pt x="117138" y="88400"/>
                </a:cubicBezTo>
                <a:lnTo>
                  <a:pt x="127250" y="78288"/>
                </a:lnTo>
                <a:lnTo>
                  <a:pt x="117138" y="68176"/>
                </a:lnTo>
                <a:cubicBezTo>
                  <a:pt x="114072" y="65109"/>
                  <a:pt x="114072" y="60151"/>
                  <a:pt x="117138" y="57117"/>
                </a:cubicBezTo>
                <a:cubicBezTo>
                  <a:pt x="120204" y="54084"/>
                  <a:pt x="125162" y="54051"/>
                  <a:pt x="128196" y="571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2082" y="3265118"/>
            <a:ext cx="2020866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Digital Rural Development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1041" y="3649249"/>
            <a:ext cx="5461348" cy="43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CIRDAP's </a:t>
            </a:r>
            <a:r>
              <a:rPr lang="en-US" sz="1052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integration and digital innovation</a:t>
            </a:r>
            <a:r>
              <a:rPr lang="en-US" sz="105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focus matches GreenLoop's AI advisory, blockchain governance, and Knowledge Circuit potential.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1041" y="4150290"/>
            <a:ext cx="1169096" cy="267222"/>
          </a:xfrm>
          <a:custGeom>
            <a:avLst/>
            <a:gdLst/>
            <a:ahLst/>
            <a:cxnLst/>
            <a:rect l="l" t="t" r="r" b="b"/>
            <a:pathLst>
              <a:path w="1169096" h="267222">
                <a:moveTo>
                  <a:pt x="33403" y="0"/>
                </a:moveTo>
                <a:lnTo>
                  <a:pt x="1135693" y="0"/>
                </a:lnTo>
                <a:cubicBezTo>
                  <a:pt x="1154141" y="0"/>
                  <a:pt x="1169096" y="14955"/>
                  <a:pt x="1169096" y="33403"/>
                </a:cubicBezTo>
                <a:lnTo>
                  <a:pt x="1169096" y="233819"/>
                </a:lnTo>
                <a:cubicBezTo>
                  <a:pt x="1169096" y="252267"/>
                  <a:pt x="1154141" y="267222"/>
                  <a:pt x="1135693" y="267222"/>
                </a:cubicBezTo>
                <a:lnTo>
                  <a:pt x="33403" y="267222"/>
                </a:lnTo>
                <a:cubicBezTo>
                  <a:pt x="14955" y="267222"/>
                  <a:pt x="0" y="252267"/>
                  <a:pt x="0" y="233819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1041" y="4150290"/>
            <a:ext cx="1235901" cy="267222"/>
          </a:xfrm>
          <a:prstGeom prst="rect">
            <a:avLst/>
          </a:prstGeom>
          <a:noFill/>
          <a:ln/>
        </p:spPr>
        <p:txBody>
          <a:bodyPr wrap="square" lIns="100208" tIns="33403" rIns="100208" bIns="33403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penetration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35234" y="4150290"/>
            <a:ext cx="684756" cy="267222"/>
          </a:xfrm>
          <a:custGeom>
            <a:avLst/>
            <a:gdLst/>
            <a:ahLst/>
            <a:cxnLst/>
            <a:rect l="l" t="t" r="r" b="b"/>
            <a:pathLst>
              <a:path w="684756" h="267222">
                <a:moveTo>
                  <a:pt x="33403" y="0"/>
                </a:moveTo>
                <a:lnTo>
                  <a:pt x="651353" y="0"/>
                </a:lnTo>
                <a:cubicBezTo>
                  <a:pt x="669801" y="0"/>
                  <a:pt x="684756" y="14955"/>
                  <a:pt x="684756" y="33403"/>
                </a:cubicBezTo>
                <a:lnTo>
                  <a:pt x="684756" y="233819"/>
                </a:lnTo>
                <a:cubicBezTo>
                  <a:pt x="684756" y="252267"/>
                  <a:pt x="669801" y="267222"/>
                  <a:pt x="651353" y="267222"/>
                </a:cubicBezTo>
                <a:lnTo>
                  <a:pt x="33403" y="267222"/>
                </a:lnTo>
                <a:cubicBezTo>
                  <a:pt x="14955" y="267222"/>
                  <a:pt x="0" y="252267"/>
                  <a:pt x="0" y="233819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735234" y="4150290"/>
            <a:ext cx="751562" cy="267222"/>
          </a:xfrm>
          <a:prstGeom prst="rect">
            <a:avLst/>
          </a:prstGeom>
          <a:noFill/>
          <a:ln/>
        </p:spPr>
        <p:txBody>
          <a:bodyPr wrap="square" lIns="100208" tIns="33403" rIns="100208" bIns="33403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UI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0729" y="4651332"/>
            <a:ext cx="5678466" cy="1503123"/>
          </a:xfrm>
          <a:custGeom>
            <a:avLst/>
            <a:gdLst/>
            <a:ahLst/>
            <a:cxnLst/>
            <a:rect l="l" t="t" r="r" b="b"/>
            <a:pathLst>
              <a:path w="5678466" h="1503123">
                <a:moveTo>
                  <a:pt x="33399" y="0"/>
                </a:moveTo>
                <a:lnTo>
                  <a:pt x="5645066" y="0"/>
                </a:lnTo>
                <a:cubicBezTo>
                  <a:pt x="5663512" y="0"/>
                  <a:pt x="5678466" y="14953"/>
                  <a:pt x="5678466" y="33399"/>
                </a:cubicBezTo>
                <a:lnTo>
                  <a:pt x="5678466" y="1469724"/>
                </a:lnTo>
                <a:cubicBezTo>
                  <a:pt x="5678466" y="1488170"/>
                  <a:pt x="5663512" y="1503123"/>
                  <a:pt x="5645066" y="1503123"/>
                </a:cubicBezTo>
                <a:lnTo>
                  <a:pt x="33399" y="1503123"/>
                </a:lnTo>
                <a:cubicBezTo>
                  <a:pt x="14953" y="1503123"/>
                  <a:pt x="0" y="1488170"/>
                  <a:pt x="0" y="1469724"/>
                </a:cubicBezTo>
                <a:lnTo>
                  <a:pt x="0" y="33399"/>
                </a:lnTo>
                <a:cubicBezTo>
                  <a:pt x="0" y="14966"/>
                  <a:pt x="14966" y="0"/>
                  <a:pt x="333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052" dist="835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0729" y="4651332"/>
            <a:ext cx="33403" cy="1503123"/>
          </a:xfrm>
          <a:custGeom>
            <a:avLst/>
            <a:gdLst/>
            <a:ahLst/>
            <a:cxnLst/>
            <a:rect l="l" t="t" r="r" b="b"/>
            <a:pathLst>
              <a:path w="33403" h="1503123">
                <a:moveTo>
                  <a:pt x="33403" y="0"/>
                </a:moveTo>
                <a:lnTo>
                  <a:pt x="33403" y="0"/>
                </a:lnTo>
                <a:lnTo>
                  <a:pt x="33403" y="1503123"/>
                </a:lnTo>
                <a:lnTo>
                  <a:pt x="33403" y="1503123"/>
                </a:lnTo>
                <a:cubicBezTo>
                  <a:pt x="14955" y="1503123"/>
                  <a:pt x="0" y="1488168"/>
                  <a:pt x="0" y="146972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8" name="Shape 26"/>
          <p:cNvSpPr/>
          <p:nvPr/>
        </p:nvSpPr>
        <p:spPr>
          <a:xfrm>
            <a:off x="501041" y="4784942"/>
            <a:ext cx="400833" cy="400833"/>
          </a:xfrm>
          <a:custGeom>
            <a:avLst/>
            <a:gdLst/>
            <a:ahLst/>
            <a:cxnLst/>
            <a:rect l="l" t="t" r="r" b="b"/>
            <a:pathLst>
              <a:path w="400833" h="400833">
                <a:moveTo>
                  <a:pt x="33401" y="0"/>
                </a:moveTo>
                <a:lnTo>
                  <a:pt x="367431" y="0"/>
                </a:lnTo>
                <a:cubicBezTo>
                  <a:pt x="385879" y="0"/>
                  <a:pt x="400833" y="14954"/>
                  <a:pt x="400833" y="33401"/>
                </a:cubicBezTo>
                <a:lnTo>
                  <a:pt x="400833" y="367431"/>
                </a:lnTo>
                <a:cubicBezTo>
                  <a:pt x="400833" y="385879"/>
                  <a:pt x="385879" y="400833"/>
                  <a:pt x="367431" y="400833"/>
                </a:cubicBezTo>
                <a:lnTo>
                  <a:pt x="33401" y="400833"/>
                </a:lnTo>
                <a:cubicBezTo>
                  <a:pt x="14954" y="400833"/>
                  <a:pt x="0" y="385879"/>
                  <a:pt x="0" y="367431"/>
                </a:cubicBezTo>
                <a:lnTo>
                  <a:pt x="0" y="33401"/>
                </a:lnTo>
                <a:cubicBezTo>
                  <a:pt x="0" y="14967"/>
                  <a:pt x="14967" y="0"/>
                  <a:pt x="33401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9" name="Shape 27"/>
          <p:cNvSpPr/>
          <p:nvPr/>
        </p:nvSpPr>
        <p:spPr>
          <a:xfrm>
            <a:off x="638827" y="4901852"/>
            <a:ext cx="125260" cy="167014"/>
          </a:xfrm>
          <a:custGeom>
            <a:avLst/>
            <a:gdLst/>
            <a:ahLst/>
            <a:cxnLst/>
            <a:rect l="l" t="t" r="r" b="b"/>
            <a:pathLst>
              <a:path w="125260" h="167014">
                <a:moveTo>
                  <a:pt x="26096" y="57411"/>
                </a:moveTo>
                <a:cubicBezTo>
                  <a:pt x="26096" y="37247"/>
                  <a:pt x="42466" y="20877"/>
                  <a:pt x="62630" y="20877"/>
                </a:cubicBezTo>
                <a:cubicBezTo>
                  <a:pt x="82794" y="20877"/>
                  <a:pt x="99164" y="37247"/>
                  <a:pt x="99164" y="57411"/>
                </a:cubicBezTo>
                <a:cubicBezTo>
                  <a:pt x="99164" y="77575"/>
                  <a:pt x="82794" y="93945"/>
                  <a:pt x="62630" y="93945"/>
                </a:cubicBezTo>
                <a:cubicBezTo>
                  <a:pt x="42466" y="93945"/>
                  <a:pt x="26096" y="77575"/>
                  <a:pt x="26096" y="57411"/>
                </a:cubicBezTo>
                <a:close/>
                <a:moveTo>
                  <a:pt x="73036" y="113876"/>
                </a:moveTo>
                <a:cubicBezTo>
                  <a:pt x="99784" y="108983"/>
                  <a:pt x="120041" y="85562"/>
                  <a:pt x="120041" y="57411"/>
                </a:cubicBezTo>
                <a:cubicBezTo>
                  <a:pt x="120041" y="25704"/>
                  <a:pt x="94337" y="0"/>
                  <a:pt x="62630" y="0"/>
                </a:cubicBezTo>
                <a:cubicBezTo>
                  <a:pt x="30924" y="0"/>
                  <a:pt x="5219" y="25704"/>
                  <a:pt x="5219" y="57411"/>
                </a:cubicBezTo>
                <a:cubicBezTo>
                  <a:pt x="5219" y="85562"/>
                  <a:pt x="25476" y="108983"/>
                  <a:pt x="52224" y="113876"/>
                </a:cubicBezTo>
                <a:cubicBezTo>
                  <a:pt x="52192" y="114202"/>
                  <a:pt x="52192" y="114496"/>
                  <a:pt x="52192" y="114822"/>
                </a:cubicBezTo>
                <a:lnTo>
                  <a:pt x="52192" y="135699"/>
                </a:lnTo>
                <a:lnTo>
                  <a:pt x="41753" y="135699"/>
                </a:lnTo>
                <a:cubicBezTo>
                  <a:pt x="35980" y="135699"/>
                  <a:pt x="31315" y="140363"/>
                  <a:pt x="31315" y="146137"/>
                </a:cubicBezTo>
                <a:cubicBezTo>
                  <a:pt x="31315" y="151911"/>
                  <a:pt x="35980" y="156575"/>
                  <a:pt x="41753" y="156575"/>
                </a:cubicBezTo>
                <a:lnTo>
                  <a:pt x="52192" y="156575"/>
                </a:lnTo>
                <a:lnTo>
                  <a:pt x="52192" y="167014"/>
                </a:lnTo>
                <a:cubicBezTo>
                  <a:pt x="52192" y="172787"/>
                  <a:pt x="56856" y="177452"/>
                  <a:pt x="62630" y="177452"/>
                </a:cubicBezTo>
                <a:cubicBezTo>
                  <a:pt x="68404" y="177452"/>
                  <a:pt x="73068" y="172787"/>
                  <a:pt x="73068" y="167014"/>
                </a:cubicBezTo>
                <a:lnTo>
                  <a:pt x="73068" y="156575"/>
                </a:lnTo>
                <a:lnTo>
                  <a:pt x="83507" y="156575"/>
                </a:lnTo>
                <a:cubicBezTo>
                  <a:pt x="89281" y="156575"/>
                  <a:pt x="93945" y="151911"/>
                  <a:pt x="93945" y="146137"/>
                </a:cubicBezTo>
                <a:cubicBezTo>
                  <a:pt x="93945" y="140363"/>
                  <a:pt x="89281" y="135699"/>
                  <a:pt x="83507" y="135699"/>
                </a:cubicBezTo>
                <a:lnTo>
                  <a:pt x="73068" y="135699"/>
                </a:lnTo>
                <a:lnTo>
                  <a:pt x="73068" y="114822"/>
                </a:lnTo>
                <a:cubicBezTo>
                  <a:pt x="73068" y="114496"/>
                  <a:pt x="73068" y="114202"/>
                  <a:pt x="73036" y="11387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02082" y="4868449"/>
            <a:ext cx="2521907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Gender-Responsive Programming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1041" y="5252581"/>
            <a:ext cx="5461348" cy="43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CIRDAP's </a:t>
            </a:r>
            <a:r>
              <a:rPr lang="en-US" sz="1052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gender mainstreaming priority</a:t>
            </a:r>
            <a:r>
              <a:rPr lang="en-US" sz="105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operationalized through the 18+ female head requirement for Digital Family Card registration.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1041" y="5753622"/>
            <a:ext cx="1511474" cy="267222"/>
          </a:xfrm>
          <a:custGeom>
            <a:avLst/>
            <a:gdLst/>
            <a:ahLst/>
            <a:cxnLst/>
            <a:rect l="l" t="t" r="r" b="b"/>
            <a:pathLst>
              <a:path w="1511474" h="267222">
                <a:moveTo>
                  <a:pt x="33403" y="0"/>
                </a:moveTo>
                <a:lnTo>
                  <a:pt x="1478071" y="0"/>
                </a:lnTo>
                <a:cubicBezTo>
                  <a:pt x="1496519" y="0"/>
                  <a:pt x="1511474" y="14955"/>
                  <a:pt x="1511474" y="33403"/>
                </a:cubicBezTo>
                <a:lnTo>
                  <a:pt x="1511474" y="233819"/>
                </a:lnTo>
                <a:cubicBezTo>
                  <a:pt x="1511474" y="252267"/>
                  <a:pt x="1496519" y="267222"/>
                  <a:pt x="1478071" y="267222"/>
                </a:cubicBezTo>
                <a:lnTo>
                  <a:pt x="33403" y="267222"/>
                </a:lnTo>
                <a:cubicBezTo>
                  <a:pt x="14955" y="267222"/>
                  <a:pt x="0" y="252267"/>
                  <a:pt x="0" y="233819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01041" y="5753622"/>
            <a:ext cx="1578279" cy="267222"/>
          </a:xfrm>
          <a:prstGeom prst="rect">
            <a:avLst/>
          </a:prstGeom>
          <a:noFill/>
          <a:ln/>
        </p:spPr>
        <p:txBody>
          <a:bodyPr wrap="square" lIns="100208" tIns="33403" rIns="100208" bIns="33403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Female empowerment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077138" y="5753622"/>
            <a:ext cx="1244252" cy="267222"/>
          </a:xfrm>
          <a:custGeom>
            <a:avLst/>
            <a:gdLst/>
            <a:ahLst/>
            <a:cxnLst/>
            <a:rect l="l" t="t" r="r" b="b"/>
            <a:pathLst>
              <a:path w="1244252" h="267222">
                <a:moveTo>
                  <a:pt x="33403" y="0"/>
                </a:moveTo>
                <a:lnTo>
                  <a:pt x="1210849" y="0"/>
                </a:lnTo>
                <a:cubicBezTo>
                  <a:pt x="1229297" y="0"/>
                  <a:pt x="1244252" y="14955"/>
                  <a:pt x="1244252" y="33403"/>
                </a:cubicBezTo>
                <a:lnTo>
                  <a:pt x="1244252" y="233819"/>
                </a:lnTo>
                <a:cubicBezTo>
                  <a:pt x="1244252" y="252267"/>
                  <a:pt x="1229297" y="267222"/>
                  <a:pt x="1210849" y="267222"/>
                </a:cubicBezTo>
                <a:lnTo>
                  <a:pt x="33403" y="267222"/>
                </a:lnTo>
                <a:cubicBezTo>
                  <a:pt x="14955" y="267222"/>
                  <a:pt x="0" y="252267"/>
                  <a:pt x="0" y="233819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077138" y="5753622"/>
            <a:ext cx="1311058" cy="267222"/>
          </a:xfrm>
          <a:prstGeom prst="rect">
            <a:avLst/>
          </a:prstGeom>
          <a:noFill/>
          <a:ln/>
        </p:spPr>
        <p:txBody>
          <a:bodyPr wrap="square" lIns="100208" tIns="33403" rIns="100208" bIns="33403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inclusion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7609" y="1444668"/>
            <a:ext cx="5678466" cy="1503123"/>
          </a:xfrm>
          <a:custGeom>
            <a:avLst/>
            <a:gdLst/>
            <a:ahLst/>
            <a:cxnLst/>
            <a:rect l="l" t="t" r="r" b="b"/>
            <a:pathLst>
              <a:path w="5678466" h="1503123">
                <a:moveTo>
                  <a:pt x="33399" y="0"/>
                </a:moveTo>
                <a:lnTo>
                  <a:pt x="5645066" y="0"/>
                </a:lnTo>
                <a:cubicBezTo>
                  <a:pt x="5663512" y="0"/>
                  <a:pt x="5678466" y="14953"/>
                  <a:pt x="5678466" y="33399"/>
                </a:cubicBezTo>
                <a:lnTo>
                  <a:pt x="5678466" y="1469724"/>
                </a:lnTo>
                <a:cubicBezTo>
                  <a:pt x="5678466" y="1488170"/>
                  <a:pt x="5663512" y="1503123"/>
                  <a:pt x="5645066" y="1503123"/>
                </a:cubicBezTo>
                <a:lnTo>
                  <a:pt x="33399" y="1503123"/>
                </a:lnTo>
                <a:cubicBezTo>
                  <a:pt x="14953" y="1503123"/>
                  <a:pt x="0" y="1488170"/>
                  <a:pt x="0" y="1469724"/>
                </a:cubicBezTo>
                <a:lnTo>
                  <a:pt x="0" y="33399"/>
                </a:lnTo>
                <a:cubicBezTo>
                  <a:pt x="0" y="14966"/>
                  <a:pt x="14966" y="0"/>
                  <a:pt x="333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052" dist="835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7609" y="1444668"/>
            <a:ext cx="33403" cy="1503123"/>
          </a:xfrm>
          <a:custGeom>
            <a:avLst/>
            <a:gdLst/>
            <a:ahLst/>
            <a:cxnLst/>
            <a:rect l="l" t="t" r="r" b="b"/>
            <a:pathLst>
              <a:path w="33403" h="1503123">
                <a:moveTo>
                  <a:pt x="33403" y="0"/>
                </a:moveTo>
                <a:lnTo>
                  <a:pt x="33403" y="0"/>
                </a:lnTo>
                <a:lnTo>
                  <a:pt x="33403" y="1503123"/>
                </a:lnTo>
                <a:lnTo>
                  <a:pt x="33403" y="1503123"/>
                </a:lnTo>
                <a:cubicBezTo>
                  <a:pt x="14955" y="1503123"/>
                  <a:pt x="0" y="1488168"/>
                  <a:pt x="0" y="146972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38" name="Shape 36"/>
          <p:cNvSpPr/>
          <p:nvPr/>
        </p:nvSpPr>
        <p:spPr>
          <a:xfrm>
            <a:off x="6327922" y="1578279"/>
            <a:ext cx="400833" cy="400833"/>
          </a:xfrm>
          <a:custGeom>
            <a:avLst/>
            <a:gdLst/>
            <a:ahLst/>
            <a:cxnLst/>
            <a:rect l="l" t="t" r="r" b="b"/>
            <a:pathLst>
              <a:path w="400833" h="400833">
                <a:moveTo>
                  <a:pt x="33401" y="0"/>
                </a:moveTo>
                <a:lnTo>
                  <a:pt x="367431" y="0"/>
                </a:lnTo>
                <a:cubicBezTo>
                  <a:pt x="385879" y="0"/>
                  <a:pt x="400833" y="14954"/>
                  <a:pt x="400833" y="33401"/>
                </a:cubicBezTo>
                <a:lnTo>
                  <a:pt x="400833" y="367431"/>
                </a:lnTo>
                <a:cubicBezTo>
                  <a:pt x="400833" y="385879"/>
                  <a:pt x="385879" y="400833"/>
                  <a:pt x="367431" y="400833"/>
                </a:cubicBezTo>
                <a:lnTo>
                  <a:pt x="33401" y="400833"/>
                </a:lnTo>
                <a:cubicBezTo>
                  <a:pt x="14954" y="400833"/>
                  <a:pt x="0" y="385879"/>
                  <a:pt x="0" y="367431"/>
                </a:cubicBezTo>
                <a:lnTo>
                  <a:pt x="0" y="33401"/>
                </a:lnTo>
                <a:cubicBezTo>
                  <a:pt x="0" y="14967"/>
                  <a:pt x="14967" y="0"/>
                  <a:pt x="33401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39" name="Shape 37"/>
          <p:cNvSpPr/>
          <p:nvPr/>
        </p:nvSpPr>
        <p:spPr>
          <a:xfrm>
            <a:off x="6434393" y="1695189"/>
            <a:ext cx="187890" cy="167014"/>
          </a:xfrm>
          <a:custGeom>
            <a:avLst/>
            <a:gdLst/>
            <a:ahLst/>
            <a:cxnLst/>
            <a:rect l="l" t="t" r="r" b="b"/>
            <a:pathLst>
              <a:path w="187890" h="167014">
                <a:moveTo>
                  <a:pt x="20877" y="41753"/>
                </a:moveTo>
                <a:cubicBezTo>
                  <a:pt x="20877" y="21590"/>
                  <a:pt x="37247" y="5219"/>
                  <a:pt x="57411" y="5219"/>
                </a:cubicBezTo>
                <a:cubicBezTo>
                  <a:pt x="77575" y="5219"/>
                  <a:pt x="93945" y="21590"/>
                  <a:pt x="93945" y="41753"/>
                </a:cubicBezTo>
                <a:cubicBezTo>
                  <a:pt x="93945" y="61917"/>
                  <a:pt x="77575" y="78288"/>
                  <a:pt x="57411" y="78288"/>
                </a:cubicBezTo>
                <a:cubicBezTo>
                  <a:pt x="37247" y="78288"/>
                  <a:pt x="20877" y="61917"/>
                  <a:pt x="20877" y="41753"/>
                </a:cubicBezTo>
                <a:close/>
                <a:moveTo>
                  <a:pt x="0" y="151356"/>
                </a:moveTo>
                <a:cubicBezTo>
                  <a:pt x="0" y="119650"/>
                  <a:pt x="25704" y="93945"/>
                  <a:pt x="57411" y="93945"/>
                </a:cubicBezTo>
                <a:cubicBezTo>
                  <a:pt x="89117" y="93945"/>
                  <a:pt x="114822" y="119650"/>
                  <a:pt x="114822" y="151356"/>
                </a:cubicBezTo>
                <a:lnTo>
                  <a:pt x="114822" y="153313"/>
                </a:lnTo>
                <a:cubicBezTo>
                  <a:pt x="114822" y="160881"/>
                  <a:pt x="108689" y="167014"/>
                  <a:pt x="101122" y="167014"/>
                </a:cubicBezTo>
                <a:lnTo>
                  <a:pt x="13700" y="167014"/>
                </a:lnTo>
                <a:cubicBezTo>
                  <a:pt x="6133" y="167014"/>
                  <a:pt x="0" y="160881"/>
                  <a:pt x="0" y="153313"/>
                </a:cubicBezTo>
                <a:lnTo>
                  <a:pt x="0" y="151356"/>
                </a:lnTo>
                <a:close/>
                <a:moveTo>
                  <a:pt x="140918" y="20877"/>
                </a:moveTo>
                <a:cubicBezTo>
                  <a:pt x="158201" y="20877"/>
                  <a:pt x="172233" y="34909"/>
                  <a:pt x="172233" y="52192"/>
                </a:cubicBezTo>
                <a:cubicBezTo>
                  <a:pt x="172233" y="69475"/>
                  <a:pt x="158201" y="83507"/>
                  <a:pt x="140918" y="83507"/>
                </a:cubicBezTo>
                <a:cubicBezTo>
                  <a:pt x="123635" y="83507"/>
                  <a:pt x="109603" y="69475"/>
                  <a:pt x="109603" y="52192"/>
                </a:cubicBezTo>
                <a:cubicBezTo>
                  <a:pt x="109603" y="34909"/>
                  <a:pt x="123635" y="20877"/>
                  <a:pt x="140918" y="20877"/>
                </a:cubicBezTo>
                <a:close/>
                <a:moveTo>
                  <a:pt x="140918" y="99164"/>
                </a:moveTo>
                <a:cubicBezTo>
                  <a:pt x="166851" y="99164"/>
                  <a:pt x="187890" y="120204"/>
                  <a:pt x="187890" y="146137"/>
                </a:cubicBezTo>
                <a:lnTo>
                  <a:pt x="187890" y="153444"/>
                </a:lnTo>
                <a:cubicBezTo>
                  <a:pt x="187890" y="160946"/>
                  <a:pt x="181823" y="167014"/>
                  <a:pt x="174321" y="167014"/>
                </a:cubicBezTo>
                <a:lnTo>
                  <a:pt x="127087" y="167014"/>
                </a:lnTo>
                <a:cubicBezTo>
                  <a:pt x="129240" y="162936"/>
                  <a:pt x="130479" y="158272"/>
                  <a:pt x="130479" y="153313"/>
                </a:cubicBezTo>
                <a:lnTo>
                  <a:pt x="130479" y="151356"/>
                </a:lnTo>
                <a:cubicBezTo>
                  <a:pt x="130479" y="134557"/>
                  <a:pt x="124804" y="119095"/>
                  <a:pt x="115311" y="106765"/>
                </a:cubicBezTo>
                <a:cubicBezTo>
                  <a:pt x="122683" y="101970"/>
                  <a:pt x="131491" y="99164"/>
                  <a:pt x="140918" y="991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828963" y="1661786"/>
            <a:ext cx="1469721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Youth Engagement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27922" y="2045918"/>
            <a:ext cx="5461348" cy="43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CIRDAP's </a:t>
            </a:r>
            <a:r>
              <a:rPr lang="en-US" sz="1052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youth-focused initiatives</a:t>
            </a:r>
            <a:r>
              <a:rPr lang="en-US" sz="105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align with the NEET Youth Facilitator Network creating employment for 200+ rural youth.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27922" y="2546959"/>
            <a:ext cx="1135693" cy="267222"/>
          </a:xfrm>
          <a:custGeom>
            <a:avLst/>
            <a:gdLst/>
            <a:ahLst/>
            <a:cxnLst/>
            <a:rect l="l" t="t" r="r" b="b"/>
            <a:pathLst>
              <a:path w="1135693" h="267222">
                <a:moveTo>
                  <a:pt x="33403" y="0"/>
                </a:moveTo>
                <a:lnTo>
                  <a:pt x="1102290" y="0"/>
                </a:lnTo>
                <a:cubicBezTo>
                  <a:pt x="1120738" y="0"/>
                  <a:pt x="1135693" y="14955"/>
                  <a:pt x="1135693" y="33403"/>
                </a:cubicBezTo>
                <a:lnTo>
                  <a:pt x="1135693" y="233819"/>
                </a:lnTo>
                <a:cubicBezTo>
                  <a:pt x="1135693" y="252267"/>
                  <a:pt x="1120738" y="267222"/>
                  <a:pt x="1102290" y="267222"/>
                </a:cubicBezTo>
                <a:lnTo>
                  <a:pt x="33403" y="267222"/>
                </a:lnTo>
                <a:cubicBezTo>
                  <a:pt x="14955" y="267222"/>
                  <a:pt x="0" y="252267"/>
                  <a:pt x="0" y="233819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2F3E3B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27922" y="2546959"/>
            <a:ext cx="1202499" cy="267222"/>
          </a:xfrm>
          <a:prstGeom prst="rect">
            <a:avLst/>
          </a:prstGeom>
          <a:noFill/>
          <a:ln/>
        </p:spPr>
        <p:txBody>
          <a:bodyPr wrap="square" lIns="100208" tIns="33403" rIns="100208" bIns="33403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200+ facilitators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32840" y="2546959"/>
            <a:ext cx="868471" cy="267222"/>
          </a:xfrm>
          <a:custGeom>
            <a:avLst/>
            <a:gdLst/>
            <a:ahLst/>
            <a:cxnLst/>
            <a:rect l="l" t="t" r="r" b="b"/>
            <a:pathLst>
              <a:path w="868471" h="267222">
                <a:moveTo>
                  <a:pt x="33403" y="0"/>
                </a:moveTo>
                <a:lnTo>
                  <a:pt x="835068" y="0"/>
                </a:lnTo>
                <a:cubicBezTo>
                  <a:pt x="853516" y="0"/>
                  <a:pt x="868471" y="14955"/>
                  <a:pt x="868471" y="33403"/>
                </a:cubicBezTo>
                <a:lnTo>
                  <a:pt x="868471" y="233819"/>
                </a:lnTo>
                <a:cubicBezTo>
                  <a:pt x="868471" y="252267"/>
                  <a:pt x="853516" y="267222"/>
                  <a:pt x="835068" y="267222"/>
                </a:cubicBezTo>
                <a:lnTo>
                  <a:pt x="33403" y="267222"/>
                </a:lnTo>
                <a:cubicBezTo>
                  <a:pt x="14955" y="267222"/>
                  <a:pt x="0" y="252267"/>
                  <a:pt x="0" y="233819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2F3E3B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532840" y="2546959"/>
            <a:ext cx="935277" cy="267222"/>
          </a:xfrm>
          <a:prstGeom prst="rect">
            <a:avLst/>
          </a:prstGeom>
          <a:noFill/>
          <a:ln/>
        </p:spPr>
        <p:txBody>
          <a:bodyPr wrap="square" lIns="100208" tIns="33403" rIns="100208" bIns="33403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skills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7609" y="3048000"/>
            <a:ext cx="5678466" cy="1636734"/>
          </a:xfrm>
          <a:custGeom>
            <a:avLst/>
            <a:gdLst/>
            <a:ahLst/>
            <a:cxnLst/>
            <a:rect l="l" t="t" r="r" b="b"/>
            <a:pathLst>
              <a:path w="5678466" h="1636734">
                <a:moveTo>
                  <a:pt x="33403" y="0"/>
                </a:moveTo>
                <a:lnTo>
                  <a:pt x="5645060" y="0"/>
                </a:lnTo>
                <a:cubicBezTo>
                  <a:pt x="5663509" y="0"/>
                  <a:pt x="5678466" y="14956"/>
                  <a:pt x="5678466" y="33406"/>
                </a:cubicBezTo>
                <a:lnTo>
                  <a:pt x="5678466" y="1603329"/>
                </a:lnTo>
                <a:cubicBezTo>
                  <a:pt x="5678466" y="1621778"/>
                  <a:pt x="5663509" y="1636734"/>
                  <a:pt x="5645060" y="1636734"/>
                </a:cubicBezTo>
                <a:lnTo>
                  <a:pt x="33403" y="1636734"/>
                </a:lnTo>
                <a:cubicBezTo>
                  <a:pt x="14955" y="1636734"/>
                  <a:pt x="0" y="1621779"/>
                  <a:pt x="0" y="1603332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052" dist="835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7609" y="3048000"/>
            <a:ext cx="33403" cy="1636734"/>
          </a:xfrm>
          <a:custGeom>
            <a:avLst/>
            <a:gdLst/>
            <a:ahLst/>
            <a:cxnLst/>
            <a:rect l="l" t="t" r="r" b="b"/>
            <a:pathLst>
              <a:path w="33403" h="1636734">
                <a:moveTo>
                  <a:pt x="33403" y="0"/>
                </a:moveTo>
                <a:lnTo>
                  <a:pt x="33403" y="0"/>
                </a:lnTo>
                <a:lnTo>
                  <a:pt x="33403" y="1636734"/>
                </a:lnTo>
                <a:lnTo>
                  <a:pt x="33403" y="1636734"/>
                </a:lnTo>
                <a:cubicBezTo>
                  <a:pt x="14955" y="1636734"/>
                  <a:pt x="0" y="1621779"/>
                  <a:pt x="0" y="1603332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8" name="Shape 46"/>
          <p:cNvSpPr/>
          <p:nvPr/>
        </p:nvSpPr>
        <p:spPr>
          <a:xfrm>
            <a:off x="6327922" y="3181611"/>
            <a:ext cx="400833" cy="400833"/>
          </a:xfrm>
          <a:custGeom>
            <a:avLst/>
            <a:gdLst/>
            <a:ahLst/>
            <a:cxnLst/>
            <a:rect l="l" t="t" r="r" b="b"/>
            <a:pathLst>
              <a:path w="400833" h="400833">
                <a:moveTo>
                  <a:pt x="33401" y="0"/>
                </a:moveTo>
                <a:lnTo>
                  <a:pt x="367431" y="0"/>
                </a:lnTo>
                <a:cubicBezTo>
                  <a:pt x="385879" y="0"/>
                  <a:pt x="400833" y="14954"/>
                  <a:pt x="400833" y="33401"/>
                </a:cubicBezTo>
                <a:lnTo>
                  <a:pt x="400833" y="367431"/>
                </a:lnTo>
                <a:cubicBezTo>
                  <a:pt x="400833" y="385879"/>
                  <a:pt x="385879" y="400833"/>
                  <a:pt x="367431" y="400833"/>
                </a:cubicBezTo>
                <a:lnTo>
                  <a:pt x="33401" y="400833"/>
                </a:lnTo>
                <a:cubicBezTo>
                  <a:pt x="14954" y="400833"/>
                  <a:pt x="0" y="385879"/>
                  <a:pt x="0" y="367431"/>
                </a:cubicBezTo>
                <a:lnTo>
                  <a:pt x="0" y="33401"/>
                </a:lnTo>
                <a:cubicBezTo>
                  <a:pt x="0" y="14967"/>
                  <a:pt x="14967" y="0"/>
                  <a:pt x="33401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9" name="Shape 47"/>
          <p:cNvSpPr/>
          <p:nvPr/>
        </p:nvSpPr>
        <p:spPr>
          <a:xfrm>
            <a:off x="6444831" y="3298521"/>
            <a:ext cx="167014" cy="167014"/>
          </a:xfrm>
          <a:custGeom>
            <a:avLst/>
            <a:gdLst/>
            <a:ahLst/>
            <a:cxnLst/>
            <a:rect l="l" t="t" r="r" b="b"/>
            <a:pathLst>
              <a:path w="167014" h="167014">
                <a:moveTo>
                  <a:pt x="114789" y="91336"/>
                </a:moveTo>
                <a:lnTo>
                  <a:pt x="52518" y="91336"/>
                </a:lnTo>
                <a:cubicBezTo>
                  <a:pt x="53464" y="112375"/>
                  <a:pt x="58129" y="131752"/>
                  <a:pt x="64750" y="145941"/>
                </a:cubicBezTo>
                <a:cubicBezTo>
                  <a:pt x="68469" y="153933"/>
                  <a:pt x="72481" y="159576"/>
                  <a:pt x="76200" y="163034"/>
                </a:cubicBezTo>
                <a:cubicBezTo>
                  <a:pt x="79853" y="166459"/>
                  <a:pt x="82365" y="167014"/>
                  <a:pt x="83670" y="167014"/>
                </a:cubicBezTo>
                <a:cubicBezTo>
                  <a:pt x="84975" y="167014"/>
                  <a:pt x="87486" y="166459"/>
                  <a:pt x="91140" y="163034"/>
                </a:cubicBezTo>
                <a:cubicBezTo>
                  <a:pt x="94859" y="159576"/>
                  <a:pt x="98871" y="153901"/>
                  <a:pt x="102589" y="145941"/>
                </a:cubicBezTo>
                <a:cubicBezTo>
                  <a:pt x="109211" y="131752"/>
                  <a:pt x="113876" y="112375"/>
                  <a:pt x="114822" y="91336"/>
                </a:cubicBezTo>
                <a:close/>
                <a:moveTo>
                  <a:pt x="52485" y="75678"/>
                </a:moveTo>
                <a:lnTo>
                  <a:pt x="114757" y="75678"/>
                </a:lnTo>
                <a:cubicBezTo>
                  <a:pt x="113843" y="54638"/>
                  <a:pt x="109179" y="35262"/>
                  <a:pt x="102557" y="21072"/>
                </a:cubicBezTo>
                <a:cubicBezTo>
                  <a:pt x="98838" y="13113"/>
                  <a:pt x="94826" y="7437"/>
                  <a:pt x="91107" y="3980"/>
                </a:cubicBezTo>
                <a:cubicBezTo>
                  <a:pt x="87454" y="555"/>
                  <a:pt x="84942" y="0"/>
                  <a:pt x="83637" y="0"/>
                </a:cubicBezTo>
                <a:cubicBezTo>
                  <a:pt x="82333" y="0"/>
                  <a:pt x="79821" y="555"/>
                  <a:pt x="76167" y="3980"/>
                </a:cubicBezTo>
                <a:cubicBezTo>
                  <a:pt x="72449" y="7437"/>
                  <a:pt x="68436" y="13113"/>
                  <a:pt x="64718" y="21072"/>
                </a:cubicBezTo>
                <a:cubicBezTo>
                  <a:pt x="58096" y="35262"/>
                  <a:pt x="53431" y="54638"/>
                  <a:pt x="52485" y="75678"/>
                </a:cubicBezTo>
                <a:close/>
                <a:moveTo>
                  <a:pt x="36828" y="75678"/>
                </a:moveTo>
                <a:cubicBezTo>
                  <a:pt x="37970" y="47755"/>
                  <a:pt x="45179" y="21823"/>
                  <a:pt x="55715" y="4795"/>
                </a:cubicBezTo>
                <a:cubicBezTo>
                  <a:pt x="25672" y="15429"/>
                  <a:pt x="3556" y="42797"/>
                  <a:pt x="489" y="75678"/>
                </a:cubicBezTo>
                <a:lnTo>
                  <a:pt x="36828" y="75678"/>
                </a:lnTo>
                <a:close/>
                <a:moveTo>
                  <a:pt x="489" y="91336"/>
                </a:moveTo>
                <a:cubicBezTo>
                  <a:pt x="3556" y="124216"/>
                  <a:pt x="25672" y="151585"/>
                  <a:pt x="55715" y="162219"/>
                </a:cubicBezTo>
                <a:cubicBezTo>
                  <a:pt x="45179" y="145191"/>
                  <a:pt x="37970" y="119258"/>
                  <a:pt x="36828" y="91336"/>
                </a:cubicBezTo>
                <a:lnTo>
                  <a:pt x="489" y="91336"/>
                </a:lnTo>
                <a:close/>
                <a:moveTo>
                  <a:pt x="130447" y="91336"/>
                </a:moveTo>
                <a:cubicBezTo>
                  <a:pt x="129305" y="119258"/>
                  <a:pt x="122096" y="145191"/>
                  <a:pt x="111560" y="162219"/>
                </a:cubicBezTo>
                <a:cubicBezTo>
                  <a:pt x="141603" y="151552"/>
                  <a:pt x="163719" y="124216"/>
                  <a:pt x="166785" y="91336"/>
                </a:cubicBezTo>
                <a:lnTo>
                  <a:pt x="130447" y="91336"/>
                </a:lnTo>
                <a:close/>
                <a:moveTo>
                  <a:pt x="166785" y="75678"/>
                </a:moveTo>
                <a:cubicBezTo>
                  <a:pt x="163719" y="42797"/>
                  <a:pt x="141603" y="15429"/>
                  <a:pt x="111560" y="4795"/>
                </a:cubicBezTo>
                <a:cubicBezTo>
                  <a:pt x="122096" y="21823"/>
                  <a:pt x="129305" y="47755"/>
                  <a:pt x="130447" y="75678"/>
                </a:cubicBezTo>
                <a:lnTo>
                  <a:pt x="166785" y="7567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828963" y="3265118"/>
            <a:ext cx="2346542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World Rural Development Day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27922" y="3649249"/>
            <a:ext cx="5461348" cy="43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GreenLoop embodies the WRDD vision of </a:t>
            </a:r>
            <a:r>
              <a:rPr lang="en-US" sz="1052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integrated, inclusive, sustainable and enterprising rural development</a:t>
            </a:r>
            <a:r>
              <a:rPr lang="en-US" sz="105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7922" y="4150290"/>
            <a:ext cx="5394542" cy="400833"/>
          </a:xfrm>
          <a:custGeom>
            <a:avLst/>
            <a:gdLst/>
            <a:ahLst/>
            <a:cxnLst/>
            <a:rect l="l" t="t" r="r" b="b"/>
            <a:pathLst>
              <a:path w="5394542" h="400833">
                <a:moveTo>
                  <a:pt x="33401" y="0"/>
                </a:moveTo>
                <a:lnTo>
                  <a:pt x="5361141" y="0"/>
                </a:lnTo>
                <a:cubicBezTo>
                  <a:pt x="5379588" y="0"/>
                  <a:pt x="5394542" y="14954"/>
                  <a:pt x="5394542" y="33401"/>
                </a:cubicBezTo>
                <a:lnTo>
                  <a:pt x="5394542" y="367431"/>
                </a:lnTo>
                <a:cubicBezTo>
                  <a:pt x="5394542" y="385879"/>
                  <a:pt x="5379588" y="400833"/>
                  <a:pt x="5361141" y="400833"/>
                </a:cubicBezTo>
                <a:lnTo>
                  <a:pt x="33401" y="400833"/>
                </a:lnTo>
                <a:cubicBezTo>
                  <a:pt x="14954" y="400833"/>
                  <a:pt x="0" y="385879"/>
                  <a:pt x="0" y="367431"/>
                </a:cubicBezTo>
                <a:lnTo>
                  <a:pt x="0" y="33401"/>
                </a:lnTo>
                <a:cubicBezTo>
                  <a:pt x="0" y="14967"/>
                  <a:pt x="14967" y="0"/>
                  <a:pt x="33401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53182" y="4274792"/>
            <a:ext cx="116910" cy="133611"/>
          </a:xfrm>
          <a:custGeom>
            <a:avLst/>
            <a:gdLst/>
            <a:ahLst/>
            <a:cxnLst/>
            <a:rect l="l" t="t" r="r" b="b"/>
            <a:pathLst>
              <a:path w="116910" h="133611">
                <a:moveTo>
                  <a:pt x="33403" y="0"/>
                </a:moveTo>
                <a:cubicBezTo>
                  <a:pt x="38022" y="0"/>
                  <a:pt x="41753" y="3732"/>
                  <a:pt x="41753" y="8351"/>
                </a:cubicBezTo>
                <a:lnTo>
                  <a:pt x="41753" y="16701"/>
                </a:lnTo>
                <a:lnTo>
                  <a:pt x="75156" y="16701"/>
                </a:lnTo>
                <a:lnTo>
                  <a:pt x="75156" y="8351"/>
                </a:lnTo>
                <a:cubicBezTo>
                  <a:pt x="75156" y="3732"/>
                  <a:pt x="78888" y="0"/>
                  <a:pt x="83507" y="0"/>
                </a:cubicBezTo>
                <a:cubicBezTo>
                  <a:pt x="88126" y="0"/>
                  <a:pt x="91858" y="3732"/>
                  <a:pt x="91858" y="8351"/>
                </a:cubicBezTo>
                <a:lnTo>
                  <a:pt x="91858" y="16701"/>
                </a:lnTo>
                <a:lnTo>
                  <a:pt x="100208" y="16701"/>
                </a:lnTo>
                <a:cubicBezTo>
                  <a:pt x="109420" y="16701"/>
                  <a:pt x="116910" y="24191"/>
                  <a:pt x="116910" y="33403"/>
                </a:cubicBezTo>
                <a:lnTo>
                  <a:pt x="116910" y="108559"/>
                </a:lnTo>
                <a:cubicBezTo>
                  <a:pt x="116910" y="117771"/>
                  <a:pt x="109420" y="125260"/>
                  <a:pt x="100208" y="125260"/>
                </a:cubicBezTo>
                <a:lnTo>
                  <a:pt x="16701" y="125260"/>
                </a:lnTo>
                <a:cubicBezTo>
                  <a:pt x="7490" y="125260"/>
                  <a:pt x="0" y="117771"/>
                  <a:pt x="0" y="108559"/>
                </a:cubicBezTo>
                <a:lnTo>
                  <a:pt x="0" y="33403"/>
                </a:lnTo>
                <a:cubicBezTo>
                  <a:pt x="0" y="24191"/>
                  <a:pt x="7490" y="16701"/>
                  <a:pt x="16701" y="16701"/>
                </a:cubicBezTo>
                <a:lnTo>
                  <a:pt x="25052" y="16701"/>
                </a:lnTo>
                <a:lnTo>
                  <a:pt x="25052" y="8351"/>
                </a:lnTo>
                <a:cubicBezTo>
                  <a:pt x="25052" y="3732"/>
                  <a:pt x="28784" y="0"/>
                  <a:pt x="33403" y="0"/>
                </a:cubicBezTo>
                <a:close/>
                <a:moveTo>
                  <a:pt x="80480" y="59681"/>
                </a:moveTo>
                <a:cubicBezTo>
                  <a:pt x="82306" y="56759"/>
                  <a:pt x="81419" y="52896"/>
                  <a:pt x="78496" y="51044"/>
                </a:cubicBezTo>
                <a:cubicBezTo>
                  <a:pt x="75574" y="49191"/>
                  <a:pt x="71712" y="50104"/>
                  <a:pt x="69859" y="53027"/>
                </a:cubicBezTo>
                <a:lnTo>
                  <a:pt x="53836" y="78679"/>
                </a:lnTo>
                <a:lnTo>
                  <a:pt x="46790" y="69285"/>
                </a:lnTo>
                <a:cubicBezTo>
                  <a:pt x="44702" y="66518"/>
                  <a:pt x="40788" y="65944"/>
                  <a:pt x="38022" y="68032"/>
                </a:cubicBezTo>
                <a:cubicBezTo>
                  <a:pt x="35256" y="70120"/>
                  <a:pt x="34681" y="74034"/>
                  <a:pt x="36769" y="76800"/>
                </a:cubicBezTo>
                <a:lnTo>
                  <a:pt x="49295" y="93502"/>
                </a:lnTo>
                <a:cubicBezTo>
                  <a:pt x="50522" y="95146"/>
                  <a:pt x="52505" y="96085"/>
                  <a:pt x="54567" y="96007"/>
                </a:cubicBezTo>
                <a:cubicBezTo>
                  <a:pt x="56628" y="95928"/>
                  <a:pt x="58507" y="94832"/>
                  <a:pt x="59603" y="93058"/>
                </a:cubicBezTo>
                <a:lnTo>
                  <a:pt x="80480" y="59655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4" name="Text 52"/>
          <p:cNvSpPr/>
          <p:nvPr/>
        </p:nvSpPr>
        <p:spPr>
          <a:xfrm>
            <a:off x="6639070" y="4250499"/>
            <a:ext cx="5049991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UN-recognized July 6 celebration aligns with GreenLoop's participatory approach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60908" y="4784942"/>
            <a:ext cx="5695167" cy="1736942"/>
          </a:xfrm>
          <a:custGeom>
            <a:avLst/>
            <a:gdLst/>
            <a:ahLst/>
            <a:cxnLst/>
            <a:rect l="l" t="t" r="r" b="b"/>
            <a:pathLst>
              <a:path w="5695167" h="1736942">
                <a:moveTo>
                  <a:pt x="33401" y="0"/>
                </a:moveTo>
                <a:lnTo>
                  <a:pt x="5661766" y="0"/>
                </a:lnTo>
                <a:cubicBezTo>
                  <a:pt x="5680213" y="0"/>
                  <a:pt x="5695167" y="14954"/>
                  <a:pt x="5695167" y="33401"/>
                </a:cubicBezTo>
                <a:lnTo>
                  <a:pt x="5695167" y="1703541"/>
                </a:lnTo>
                <a:cubicBezTo>
                  <a:pt x="5695167" y="1721988"/>
                  <a:pt x="5680213" y="1736942"/>
                  <a:pt x="5661766" y="1736942"/>
                </a:cubicBezTo>
                <a:lnTo>
                  <a:pt x="33401" y="1736942"/>
                </a:lnTo>
                <a:cubicBezTo>
                  <a:pt x="14954" y="1736942"/>
                  <a:pt x="0" y="1721988"/>
                  <a:pt x="0" y="1703541"/>
                </a:cubicBezTo>
                <a:lnTo>
                  <a:pt x="0" y="33401"/>
                </a:lnTo>
                <a:cubicBezTo>
                  <a:pt x="0" y="14967"/>
                  <a:pt x="14967" y="0"/>
                  <a:pt x="33401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56" name="Shape 54"/>
          <p:cNvSpPr/>
          <p:nvPr/>
        </p:nvSpPr>
        <p:spPr>
          <a:xfrm>
            <a:off x="6315396" y="4993710"/>
            <a:ext cx="167014" cy="167014"/>
          </a:xfrm>
          <a:custGeom>
            <a:avLst/>
            <a:gdLst/>
            <a:ahLst/>
            <a:cxnLst/>
            <a:rect l="l" t="t" r="r" b="b"/>
            <a:pathLst>
              <a:path w="167014" h="167014">
                <a:moveTo>
                  <a:pt x="47070" y="0"/>
                </a:moveTo>
                <a:lnTo>
                  <a:pt x="120139" y="0"/>
                </a:lnTo>
                <a:cubicBezTo>
                  <a:pt x="128783" y="0"/>
                  <a:pt x="135829" y="7111"/>
                  <a:pt x="135503" y="15723"/>
                </a:cubicBezTo>
                <a:cubicBezTo>
                  <a:pt x="135438" y="17452"/>
                  <a:pt x="135372" y="19180"/>
                  <a:pt x="135275" y="20877"/>
                </a:cubicBezTo>
                <a:lnTo>
                  <a:pt x="151454" y="20877"/>
                </a:lnTo>
                <a:cubicBezTo>
                  <a:pt x="159968" y="20877"/>
                  <a:pt x="167470" y="27923"/>
                  <a:pt x="166818" y="37121"/>
                </a:cubicBezTo>
                <a:cubicBezTo>
                  <a:pt x="164371" y="70948"/>
                  <a:pt x="147083" y="89542"/>
                  <a:pt x="128327" y="99262"/>
                </a:cubicBezTo>
                <a:cubicBezTo>
                  <a:pt x="123173" y="101937"/>
                  <a:pt x="117921" y="103927"/>
                  <a:pt x="112930" y="105395"/>
                </a:cubicBezTo>
                <a:cubicBezTo>
                  <a:pt x="106341" y="114724"/>
                  <a:pt x="99491" y="119650"/>
                  <a:pt x="94043" y="122292"/>
                </a:cubicBezTo>
                <a:lnTo>
                  <a:pt x="94043" y="146137"/>
                </a:lnTo>
                <a:lnTo>
                  <a:pt x="114920" y="146137"/>
                </a:lnTo>
                <a:cubicBezTo>
                  <a:pt x="120693" y="146137"/>
                  <a:pt x="125358" y="150802"/>
                  <a:pt x="125358" y="156575"/>
                </a:cubicBezTo>
                <a:cubicBezTo>
                  <a:pt x="125358" y="162349"/>
                  <a:pt x="120693" y="167014"/>
                  <a:pt x="114920" y="167014"/>
                </a:cubicBezTo>
                <a:lnTo>
                  <a:pt x="52290" y="167014"/>
                </a:lnTo>
                <a:cubicBezTo>
                  <a:pt x="46516" y="167014"/>
                  <a:pt x="41851" y="162349"/>
                  <a:pt x="41851" y="156575"/>
                </a:cubicBezTo>
                <a:cubicBezTo>
                  <a:pt x="41851" y="150802"/>
                  <a:pt x="46516" y="146137"/>
                  <a:pt x="52290" y="146137"/>
                </a:cubicBezTo>
                <a:lnTo>
                  <a:pt x="73166" y="146137"/>
                </a:lnTo>
                <a:lnTo>
                  <a:pt x="73166" y="122292"/>
                </a:lnTo>
                <a:cubicBezTo>
                  <a:pt x="67947" y="119780"/>
                  <a:pt x="61456" y="115115"/>
                  <a:pt x="55128" y="106536"/>
                </a:cubicBezTo>
                <a:cubicBezTo>
                  <a:pt x="49126" y="104971"/>
                  <a:pt x="42602" y="102589"/>
                  <a:pt x="36241" y="99001"/>
                </a:cubicBezTo>
                <a:cubicBezTo>
                  <a:pt x="18593" y="89117"/>
                  <a:pt x="2675" y="70492"/>
                  <a:pt x="391" y="37056"/>
                </a:cubicBezTo>
                <a:cubicBezTo>
                  <a:pt x="-228" y="27890"/>
                  <a:pt x="7242" y="20844"/>
                  <a:pt x="15755" y="20844"/>
                </a:cubicBezTo>
                <a:lnTo>
                  <a:pt x="31935" y="20844"/>
                </a:lnTo>
                <a:cubicBezTo>
                  <a:pt x="31837" y="19148"/>
                  <a:pt x="31772" y="17452"/>
                  <a:pt x="31707" y="15690"/>
                </a:cubicBezTo>
                <a:cubicBezTo>
                  <a:pt x="31380" y="7046"/>
                  <a:pt x="38426" y="-33"/>
                  <a:pt x="47070" y="-33"/>
                </a:cubicBezTo>
                <a:close/>
                <a:moveTo>
                  <a:pt x="33109" y="36534"/>
                </a:moveTo>
                <a:lnTo>
                  <a:pt x="16016" y="36534"/>
                </a:lnTo>
                <a:cubicBezTo>
                  <a:pt x="18039" y="64163"/>
                  <a:pt x="30728" y="77994"/>
                  <a:pt x="43808" y="85334"/>
                </a:cubicBezTo>
                <a:cubicBezTo>
                  <a:pt x="39111" y="73166"/>
                  <a:pt x="35229" y="57280"/>
                  <a:pt x="33109" y="36534"/>
                </a:cubicBezTo>
                <a:close/>
                <a:moveTo>
                  <a:pt x="123955" y="83768"/>
                </a:moveTo>
                <a:cubicBezTo>
                  <a:pt x="137167" y="76004"/>
                  <a:pt x="149105" y="62206"/>
                  <a:pt x="151128" y="36534"/>
                </a:cubicBezTo>
                <a:lnTo>
                  <a:pt x="134068" y="36534"/>
                </a:lnTo>
                <a:cubicBezTo>
                  <a:pt x="132045" y="56400"/>
                  <a:pt x="128392" y="71829"/>
                  <a:pt x="123955" y="83768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7" name="Text 55"/>
          <p:cNvSpPr/>
          <p:nvPr/>
        </p:nvSpPr>
        <p:spPr>
          <a:xfrm>
            <a:off x="6503286" y="4960307"/>
            <a:ext cx="5302685" cy="2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Rural Innovation Challenge 2026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294519" y="5294334"/>
            <a:ext cx="5494751" cy="217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GreenLoop 3.0 meets all criteria for the </a:t>
            </a:r>
            <a:r>
              <a:rPr lang="en-US" sz="105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CIRDAP-REEDS Rural Innovation Challenge</a:t>
            </a:r>
            <a:r>
              <a:rPr lang="en-US" sz="105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94519" y="5611660"/>
            <a:ext cx="2680570" cy="334027"/>
          </a:xfrm>
          <a:custGeom>
            <a:avLst/>
            <a:gdLst/>
            <a:ahLst/>
            <a:cxnLst/>
            <a:rect l="l" t="t" r="r" b="b"/>
            <a:pathLst>
              <a:path w="2680570" h="334027">
                <a:moveTo>
                  <a:pt x="33403" y="0"/>
                </a:moveTo>
                <a:lnTo>
                  <a:pt x="2647167" y="0"/>
                </a:lnTo>
                <a:cubicBezTo>
                  <a:pt x="2665615" y="0"/>
                  <a:pt x="2680570" y="14955"/>
                  <a:pt x="2680570" y="33403"/>
                </a:cubicBezTo>
                <a:lnTo>
                  <a:pt x="2680570" y="300625"/>
                </a:lnTo>
                <a:cubicBezTo>
                  <a:pt x="2680570" y="319072"/>
                  <a:pt x="2665615" y="334027"/>
                  <a:pt x="2647167" y="334027"/>
                </a:cubicBezTo>
                <a:lnTo>
                  <a:pt x="33403" y="334027"/>
                </a:lnTo>
                <a:cubicBezTo>
                  <a:pt x="14955" y="334027"/>
                  <a:pt x="0" y="319072"/>
                  <a:pt x="0" y="300625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294519" y="5611660"/>
            <a:ext cx="2747375" cy="334027"/>
          </a:xfrm>
          <a:prstGeom prst="rect">
            <a:avLst/>
          </a:prstGeom>
          <a:noFill/>
          <a:ln/>
        </p:spPr>
        <p:txBody>
          <a:bodyPr wrap="square" lIns="100208" tIns="66805" rIns="100208" bIns="66805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Scalable solution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040946" y="5611660"/>
            <a:ext cx="2680570" cy="334027"/>
          </a:xfrm>
          <a:custGeom>
            <a:avLst/>
            <a:gdLst/>
            <a:ahLst/>
            <a:cxnLst/>
            <a:rect l="l" t="t" r="r" b="b"/>
            <a:pathLst>
              <a:path w="2680570" h="334027">
                <a:moveTo>
                  <a:pt x="33403" y="0"/>
                </a:moveTo>
                <a:lnTo>
                  <a:pt x="2647167" y="0"/>
                </a:lnTo>
                <a:cubicBezTo>
                  <a:pt x="2665615" y="0"/>
                  <a:pt x="2680570" y="14955"/>
                  <a:pt x="2680570" y="33403"/>
                </a:cubicBezTo>
                <a:lnTo>
                  <a:pt x="2680570" y="300625"/>
                </a:lnTo>
                <a:cubicBezTo>
                  <a:pt x="2680570" y="319072"/>
                  <a:pt x="2665615" y="334027"/>
                  <a:pt x="2647167" y="334027"/>
                </a:cubicBezTo>
                <a:lnTo>
                  <a:pt x="33403" y="334027"/>
                </a:lnTo>
                <a:cubicBezTo>
                  <a:pt x="14955" y="334027"/>
                  <a:pt x="0" y="319072"/>
                  <a:pt x="0" y="300625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040946" y="5611660"/>
            <a:ext cx="2747375" cy="334027"/>
          </a:xfrm>
          <a:prstGeom prst="rect">
            <a:avLst/>
          </a:prstGeom>
          <a:noFill/>
          <a:ln/>
        </p:spPr>
        <p:txBody>
          <a:bodyPr wrap="square" lIns="100208" tIns="66805" rIns="100208" bIns="66805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Measurable impact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294519" y="6012493"/>
            <a:ext cx="2680570" cy="334027"/>
          </a:xfrm>
          <a:custGeom>
            <a:avLst/>
            <a:gdLst/>
            <a:ahLst/>
            <a:cxnLst/>
            <a:rect l="l" t="t" r="r" b="b"/>
            <a:pathLst>
              <a:path w="2680570" h="334027">
                <a:moveTo>
                  <a:pt x="33403" y="0"/>
                </a:moveTo>
                <a:lnTo>
                  <a:pt x="2647167" y="0"/>
                </a:lnTo>
                <a:cubicBezTo>
                  <a:pt x="2665615" y="0"/>
                  <a:pt x="2680570" y="14955"/>
                  <a:pt x="2680570" y="33403"/>
                </a:cubicBezTo>
                <a:lnTo>
                  <a:pt x="2680570" y="300625"/>
                </a:lnTo>
                <a:cubicBezTo>
                  <a:pt x="2680570" y="319072"/>
                  <a:pt x="2665615" y="334027"/>
                  <a:pt x="2647167" y="334027"/>
                </a:cubicBezTo>
                <a:lnTo>
                  <a:pt x="33403" y="334027"/>
                </a:lnTo>
                <a:cubicBezTo>
                  <a:pt x="14955" y="334027"/>
                  <a:pt x="0" y="319072"/>
                  <a:pt x="0" y="300625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294519" y="6012493"/>
            <a:ext cx="2747375" cy="334027"/>
          </a:xfrm>
          <a:prstGeom prst="rect">
            <a:avLst/>
          </a:prstGeom>
          <a:noFill/>
          <a:ln/>
        </p:spPr>
        <p:txBody>
          <a:bodyPr wrap="square" lIns="100208" tIns="66805" rIns="100208" bIns="66805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Regional relevance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040946" y="6012493"/>
            <a:ext cx="2680570" cy="334027"/>
          </a:xfrm>
          <a:custGeom>
            <a:avLst/>
            <a:gdLst/>
            <a:ahLst/>
            <a:cxnLst/>
            <a:rect l="l" t="t" r="r" b="b"/>
            <a:pathLst>
              <a:path w="2680570" h="334027">
                <a:moveTo>
                  <a:pt x="33403" y="0"/>
                </a:moveTo>
                <a:lnTo>
                  <a:pt x="2647167" y="0"/>
                </a:lnTo>
                <a:cubicBezTo>
                  <a:pt x="2665615" y="0"/>
                  <a:pt x="2680570" y="14955"/>
                  <a:pt x="2680570" y="33403"/>
                </a:cubicBezTo>
                <a:lnTo>
                  <a:pt x="2680570" y="300625"/>
                </a:lnTo>
                <a:cubicBezTo>
                  <a:pt x="2680570" y="319072"/>
                  <a:pt x="2665615" y="334027"/>
                  <a:pt x="2647167" y="334027"/>
                </a:cubicBezTo>
                <a:lnTo>
                  <a:pt x="33403" y="334027"/>
                </a:lnTo>
                <a:cubicBezTo>
                  <a:pt x="14955" y="334027"/>
                  <a:pt x="0" y="319072"/>
                  <a:pt x="0" y="300625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9040946" y="6012493"/>
            <a:ext cx="2747375" cy="334027"/>
          </a:xfrm>
          <a:prstGeom prst="rect">
            <a:avLst/>
          </a:prstGeom>
          <a:noFill/>
          <a:ln/>
        </p:spPr>
        <p:txBody>
          <a:bodyPr wrap="square" lIns="100208" tIns="66805" rIns="100208" bIns="66805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Innovation focus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928" y="378928"/>
            <a:ext cx="56839" cy="378928"/>
          </a:xfrm>
          <a:custGeom>
            <a:avLst/>
            <a:gdLst/>
            <a:ahLst/>
            <a:cxnLst/>
            <a:rect l="l" t="t" r="r" b="b"/>
            <a:pathLst>
              <a:path w="56839" h="378928">
                <a:moveTo>
                  <a:pt x="0" y="0"/>
                </a:moveTo>
                <a:lnTo>
                  <a:pt x="56839" y="0"/>
                </a:lnTo>
                <a:lnTo>
                  <a:pt x="56839" y="378928"/>
                </a:lnTo>
                <a:lnTo>
                  <a:pt x="0" y="378928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" name="Text 1"/>
          <p:cNvSpPr/>
          <p:nvPr/>
        </p:nvSpPr>
        <p:spPr>
          <a:xfrm>
            <a:off x="549445" y="454713"/>
            <a:ext cx="233040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kern="0" spc="6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PARADIGM TRANSFORMATION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8928" y="833641"/>
            <a:ext cx="11604662" cy="426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85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From Prescriptive Agriculture to Analytical Agro-Ecology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7874" y="1411506"/>
            <a:ext cx="5589184" cy="3334564"/>
          </a:xfrm>
          <a:custGeom>
            <a:avLst/>
            <a:gdLst/>
            <a:ahLst/>
            <a:cxnLst/>
            <a:rect l="l" t="t" r="r" b="b"/>
            <a:pathLst>
              <a:path w="5589184" h="3334564">
                <a:moveTo>
                  <a:pt x="37881" y="0"/>
                </a:moveTo>
                <a:lnTo>
                  <a:pt x="5551304" y="0"/>
                </a:lnTo>
                <a:cubicBezTo>
                  <a:pt x="5572224" y="0"/>
                  <a:pt x="5589184" y="16960"/>
                  <a:pt x="5589184" y="37881"/>
                </a:cubicBezTo>
                <a:lnTo>
                  <a:pt x="5589184" y="3296683"/>
                </a:lnTo>
                <a:cubicBezTo>
                  <a:pt x="5589184" y="3317604"/>
                  <a:pt x="5572224" y="3334564"/>
                  <a:pt x="5551304" y="3334564"/>
                </a:cubicBezTo>
                <a:lnTo>
                  <a:pt x="37881" y="3334564"/>
                </a:lnTo>
                <a:cubicBezTo>
                  <a:pt x="16960" y="3334564"/>
                  <a:pt x="0" y="3317604"/>
                  <a:pt x="0" y="3296683"/>
                </a:cubicBezTo>
                <a:lnTo>
                  <a:pt x="0" y="37881"/>
                </a:lnTo>
                <a:cubicBezTo>
                  <a:pt x="0" y="16974"/>
                  <a:pt x="16974" y="0"/>
                  <a:pt x="378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20" dist="947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7874" y="1411506"/>
            <a:ext cx="37893" cy="3334564"/>
          </a:xfrm>
          <a:custGeom>
            <a:avLst/>
            <a:gdLst/>
            <a:ahLst/>
            <a:cxnLst/>
            <a:rect l="l" t="t" r="r" b="b"/>
            <a:pathLst>
              <a:path w="37893" h="3334564">
                <a:moveTo>
                  <a:pt x="37893" y="0"/>
                </a:moveTo>
                <a:lnTo>
                  <a:pt x="37893" y="0"/>
                </a:lnTo>
                <a:lnTo>
                  <a:pt x="37893" y="3334564"/>
                </a:ln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7" name="Shape 5"/>
          <p:cNvSpPr/>
          <p:nvPr/>
        </p:nvSpPr>
        <p:spPr>
          <a:xfrm>
            <a:off x="634704" y="1638862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13678" y="227357"/>
                </a:moveTo>
                <a:cubicBezTo>
                  <a:pt x="176419" y="227357"/>
                  <a:pt x="227357" y="176419"/>
                  <a:pt x="227357" y="113678"/>
                </a:cubicBezTo>
                <a:cubicBezTo>
                  <a:pt x="227357" y="50938"/>
                  <a:pt x="176419" y="0"/>
                  <a:pt x="113678" y="0"/>
                </a:cubicBezTo>
                <a:cubicBezTo>
                  <a:pt x="50938" y="0"/>
                  <a:pt x="0" y="50938"/>
                  <a:pt x="0" y="113678"/>
                </a:cubicBezTo>
                <a:cubicBezTo>
                  <a:pt x="0" y="176419"/>
                  <a:pt x="50938" y="227357"/>
                  <a:pt x="113678" y="227357"/>
                </a:cubicBezTo>
                <a:close/>
                <a:moveTo>
                  <a:pt x="74157" y="74157"/>
                </a:moveTo>
                <a:cubicBezTo>
                  <a:pt x="78331" y="69983"/>
                  <a:pt x="85081" y="69983"/>
                  <a:pt x="89211" y="74157"/>
                </a:cubicBezTo>
                <a:lnTo>
                  <a:pt x="113634" y="98580"/>
                </a:lnTo>
                <a:lnTo>
                  <a:pt x="138057" y="74157"/>
                </a:lnTo>
                <a:cubicBezTo>
                  <a:pt x="142231" y="69983"/>
                  <a:pt x="148981" y="69983"/>
                  <a:pt x="153110" y="74157"/>
                </a:cubicBezTo>
                <a:cubicBezTo>
                  <a:pt x="157240" y="78331"/>
                  <a:pt x="157285" y="85081"/>
                  <a:pt x="153110" y="89211"/>
                </a:cubicBezTo>
                <a:lnTo>
                  <a:pt x="128687" y="113634"/>
                </a:lnTo>
                <a:lnTo>
                  <a:pt x="153110" y="138057"/>
                </a:lnTo>
                <a:cubicBezTo>
                  <a:pt x="157285" y="142231"/>
                  <a:pt x="157285" y="148981"/>
                  <a:pt x="153110" y="153110"/>
                </a:cubicBezTo>
                <a:cubicBezTo>
                  <a:pt x="148936" y="157240"/>
                  <a:pt x="142187" y="157285"/>
                  <a:pt x="138057" y="153110"/>
                </a:cubicBezTo>
                <a:lnTo>
                  <a:pt x="113634" y="128687"/>
                </a:lnTo>
                <a:lnTo>
                  <a:pt x="89211" y="153110"/>
                </a:lnTo>
                <a:cubicBezTo>
                  <a:pt x="85037" y="157285"/>
                  <a:pt x="78287" y="157285"/>
                  <a:pt x="74157" y="153110"/>
                </a:cubicBezTo>
                <a:cubicBezTo>
                  <a:pt x="70028" y="148936"/>
                  <a:pt x="69983" y="142187"/>
                  <a:pt x="74157" y="138057"/>
                </a:cubicBezTo>
                <a:lnTo>
                  <a:pt x="98580" y="113634"/>
                </a:lnTo>
                <a:lnTo>
                  <a:pt x="74157" y="89211"/>
                </a:lnTo>
                <a:cubicBezTo>
                  <a:pt x="69983" y="85037"/>
                  <a:pt x="69983" y="78287"/>
                  <a:pt x="74157" y="74157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8" name="Text 6"/>
          <p:cNvSpPr/>
          <p:nvPr/>
        </p:nvSpPr>
        <p:spPr>
          <a:xfrm>
            <a:off x="890480" y="1600970"/>
            <a:ext cx="502079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Old Paradigm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6284" y="2093576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37893" y="0"/>
                </a:moveTo>
                <a:lnTo>
                  <a:pt x="265249" y="0"/>
                </a:lnTo>
                <a:cubicBezTo>
                  <a:pt x="286177" y="0"/>
                  <a:pt x="303142" y="16965"/>
                  <a:pt x="303142" y="37893"/>
                </a:cubicBezTo>
                <a:lnTo>
                  <a:pt x="303142" y="265249"/>
                </a:lnTo>
                <a:cubicBezTo>
                  <a:pt x="303142" y="286177"/>
                  <a:pt x="286177" y="303142"/>
                  <a:pt x="265249" y="303142"/>
                </a:cubicBezTo>
                <a:lnTo>
                  <a:pt x="37893" y="303142"/>
                </a:lnTo>
                <a:cubicBezTo>
                  <a:pt x="16965" y="303142"/>
                  <a:pt x="0" y="286177"/>
                  <a:pt x="0" y="265249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5F6F6B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1016" y="2169361"/>
            <a:ext cx="113678" cy="151571"/>
          </a:xfrm>
          <a:custGeom>
            <a:avLst/>
            <a:gdLst/>
            <a:ahLst/>
            <a:cxnLst/>
            <a:rect l="l" t="t" r="r" b="b"/>
            <a:pathLst>
              <a:path w="113678" h="151571">
                <a:moveTo>
                  <a:pt x="50149" y="148788"/>
                </a:moveTo>
                <a:cubicBezTo>
                  <a:pt x="53849" y="152489"/>
                  <a:pt x="59859" y="152489"/>
                  <a:pt x="63559" y="148788"/>
                </a:cubicBezTo>
                <a:lnTo>
                  <a:pt x="110925" y="101422"/>
                </a:lnTo>
                <a:cubicBezTo>
                  <a:pt x="114626" y="97722"/>
                  <a:pt x="114626" y="91712"/>
                  <a:pt x="110925" y="88012"/>
                </a:cubicBezTo>
                <a:cubicBezTo>
                  <a:pt x="107225" y="84311"/>
                  <a:pt x="101215" y="84311"/>
                  <a:pt x="97515" y="88012"/>
                </a:cubicBezTo>
                <a:lnTo>
                  <a:pt x="66312" y="119214"/>
                </a:lnTo>
                <a:lnTo>
                  <a:pt x="66312" y="9473"/>
                </a:lnTo>
                <a:cubicBezTo>
                  <a:pt x="66312" y="4233"/>
                  <a:pt x="62079" y="0"/>
                  <a:pt x="56839" y="0"/>
                </a:cubicBezTo>
                <a:cubicBezTo>
                  <a:pt x="51599" y="0"/>
                  <a:pt x="47366" y="4233"/>
                  <a:pt x="47366" y="9473"/>
                </a:cubicBezTo>
                <a:lnTo>
                  <a:pt x="47366" y="119214"/>
                </a:lnTo>
                <a:lnTo>
                  <a:pt x="16164" y="88012"/>
                </a:lnTo>
                <a:cubicBezTo>
                  <a:pt x="12463" y="84311"/>
                  <a:pt x="6454" y="84311"/>
                  <a:pt x="2753" y="88012"/>
                </a:cubicBezTo>
                <a:cubicBezTo>
                  <a:pt x="-947" y="91712"/>
                  <a:pt x="-947" y="97722"/>
                  <a:pt x="2753" y="101422"/>
                </a:cubicBezTo>
                <a:lnTo>
                  <a:pt x="50119" y="148788"/>
                </a:ln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11" name="Text 9"/>
          <p:cNvSpPr/>
          <p:nvPr/>
        </p:nvSpPr>
        <p:spPr>
          <a:xfrm>
            <a:off x="1023105" y="2055683"/>
            <a:ext cx="485974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Farmers as Consumers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3105" y="2358825"/>
            <a:ext cx="4850275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 recipients of one-way "broadcast" advice with no feedback mechanism or knowledge contribution.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6284" y="2965110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37893" y="0"/>
                </a:moveTo>
                <a:lnTo>
                  <a:pt x="265249" y="0"/>
                </a:lnTo>
                <a:cubicBezTo>
                  <a:pt x="286177" y="0"/>
                  <a:pt x="303142" y="16965"/>
                  <a:pt x="303142" y="37893"/>
                </a:cubicBezTo>
                <a:lnTo>
                  <a:pt x="303142" y="265249"/>
                </a:lnTo>
                <a:cubicBezTo>
                  <a:pt x="303142" y="286177"/>
                  <a:pt x="286177" y="303142"/>
                  <a:pt x="265249" y="303142"/>
                </a:cubicBezTo>
                <a:lnTo>
                  <a:pt x="37893" y="303142"/>
                </a:lnTo>
                <a:cubicBezTo>
                  <a:pt x="16965" y="303142"/>
                  <a:pt x="0" y="286177"/>
                  <a:pt x="0" y="265249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5F6F6B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01016" y="3040895"/>
            <a:ext cx="113678" cy="151571"/>
          </a:xfrm>
          <a:custGeom>
            <a:avLst/>
            <a:gdLst/>
            <a:ahLst/>
            <a:cxnLst/>
            <a:rect l="l" t="t" r="r" b="b"/>
            <a:pathLst>
              <a:path w="113678" h="151571">
                <a:moveTo>
                  <a:pt x="50149" y="148788"/>
                </a:moveTo>
                <a:cubicBezTo>
                  <a:pt x="53849" y="152489"/>
                  <a:pt x="59859" y="152489"/>
                  <a:pt x="63559" y="148788"/>
                </a:cubicBezTo>
                <a:lnTo>
                  <a:pt x="110925" y="101422"/>
                </a:lnTo>
                <a:cubicBezTo>
                  <a:pt x="114626" y="97722"/>
                  <a:pt x="114626" y="91712"/>
                  <a:pt x="110925" y="88012"/>
                </a:cubicBezTo>
                <a:cubicBezTo>
                  <a:pt x="107225" y="84311"/>
                  <a:pt x="101215" y="84311"/>
                  <a:pt x="97515" y="88012"/>
                </a:cubicBezTo>
                <a:lnTo>
                  <a:pt x="66312" y="119214"/>
                </a:lnTo>
                <a:lnTo>
                  <a:pt x="66312" y="9473"/>
                </a:lnTo>
                <a:cubicBezTo>
                  <a:pt x="66312" y="4233"/>
                  <a:pt x="62079" y="0"/>
                  <a:pt x="56839" y="0"/>
                </a:cubicBezTo>
                <a:cubicBezTo>
                  <a:pt x="51599" y="0"/>
                  <a:pt x="47366" y="4233"/>
                  <a:pt x="47366" y="9473"/>
                </a:cubicBezTo>
                <a:lnTo>
                  <a:pt x="47366" y="119214"/>
                </a:lnTo>
                <a:lnTo>
                  <a:pt x="16164" y="88012"/>
                </a:lnTo>
                <a:cubicBezTo>
                  <a:pt x="12463" y="84311"/>
                  <a:pt x="6454" y="84311"/>
                  <a:pt x="2753" y="88012"/>
                </a:cubicBezTo>
                <a:cubicBezTo>
                  <a:pt x="-947" y="91712"/>
                  <a:pt x="-947" y="97722"/>
                  <a:pt x="2753" y="101422"/>
                </a:cubicBezTo>
                <a:lnTo>
                  <a:pt x="50119" y="148788"/>
                </a:ln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15" name="Text 13"/>
          <p:cNvSpPr/>
          <p:nvPr/>
        </p:nvSpPr>
        <p:spPr>
          <a:xfrm>
            <a:off x="1023105" y="2927217"/>
            <a:ext cx="485974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Blanket Prescriptions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3105" y="3230359"/>
            <a:ext cx="4850275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Uniform recommendations ignoring site-specific soil conditions, leading to over-application and inefficiency.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6284" y="3836643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37893" y="0"/>
                </a:moveTo>
                <a:lnTo>
                  <a:pt x="265249" y="0"/>
                </a:lnTo>
                <a:cubicBezTo>
                  <a:pt x="286177" y="0"/>
                  <a:pt x="303142" y="16965"/>
                  <a:pt x="303142" y="37893"/>
                </a:cubicBezTo>
                <a:lnTo>
                  <a:pt x="303142" y="265249"/>
                </a:lnTo>
                <a:cubicBezTo>
                  <a:pt x="303142" y="286177"/>
                  <a:pt x="286177" y="303142"/>
                  <a:pt x="265249" y="303142"/>
                </a:cubicBezTo>
                <a:lnTo>
                  <a:pt x="37893" y="303142"/>
                </a:lnTo>
                <a:cubicBezTo>
                  <a:pt x="16965" y="303142"/>
                  <a:pt x="0" y="286177"/>
                  <a:pt x="0" y="265249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5F6F6B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01016" y="3912429"/>
            <a:ext cx="113678" cy="151571"/>
          </a:xfrm>
          <a:custGeom>
            <a:avLst/>
            <a:gdLst/>
            <a:ahLst/>
            <a:cxnLst/>
            <a:rect l="l" t="t" r="r" b="b"/>
            <a:pathLst>
              <a:path w="113678" h="151571">
                <a:moveTo>
                  <a:pt x="50149" y="148788"/>
                </a:moveTo>
                <a:cubicBezTo>
                  <a:pt x="53849" y="152489"/>
                  <a:pt x="59859" y="152489"/>
                  <a:pt x="63559" y="148788"/>
                </a:cubicBezTo>
                <a:lnTo>
                  <a:pt x="110925" y="101422"/>
                </a:lnTo>
                <a:cubicBezTo>
                  <a:pt x="114626" y="97722"/>
                  <a:pt x="114626" y="91712"/>
                  <a:pt x="110925" y="88012"/>
                </a:cubicBezTo>
                <a:cubicBezTo>
                  <a:pt x="107225" y="84311"/>
                  <a:pt x="101215" y="84311"/>
                  <a:pt x="97515" y="88012"/>
                </a:cubicBezTo>
                <a:lnTo>
                  <a:pt x="66312" y="119214"/>
                </a:lnTo>
                <a:lnTo>
                  <a:pt x="66312" y="9473"/>
                </a:lnTo>
                <a:cubicBezTo>
                  <a:pt x="66312" y="4233"/>
                  <a:pt x="62079" y="0"/>
                  <a:pt x="56839" y="0"/>
                </a:cubicBezTo>
                <a:cubicBezTo>
                  <a:pt x="51599" y="0"/>
                  <a:pt x="47366" y="4233"/>
                  <a:pt x="47366" y="9473"/>
                </a:cubicBezTo>
                <a:lnTo>
                  <a:pt x="47366" y="119214"/>
                </a:lnTo>
                <a:lnTo>
                  <a:pt x="16164" y="88012"/>
                </a:lnTo>
                <a:cubicBezTo>
                  <a:pt x="12463" y="84311"/>
                  <a:pt x="6454" y="84311"/>
                  <a:pt x="2753" y="88012"/>
                </a:cubicBezTo>
                <a:cubicBezTo>
                  <a:pt x="-947" y="91712"/>
                  <a:pt x="-947" y="97722"/>
                  <a:pt x="2753" y="101422"/>
                </a:cubicBezTo>
                <a:lnTo>
                  <a:pt x="50119" y="148788"/>
                </a:ln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19" name="Text 17"/>
          <p:cNvSpPr/>
          <p:nvPr/>
        </p:nvSpPr>
        <p:spPr>
          <a:xfrm>
            <a:off x="1023105" y="3798751"/>
            <a:ext cx="485974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Time-Bound Projects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3105" y="4101893"/>
            <a:ext cx="4850275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Interventions ending when funding ceases, leaving no sustainable infrastructure or institutional memory.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8928" y="4897641"/>
            <a:ext cx="5608131" cy="937846"/>
          </a:xfrm>
          <a:custGeom>
            <a:avLst/>
            <a:gdLst/>
            <a:ahLst/>
            <a:cxnLst/>
            <a:rect l="l" t="t" r="r" b="b"/>
            <a:pathLst>
              <a:path w="5608131" h="937846">
                <a:moveTo>
                  <a:pt x="37889" y="0"/>
                </a:moveTo>
                <a:lnTo>
                  <a:pt x="5570242" y="0"/>
                </a:lnTo>
                <a:cubicBezTo>
                  <a:pt x="5591167" y="0"/>
                  <a:pt x="5608131" y="16963"/>
                  <a:pt x="5608131" y="37889"/>
                </a:cubicBezTo>
                <a:lnTo>
                  <a:pt x="5608131" y="899957"/>
                </a:lnTo>
                <a:cubicBezTo>
                  <a:pt x="5608131" y="920883"/>
                  <a:pt x="5591167" y="937846"/>
                  <a:pt x="5570242" y="937846"/>
                </a:cubicBezTo>
                <a:lnTo>
                  <a:pt x="37889" y="937846"/>
                </a:lnTo>
                <a:cubicBezTo>
                  <a:pt x="16963" y="937846"/>
                  <a:pt x="0" y="920883"/>
                  <a:pt x="0" y="899957"/>
                </a:cubicBezTo>
                <a:lnTo>
                  <a:pt x="0" y="37889"/>
                </a:lnTo>
                <a:cubicBezTo>
                  <a:pt x="0" y="16963"/>
                  <a:pt x="16963" y="0"/>
                  <a:pt x="37889" y="0"/>
                </a:cubicBezTo>
                <a:close/>
              </a:path>
            </a:pathLst>
          </a:custGeom>
          <a:solidFill>
            <a:srgbClr val="5F6F6B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49445" y="5193678"/>
            <a:ext cx="341035" cy="341035"/>
          </a:xfrm>
          <a:custGeom>
            <a:avLst/>
            <a:gdLst/>
            <a:ahLst/>
            <a:cxnLst/>
            <a:rect l="l" t="t" r="r" b="b"/>
            <a:pathLst>
              <a:path w="341035" h="341035">
                <a:moveTo>
                  <a:pt x="170517" y="0"/>
                </a:moveTo>
                <a:cubicBezTo>
                  <a:pt x="180309" y="0"/>
                  <a:pt x="189301" y="5395"/>
                  <a:pt x="193964" y="13988"/>
                </a:cubicBezTo>
                <a:lnTo>
                  <a:pt x="337838" y="280421"/>
                </a:lnTo>
                <a:cubicBezTo>
                  <a:pt x="342301" y="288681"/>
                  <a:pt x="342101" y="298672"/>
                  <a:pt x="337305" y="306732"/>
                </a:cubicBezTo>
                <a:cubicBezTo>
                  <a:pt x="332509" y="314791"/>
                  <a:pt x="323783" y="319720"/>
                  <a:pt x="314392" y="319720"/>
                </a:cubicBezTo>
                <a:lnTo>
                  <a:pt x="26643" y="319720"/>
                </a:lnTo>
                <a:cubicBezTo>
                  <a:pt x="17252" y="319720"/>
                  <a:pt x="8592" y="314791"/>
                  <a:pt x="3730" y="306732"/>
                </a:cubicBezTo>
                <a:cubicBezTo>
                  <a:pt x="-1132" y="298672"/>
                  <a:pt x="-1266" y="288681"/>
                  <a:pt x="3197" y="280421"/>
                </a:cubicBezTo>
                <a:lnTo>
                  <a:pt x="147071" y="13988"/>
                </a:lnTo>
                <a:cubicBezTo>
                  <a:pt x="151734" y="5395"/>
                  <a:pt x="160726" y="0"/>
                  <a:pt x="170517" y="0"/>
                </a:cubicBezTo>
                <a:close/>
                <a:moveTo>
                  <a:pt x="170517" y="111902"/>
                </a:moveTo>
                <a:cubicBezTo>
                  <a:pt x="161659" y="111902"/>
                  <a:pt x="154531" y="119029"/>
                  <a:pt x="154531" y="127888"/>
                </a:cubicBezTo>
                <a:lnTo>
                  <a:pt x="154531" y="202490"/>
                </a:lnTo>
                <a:cubicBezTo>
                  <a:pt x="154531" y="211348"/>
                  <a:pt x="161659" y="218476"/>
                  <a:pt x="170517" y="218476"/>
                </a:cubicBezTo>
                <a:cubicBezTo>
                  <a:pt x="179376" y="218476"/>
                  <a:pt x="186503" y="211348"/>
                  <a:pt x="186503" y="202490"/>
                </a:cubicBezTo>
                <a:lnTo>
                  <a:pt x="186503" y="127888"/>
                </a:lnTo>
                <a:cubicBezTo>
                  <a:pt x="186503" y="119029"/>
                  <a:pt x="179376" y="111902"/>
                  <a:pt x="170517" y="111902"/>
                </a:cubicBezTo>
                <a:close/>
                <a:moveTo>
                  <a:pt x="188302" y="255776"/>
                </a:moveTo>
                <a:cubicBezTo>
                  <a:pt x="188706" y="249175"/>
                  <a:pt x="185414" y="242894"/>
                  <a:pt x="179755" y="239471"/>
                </a:cubicBezTo>
                <a:cubicBezTo>
                  <a:pt x="174096" y="236048"/>
                  <a:pt x="167005" y="236048"/>
                  <a:pt x="161346" y="239471"/>
                </a:cubicBezTo>
                <a:cubicBezTo>
                  <a:pt x="155687" y="242894"/>
                  <a:pt x="152395" y="249175"/>
                  <a:pt x="152800" y="255776"/>
                </a:cubicBezTo>
                <a:cubicBezTo>
                  <a:pt x="152395" y="262378"/>
                  <a:pt x="155687" y="268658"/>
                  <a:pt x="161346" y="272081"/>
                </a:cubicBezTo>
                <a:cubicBezTo>
                  <a:pt x="167005" y="275504"/>
                  <a:pt x="174096" y="275504"/>
                  <a:pt x="179755" y="272081"/>
                </a:cubicBezTo>
                <a:cubicBezTo>
                  <a:pt x="185414" y="268658"/>
                  <a:pt x="188706" y="262378"/>
                  <a:pt x="188302" y="255776"/>
                </a:cubicBezTo>
                <a:close/>
              </a:path>
            </a:pathLst>
          </a:custGeom>
          <a:solidFill>
            <a:srgbClr val="5F6F6B"/>
          </a:solidFill>
          <a:ln/>
        </p:spPr>
      </p:sp>
      <p:sp>
        <p:nvSpPr>
          <p:cNvPr id="23" name="Text 21"/>
          <p:cNvSpPr/>
          <p:nvPr/>
        </p:nvSpPr>
        <p:spPr>
          <a:xfrm>
            <a:off x="1019230" y="5087105"/>
            <a:ext cx="4859748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r>
              <a:rPr lang="en-US" sz="1343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Systemic value leaks, declining efficiency, and farmer dependency on external inputs.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9109" y="1411506"/>
            <a:ext cx="5589184" cy="3334564"/>
          </a:xfrm>
          <a:custGeom>
            <a:avLst/>
            <a:gdLst/>
            <a:ahLst/>
            <a:cxnLst/>
            <a:rect l="l" t="t" r="r" b="b"/>
            <a:pathLst>
              <a:path w="5589184" h="3334564">
                <a:moveTo>
                  <a:pt x="37881" y="0"/>
                </a:moveTo>
                <a:lnTo>
                  <a:pt x="5551304" y="0"/>
                </a:lnTo>
                <a:cubicBezTo>
                  <a:pt x="5572224" y="0"/>
                  <a:pt x="5589184" y="16960"/>
                  <a:pt x="5589184" y="37881"/>
                </a:cubicBezTo>
                <a:lnTo>
                  <a:pt x="5589184" y="3296683"/>
                </a:lnTo>
                <a:cubicBezTo>
                  <a:pt x="5589184" y="3317604"/>
                  <a:pt x="5572224" y="3334564"/>
                  <a:pt x="5551304" y="3334564"/>
                </a:cubicBezTo>
                <a:lnTo>
                  <a:pt x="37881" y="3334564"/>
                </a:lnTo>
                <a:cubicBezTo>
                  <a:pt x="16960" y="3334564"/>
                  <a:pt x="0" y="3317604"/>
                  <a:pt x="0" y="3296683"/>
                </a:cubicBezTo>
                <a:lnTo>
                  <a:pt x="0" y="37881"/>
                </a:lnTo>
                <a:cubicBezTo>
                  <a:pt x="0" y="16974"/>
                  <a:pt x="16974" y="0"/>
                  <a:pt x="378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20" dist="947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29109" y="1411506"/>
            <a:ext cx="37893" cy="3334564"/>
          </a:xfrm>
          <a:custGeom>
            <a:avLst/>
            <a:gdLst/>
            <a:ahLst/>
            <a:cxnLst/>
            <a:rect l="l" t="t" r="r" b="b"/>
            <a:pathLst>
              <a:path w="37893" h="3334564">
                <a:moveTo>
                  <a:pt x="37893" y="0"/>
                </a:moveTo>
                <a:lnTo>
                  <a:pt x="37893" y="0"/>
                </a:lnTo>
                <a:lnTo>
                  <a:pt x="37893" y="3334564"/>
                </a:ln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65939" y="1638862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13678" y="227357"/>
                </a:moveTo>
                <a:cubicBezTo>
                  <a:pt x="176419" y="227357"/>
                  <a:pt x="227357" y="176419"/>
                  <a:pt x="227357" y="113678"/>
                </a:cubicBezTo>
                <a:cubicBezTo>
                  <a:pt x="227357" y="50938"/>
                  <a:pt x="176419" y="0"/>
                  <a:pt x="113678" y="0"/>
                </a:cubicBezTo>
                <a:cubicBezTo>
                  <a:pt x="50938" y="0"/>
                  <a:pt x="0" y="50938"/>
                  <a:pt x="0" y="113678"/>
                </a:cubicBezTo>
                <a:cubicBezTo>
                  <a:pt x="0" y="176419"/>
                  <a:pt x="50938" y="227357"/>
                  <a:pt x="113678" y="227357"/>
                </a:cubicBezTo>
                <a:close/>
                <a:moveTo>
                  <a:pt x="151157" y="94451"/>
                </a:moveTo>
                <a:lnTo>
                  <a:pt x="115632" y="151290"/>
                </a:lnTo>
                <a:cubicBezTo>
                  <a:pt x="113767" y="154265"/>
                  <a:pt x="110570" y="156130"/>
                  <a:pt x="107062" y="156308"/>
                </a:cubicBezTo>
                <a:cubicBezTo>
                  <a:pt x="103554" y="156485"/>
                  <a:pt x="100179" y="154887"/>
                  <a:pt x="98092" y="152045"/>
                </a:cubicBezTo>
                <a:lnTo>
                  <a:pt x="76777" y="123625"/>
                </a:lnTo>
                <a:cubicBezTo>
                  <a:pt x="73225" y="118918"/>
                  <a:pt x="74202" y="112257"/>
                  <a:pt x="78909" y="108705"/>
                </a:cubicBezTo>
                <a:cubicBezTo>
                  <a:pt x="83616" y="105152"/>
                  <a:pt x="90277" y="106129"/>
                  <a:pt x="93829" y="110836"/>
                </a:cubicBezTo>
                <a:lnTo>
                  <a:pt x="105819" y="126822"/>
                </a:lnTo>
                <a:lnTo>
                  <a:pt x="133084" y="83172"/>
                </a:lnTo>
                <a:cubicBezTo>
                  <a:pt x="136192" y="78198"/>
                  <a:pt x="142764" y="76644"/>
                  <a:pt x="147782" y="79797"/>
                </a:cubicBezTo>
                <a:cubicBezTo>
                  <a:pt x="152800" y="82950"/>
                  <a:pt x="154309" y="89477"/>
                  <a:pt x="151157" y="94495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7" name="Text 25"/>
          <p:cNvSpPr/>
          <p:nvPr/>
        </p:nvSpPr>
        <p:spPr>
          <a:xfrm>
            <a:off x="6721715" y="1600970"/>
            <a:ext cx="502079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GreenLoop Paradigm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37519" y="2093576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37893" y="0"/>
                </a:moveTo>
                <a:lnTo>
                  <a:pt x="265249" y="0"/>
                </a:lnTo>
                <a:cubicBezTo>
                  <a:pt x="286177" y="0"/>
                  <a:pt x="303142" y="16965"/>
                  <a:pt x="303142" y="37893"/>
                </a:cubicBezTo>
                <a:lnTo>
                  <a:pt x="303142" y="265249"/>
                </a:lnTo>
                <a:cubicBezTo>
                  <a:pt x="303142" y="286177"/>
                  <a:pt x="286177" y="303142"/>
                  <a:pt x="265249" y="303142"/>
                </a:cubicBezTo>
                <a:lnTo>
                  <a:pt x="37893" y="303142"/>
                </a:lnTo>
                <a:cubicBezTo>
                  <a:pt x="16965" y="303142"/>
                  <a:pt x="0" y="286177"/>
                  <a:pt x="0" y="265249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4C8A7A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32251" y="2169361"/>
            <a:ext cx="113678" cy="151571"/>
          </a:xfrm>
          <a:custGeom>
            <a:avLst/>
            <a:gdLst/>
            <a:ahLst/>
            <a:cxnLst/>
            <a:rect l="l" t="t" r="r" b="b"/>
            <a:pathLst>
              <a:path w="113678" h="151571">
                <a:moveTo>
                  <a:pt x="63530" y="5151"/>
                </a:moveTo>
                <a:cubicBezTo>
                  <a:pt x="59829" y="1451"/>
                  <a:pt x="53820" y="1451"/>
                  <a:pt x="50119" y="5151"/>
                </a:cubicBezTo>
                <a:lnTo>
                  <a:pt x="2753" y="52517"/>
                </a:lnTo>
                <a:cubicBezTo>
                  <a:pt x="-947" y="56217"/>
                  <a:pt x="-947" y="62227"/>
                  <a:pt x="2753" y="65928"/>
                </a:cubicBezTo>
                <a:cubicBezTo>
                  <a:pt x="6454" y="69628"/>
                  <a:pt x="12463" y="69628"/>
                  <a:pt x="16164" y="65928"/>
                </a:cubicBezTo>
                <a:lnTo>
                  <a:pt x="47366" y="34725"/>
                </a:lnTo>
                <a:lnTo>
                  <a:pt x="47366" y="144466"/>
                </a:lnTo>
                <a:cubicBezTo>
                  <a:pt x="47366" y="149706"/>
                  <a:pt x="51599" y="153939"/>
                  <a:pt x="56839" y="153939"/>
                </a:cubicBezTo>
                <a:cubicBezTo>
                  <a:pt x="62079" y="153939"/>
                  <a:pt x="66312" y="149706"/>
                  <a:pt x="66312" y="144466"/>
                </a:cubicBezTo>
                <a:lnTo>
                  <a:pt x="66312" y="34725"/>
                </a:lnTo>
                <a:lnTo>
                  <a:pt x="97515" y="65928"/>
                </a:lnTo>
                <a:cubicBezTo>
                  <a:pt x="101215" y="69628"/>
                  <a:pt x="107225" y="69628"/>
                  <a:pt x="110925" y="65928"/>
                </a:cubicBezTo>
                <a:cubicBezTo>
                  <a:pt x="114626" y="62227"/>
                  <a:pt x="114626" y="56217"/>
                  <a:pt x="110925" y="52517"/>
                </a:cubicBezTo>
                <a:lnTo>
                  <a:pt x="63559" y="5151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4340" y="2055683"/>
            <a:ext cx="485974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Farmers as Producers of Knowledge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4340" y="2358825"/>
            <a:ext cx="4850275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participants in the 4A Learning System, contributing feedback that drives AI-human collaborative analysis and policy adaptation.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37519" y="2965110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37893" y="0"/>
                </a:moveTo>
                <a:lnTo>
                  <a:pt x="265249" y="0"/>
                </a:lnTo>
                <a:cubicBezTo>
                  <a:pt x="286177" y="0"/>
                  <a:pt x="303142" y="16965"/>
                  <a:pt x="303142" y="37893"/>
                </a:cubicBezTo>
                <a:lnTo>
                  <a:pt x="303142" y="265249"/>
                </a:lnTo>
                <a:cubicBezTo>
                  <a:pt x="303142" y="286177"/>
                  <a:pt x="286177" y="303142"/>
                  <a:pt x="265249" y="303142"/>
                </a:cubicBezTo>
                <a:lnTo>
                  <a:pt x="37893" y="303142"/>
                </a:lnTo>
                <a:cubicBezTo>
                  <a:pt x="16965" y="303142"/>
                  <a:pt x="0" y="286177"/>
                  <a:pt x="0" y="265249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4C8A7A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32251" y="3040895"/>
            <a:ext cx="113678" cy="151571"/>
          </a:xfrm>
          <a:custGeom>
            <a:avLst/>
            <a:gdLst/>
            <a:ahLst/>
            <a:cxnLst/>
            <a:rect l="l" t="t" r="r" b="b"/>
            <a:pathLst>
              <a:path w="113678" h="151571">
                <a:moveTo>
                  <a:pt x="63530" y="5151"/>
                </a:moveTo>
                <a:cubicBezTo>
                  <a:pt x="59829" y="1451"/>
                  <a:pt x="53820" y="1451"/>
                  <a:pt x="50119" y="5151"/>
                </a:cubicBezTo>
                <a:lnTo>
                  <a:pt x="2753" y="52517"/>
                </a:lnTo>
                <a:cubicBezTo>
                  <a:pt x="-947" y="56217"/>
                  <a:pt x="-947" y="62227"/>
                  <a:pt x="2753" y="65928"/>
                </a:cubicBezTo>
                <a:cubicBezTo>
                  <a:pt x="6454" y="69628"/>
                  <a:pt x="12463" y="69628"/>
                  <a:pt x="16164" y="65928"/>
                </a:cubicBezTo>
                <a:lnTo>
                  <a:pt x="47366" y="34725"/>
                </a:lnTo>
                <a:lnTo>
                  <a:pt x="47366" y="144466"/>
                </a:lnTo>
                <a:cubicBezTo>
                  <a:pt x="47366" y="149706"/>
                  <a:pt x="51599" y="153939"/>
                  <a:pt x="56839" y="153939"/>
                </a:cubicBezTo>
                <a:cubicBezTo>
                  <a:pt x="62079" y="153939"/>
                  <a:pt x="66312" y="149706"/>
                  <a:pt x="66312" y="144466"/>
                </a:cubicBezTo>
                <a:lnTo>
                  <a:pt x="66312" y="34725"/>
                </a:lnTo>
                <a:lnTo>
                  <a:pt x="97515" y="65928"/>
                </a:lnTo>
                <a:cubicBezTo>
                  <a:pt x="101215" y="69628"/>
                  <a:pt x="107225" y="69628"/>
                  <a:pt x="110925" y="65928"/>
                </a:cubicBezTo>
                <a:cubicBezTo>
                  <a:pt x="114626" y="62227"/>
                  <a:pt x="114626" y="56217"/>
                  <a:pt x="110925" y="52517"/>
                </a:cubicBezTo>
                <a:lnTo>
                  <a:pt x="63559" y="5151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4" name="Text 32"/>
          <p:cNvSpPr/>
          <p:nvPr/>
        </p:nvSpPr>
        <p:spPr>
          <a:xfrm>
            <a:off x="6854340" y="2927217"/>
            <a:ext cx="485974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Site-Specific Precision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4340" y="3230359"/>
            <a:ext cx="4850275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12-parameter sensing with ML-based Redox Potential analysis enabling tailored prescriptions for optimal nutrient bioavailability.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37519" y="3836643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37893" y="0"/>
                </a:moveTo>
                <a:lnTo>
                  <a:pt x="265249" y="0"/>
                </a:lnTo>
                <a:cubicBezTo>
                  <a:pt x="286177" y="0"/>
                  <a:pt x="303142" y="16965"/>
                  <a:pt x="303142" y="37893"/>
                </a:cubicBezTo>
                <a:lnTo>
                  <a:pt x="303142" y="265249"/>
                </a:lnTo>
                <a:cubicBezTo>
                  <a:pt x="303142" y="286177"/>
                  <a:pt x="286177" y="303142"/>
                  <a:pt x="265249" y="303142"/>
                </a:cubicBezTo>
                <a:lnTo>
                  <a:pt x="37893" y="303142"/>
                </a:lnTo>
                <a:cubicBezTo>
                  <a:pt x="16965" y="303142"/>
                  <a:pt x="0" y="286177"/>
                  <a:pt x="0" y="265249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4C8A7A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32251" y="3912429"/>
            <a:ext cx="113678" cy="151571"/>
          </a:xfrm>
          <a:custGeom>
            <a:avLst/>
            <a:gdLst/>
            <a:ahLst/>
            <a:cxnLst/>
            <a:rect l="l" t="t" r="r" b="b"/>
            <a:pathLst>
              <a:path w="113678" h="151571">
                <a:moveTo>
                  <a:pt x="63530" y="5151"/>
                </a:moveTo>
                <a:cubicBezTo>
                  <a:pt x="59829" y="1451"/>
                  <a:pt x="53820" y="1451"/>
                  <a:pt x="50119" y="5151"/>
                </a:cubicBezTo>
                <a:lnTo>
                  <a:pt x="2753" y="52517"/>
                </a:lnTo>
                <a:cubicBezTo>
                  <a:pt x="-947" y="56217"/>
                  <a:pt x="-947" y="62227"/>
                  <a:pt x="2753" y="65928"/>
                </a:cubicBezTo>
                <a:cubicBezTo>
                  <a:pt x="6454" y="69628"/>
                  <a:pt x="12463" y="69628"/>
                  <a:pt x="16164" y="65928"/>
                </a:cubicBezTo>
                <a:lnTo>
                  <a:pt x="47366" y="34725"/>
                </a:lnTo>
                <a:lnTo>
                  <a:pt x="47366" y="144466"/>
                </a:lnTo>
                <a:cubicBezTo>
                  <a:pt x="47366" y="149706"/>
                  <a:pt x="51599" y="153939"/>
                  <a:pt x="56839" y="153939"/>
                </a:cubicBezTo>
                <a:cubicBezTo>
                  <a:pt x="62079" y="153939"/>
                  <a:pt x="66312" y="149706"/>
                  <a:pt x="66312" y="144466"/>
                </a:cubicBezTo>
                <a:lnTo>
                  <a:pt x="66312" y="34725"/>
                </a:lnTo>
                <a:lnTo>
                  <a:pt x="97515" y="65928"/>
                </a:lnTo>
                <a:cubicBezTo>
                  <a:pt x="101215" y="69628"/>
                  <a:pt x="107225" y="69628"/>
                  <a:pt x="110925" y="65928"/>
                </a:cubicBezTo>
                <a:cubicBezTo>
                  <a:pt x="114626" y="62227"/>
                  <a:pt x="114626" y="56217"/>
                  <a:pt x="110925" y="52517"/>
                </a:cubicBezTo>
                <a:lnTo>
                  <a:pt x="63559" y="5151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8" name="Text 36"/>
          <p:cNvSpPr/>
          <p:nvPr/>
        </p:nvSpPr>
        <p:spPr>
          <a:xfrm>
            <a:off x="6854340" y="3798751"/>
            <a:ext cx="485974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Circular Feedback Loop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54340" y="4101893"/>
            <a:ext cx="4850275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Self-sustaining ecosystem where rural development becomes a tech-enabled movement rather than a time-bound project.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0163" y="4897641"/>
            <a:ext cx="5608131" cy="937846"/>
          </a:xfrm>
          <a:custGeom>
            <a:avLst/>
            <a:gdLst/>
            <a:ahLst/>
            <a:cxnLst/>
            <a:rect l="l" t="t" r="r" b="b"/>
            <a:pathLst>
              <a:path w="5608131" h="937846">
                <a:moveTo>
                  <a:pt x="37889" y="0"/>
                </a:moveTo>
                <a:lnTo>
                  <a:pt x="5570242" y="0"/>
                </a:lnTo>
                <a:cubicBezTo>
                  <a:pt x="5591167" y="0"/>
                  <a:pt x="5608131" y="16963"/>
                  <a:pt x="5608131" y="37889"/>
                </a:cubicBezTo>
                <a:lnTo>
                  <a:pt x="5608131" y="899957"/>
                </a:lnTo>
                <a:cubicBezTo>
                  <a:pt x="5608131" y="920883"/>
                  <a:pt x="5591167" y="937846"/>
                  <a:pt x="5570242" y="937846"/>
                </a:cubicBezTo>
                <a:lnTo>
                  <a:pt x="37889" y="937846"/>
                </a:lnTo>
                <a:cubicBezTo>
                  <a:pt x="16963" y="937846"/>
                  <a:pt x="0" y="920883"/>
                  <a:pt x="0" y="899957"/>
                </a:cubicBezTo>
                <a:lnTo>
                  <a:pt x="0" y="37889"/>
                </a:lnTo>
                <a:cubicBezTo>
                  <a:pt x="0" y="16963"/>
                  <a:pt x="16963" y="0"/>
                  <a:pt x="37889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1" name="Shape 39"/>
          <p:cNvSpPr/>
          <p:nvPr/>
        </p:nvSpPr>
        <p:spPr>
          <a:xfrm>
            <a:off x="6342788" y="5193678"/>
            <a:ext cx="426294" cy="341035"/>
          </a:xfrm>
          <a:custGeom>
            <a:avLst/>
            <a:gdLst/>
            <a:ahLst/>
            <a:cxnLst/>
            <a:rect l="l" t="t" r="r" b="b"/>
            <a:pathLst>
              <a:path w="426294" h="341035">
                <a:moveTo>
                  <a:pt x="0" y="170517"/>
                </a:moveTo>
                <a:cubicBezTo>
                  <a:pt x="0" y="111636"/>
                  <a:pt x="47692" y="63944"/>
                  <a:pt x="106573" y="63944"/>
                </a:cubicBezTo>
                <a:cubicBezTo>
                  <a:pt x="140144" y="63944"/>
                  <a:pt x="171716" y="79730"/>
                  <a:pt x="191832" y="106573"/>
                </a:cubicBezTo>
                <a:lnTo>
                  <a:pt x="213147" y="135015"/>
                </a:lnTo>
                <a:lnTo>
                  <a:pt x="234462" y="106573"/>
                </a:lnTo>
                <a:cubicBezTo>
                  <a:pt x="254577" y="79730"/>
                  <a:pt x="286150" y="63944"/>
                  <a:pt x="319720" y="63944"/>
                </a:cubicBezTo>
                <a:cubicBezTo>
                  <a:pt x="378602" y="63944"/>
                  <a:pt x="426294" y="111636"/>
                  <a:pt x="426294" y="170517"/>
                </a:cubicBezTo>
                <a:cubicBezTo>
                  <a:pt x="426294" y="229399"/>
                  <a:pt x="378602" y="277091"/>
                  <a:pt x="319720" y="277091"/>
                </a:cubicBezTo>
                <a:cubicBezTo>
                  <a:pt x="286150" y="277091"/>
                  <a:pt x="254577" y="261305"/>
                  <a:pt x="234462" y="234462"/>
                </a:cubicBezTo>
                <a:lnTo>
                  <a:pt x="213147" y="206020"/>
                </a:lnTo>
                <a:lnTo>
                  <a:pt x="191832" y="234462"/>
                </a:lnTo>
                <a:cubicBezTo>
                  <a:pt x="171716" y="261305"/>
                  <a:pt x="140144" y="277091"/>
                  <a:pt x="106573" y="277091"/>
                </a:cubicBezTo>
                <a:cubicBezTo>
                  <a:pt x="47692" y="277091"/>
                  <a:pt x="0" y="229399"/>
                  <a:pt x="0" y="170517"/>
                </a:cubicBezTo>
                <a:close/>
                <a:moveTo>
                  <a:pt x="186503" y="170517"/>
                </a:moveTo>
                <a:lnTo>
                  <a:pt x="157729" y="132151"/>
                </a:lnTo>
                <a:cubicBezTo>
                  <a:pt x="145673" y="116032"/>
                  <a:pt x="126689" y="106573"/>
                  <a:pt x="106573" y="106573"/>
                </a:cubicBezTo>
                <a:cubicBezTo>
                  <a:pt x="71271" y="106573"/>
                  <a:pt x="42629" y="135215"/>
                  <a:pt x="42629" y="170517"/>
                </a:cubicBezTo>
                <a:cubicBezTo>
                  <a:pt x="42629" y="205820"/>
                  <a:pt x="71271" y="234462"/>
                  <a:pt x="106573" y="234462"/>
                </a:cubicBezTo>
                <a:cubicBezTo>
                  <a:pt x="126689" y="234462"/>
                  <a:pt x="145673" y="225003"/>
                  <a:pt x="157729" y="208884"/>
                </a:cubicBezTo>
                <a:lnTo>
                  <a:pt x="186503" y="170517"/>
                </a:lnTo>
                <a:close/>
                <a:moveTo>
                  <a:pt x="239790" y="170517"/>
                </a:moveTo>
                <a:lnTo>
                  <a:pt x="268565" y="208884"/>
                </a:lnTo>
                <a:cubicBezTo>
                  <a:pt x="280621" y="225003"/>
                  <a:pt x="299605" y="234462"/>
                  <a:pt x="319720" y="234462"/>
                </a:cubicBezTo>
                <a:cubicBezTo>
                  <a:pt x="355023" y="234462"/>
                  <a:pt x="383664" y="205820"/>
                  <a:pt x="383664" y="170517"/>
                </a:cubicBezTo>
                <a:cubicBezTo>
                  <a:pt x="383664" y="135215"/>
                  <a:pt x="355023" y="106573"/>
                  <a:pt x="319720" y="106573"/>
                </a:cubicBezTo>
                <a:cubicBezTo>
                  <a:pt x="299605" y="106573"/>
                  <a:pt x="280621" y="116032"/>
                  <a:pt x="268565" y="132151"/>
                </a:cubicBezTo>
                <a:lnTo>
                  <a:pt x="239790" y="170517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2" name="Text 40"/>
          <p:cNvSpPr/>
          <p:nvPr/>
        </p:nvSpPr>
        <p:spPr>
          <a:xfrm>
            <a:off x="6866343" y="5087105"/>
            <a:ext cx="4840802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r>
              <a:rPr lang="en-US" sz="134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Sustainable transformation where farmers are architects of their own prosperity.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78928" y="5982322"/>
            <a:ext cx="11434145" cy="871534"/>
          </a:xfrm>
          <a:custGeom>
            <a:avLst/>
            <a:gdLst/>
            <a:ahLst/>
            <a:cxnLst/>
            <a:rect l="l" t="t" r="r" b="b"/>
            <a:pathLst>
              <a:path w="11434145" h="871534">
                <a:moveTo>
                  <a:pt x="37894" y="0"/>
                </a:moveTo>
                <a:lnTo>
                  <a:pt x="11396250" y="0"/>
                </a:lnTo>
                <a:cubicBezTo>
                  <a:pt x="11417179" y="0"/>
                  <a:pt x="11434145" y="16966"/>
                  <a:pt x="11434145" y="37894"/>
                </a:cubicBezTo>
                <a:lnTo>
                  <a:pt x="11434145" y="833640"/>
                </a:lnTo>
                <a:cubicBezTo>
                  <a:pt x="11434145" y="854568"/>
                  <a:pt x="11417179" y="871534"/>
                  <a:pt x="11396250" y="871534"/>
                </a:cubicBezTo>
                <a:lnTo>
                  <a:pt x="37894" y="871534"/>
                </a:lnTo>
                <a:cubicBezTo>
                  <a:pt x="16966" y="871534"/>
                  <a:pt x="0" y="854568"/>
                  <a:pt x="0" y="833640"/>
                </a:cubicBezTo>
                <a:lnTo>
                  <a:pt x="0" y="37894"/>
                </a:lnTo>
                <a:cubicBezTo>
                  <a:pt x="0" y="16966"/>
                  <a:pt x="16966" y="0"/>
                  <a:pt x="37894" y="0"/>
                </a:cubicBezTo>
                <a:close/>
              </a:path>
            </a:pathLst>
          </a:custGeom>
          <a:solidFill>
            <a:srgbClr val="2F3E3B"/>
          </a:solidFill>
          <a:ln/>
        </p:spPr>
      </p:sp>
      <p:sp>
        <p:nvSpPr>
          <p:cNvPr id="44" name="Shape 42"/>
          <p:cNvSpPr/>
          <p:nvPr/>
        </p:nvSpPr>
        <p:spPr>
          <a:xfrm>
            <a:off x="573128" y="6247571"/>
            <a:ext cx="341035" cy="341035"/>
          </a:xfrm>
          <a:custGeom>
            <a:avLst/>
            <a:gdLst/>
            <a:ahLst/>
            <a:cxnLst/>
            <a:rect l="l" t="t" r="r" b="b"/>
            <a:pathLst>
              <a:path w="341035" h="341035">
                <a:moveTo>
                  <a:pt x="319787" y="127888"/>
                </a:moveTo>
                <a:lnTo>
                  <a:pt x="325049" y="127888"/>
                </a:lnTo>
                <a:cubicBezTo>
                  <a:pt x="333908" y="127888"/>
                  <a:pt x="341035" y="120761"/>
                  <a:pt x="341035" y="111902"/>
                </a:cubicBezTo>
                <a:lnTo>
                  <a:pt x="341035" y="15986"/>
                </a:lnTo>
                <a:cubicBezTo>
                  <a:pt x="341035" y="9525"/>
                  <a:pt x="337172" y="3663"/>
                  <a:pt x="331177" y="1199"/>
                </a:cubicBezTo>
                <a:cubicBezTo>
                  <a:pt x="325182" y="-1266"/>
                  <a:pt x="318322" y="133"/>
                  <a:pt x="313726" y="4663"/>
                </a:cubicBezTo>
                <a:lnTo>
                  <a:pt x="279289" y="39166"/>
                </a:lnTo>
                <a:cubicBezTo>
                  <a:pt x="249781" y="14720"/>
                  <a:pt x="211815" y="0"/>
                  <a:pt x="170517" y="0"/>
                </a:cubicBezTo>
                <a:cubicBezTo>
                  <a:pt x="84593" y="0"/>
                  <a:pt x="13522" y="63544"/>
                  <a:pt x="1732" y="146205"/>
                </a:cubicBezTo>
                <a:cubicBezTo>
                  <a:pt x="67" y="157862"/>
                  <a:pt x="8126" y="168652"/>
                  <a:pt x="19783" y="170318"/>
                </a:cubicBezTo>
                <a:cubicBezTo>
                  <a:pt x="31439" y="171983"/>
                  <a:pt x="42230" y="163857"/>
                  <a:pt x="43895" y="152267"/>
                </a:cubicBezTo>
                <a:cubicBezTo>
                  <a:pt x="52754" y="90254"/>
                  <a:pt x="106107" y="42629"/>
                  <a:pt x="170517" y="42629"/>
                </a:cubicBezTo>
                <a:cubicBezTo>
                  <a:pt x="200092" y="42629"/>
                  <a:pt x="227268" y="52621"/>
                  <a:pt x="248916" y="69473"/>
                </a:cubicBezTo>
                <a:lnTo>
                  <a:pt x="217809" y="100579"/>
                </a:lnTo>
                <a:cubicBezTo>
                  <a:pt x="213213" y="105175"/>
                  <a:pt x="211881" y="112035"/>
                  <a:pt x="214346" y="118030"/>
                </a:cubicBezTo>
                <a:cubicBezTo>
                  <a:pt x="216810" y="124025"/>
                  <a:pt x="222672" y="127888"/>
                  <a:pt x="229133" y="127888"/>
                </a:cubicBezTo>
                <a:lnTo>
                  <a:pt x="319787" y="127888"/>
                </a:lnTo>
                <a:close/>
                <a:moveTo>
                  <a:pt x="339370" y="194830"/>
                </a:moveTo>
                <a:cubicBezTo>
                  <a:pt x="341035" y="183173"/>
                  <a:pt x="332909" y="172383"/>
                  <a:pt x="321319" y="170717"/>
                </a:cubicBezTo>
                <a:cubicBezTo>
                  <a:pt x="309729" y="169052"/>
                  <a:pt x="298872" y="177178"/>
                  <a:pt x="297207" y="188768"/>
                </a:cubicBezTo>
                <a:cubicBezTo>
                  <a:pt x="288348" y="250714"/>
                  <a:pt x="234994" y="298339"/>
                  <a:pt x="170584" y="298339"/>
                </a:cubicBezTo>
                <a:cubicBezTo>
                  <a:pt x="141010" y="298339"/>
                  <a:pt x="113834" y="288348"/>
                  <a:pt x="92186" y="271496"/>
                </a:cubicBezTo>
                <a:lnTo>
                  <a:pt x="123226" y="240456"/>
                </a:lnTo>
                <a:cubicBezTo>
                  <a:pt x="127822" y="235860"/>
                  <a:pt x="129154" y="229000"/>
                  <a:pt x="126689" y="223005"/>
                </a:cubicBezTo>
                <a:cubicBezTo>
                  <a:pt x="124225" y="217010"/>
                  <a:pt x="118363" y="213147"/>
                  <a:pt x="111902" y="213147"/>
                </a:cubicBezTo>
                <a:lnTo>
                  <a:pt x="15986" y="213147"/>
                </a:lnTo>
                <a:cubicBezTo>
                  <a:pt x="7127" y="213147"/>
                  <a:pt x="0" y="220274"/>
                  <a:pt x="0" y="229133"/>
                </a:cubicBezTo>
                <a:lnTo>
                  <a:pt x="0" y="325049"/>
                </a:lnTo>
                <a:cubicBezTo>
                  <a:pt x="0" y="331510"/>
                  <a:pt x="3863" y="337372"/>
                  <a:pt x="9858" y="339836"/>
                </a:cubicBezTo>
                <a:cubicBezTo>
                  <a:pt x="15853" y="342301"/>
                  <a:pt x="22713" y="340902"/>
                  <a:pt x="27309" y="336372"/>
                </a:cubicBezTo>
                <a:lnTo>
                  <a:pt x="61813" y="301869"/>
                </a:lnTo>
                <a:cubicBezTo>
                  <a:pt x="91253" y="326315"/>
                  <a:pt x="129220" y="341035"/>
                  <a:pt x="170517" y="341035"/>
                </a:cubicBezTo>
                <a:cubicBezTo>
                  <a:pt x="256442" y="341035"/>
                  <a:pt x="327513" y="277491"/>
                  <a:pt x="339303" y="19483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5" name="Text 43"/>
          <p:cNvSpPr/>
          <p:nvPr/>
        </p:nvSpPr>
        <p:spPr>
          <a:xfrm>
            <a:off x="1108364" y="6152839"/>
            <a:ext cx="5494452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Circular Loop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08364" y="6455981"/>
            <a:ext cx="547550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4IR technologies + Participatory Action Research = Sustainable rural empowerment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956058" y="6133893"/>
            <a:ext cx="1705175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38" b="1" dirty="0">
                <a:solidFill>
                  <a:srgbClr val="8FB7A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3.5%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022370" y="6474928"/>
            <a:ext cx="163886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9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 Gain Potential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undp.org/287d23648f84d07cc020057470b23a59d255e3a9.jpg"/>
          <p:cNvPicPr>
            <a:picLocks noChangeAspect="1"/>
          </p:cNvPicPr>
          <p:nvPr/>
        </p:nvPicPr>
        <p:blipFill>
          <a:blip r:embed="rId3">
            <a:alphaModFix amt="25000"/>
          </a:blip>
          <a:srcRect l="18086" r="180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F3E3B">
                  <a:alpha val="95000"/>
                </a:srgbClr>
              </a:gs>
              <a:gs pos="50000">
                <a:srgbClr val="2F3E3B">
                  <a:alpha val="90000"/>
                </a:srgbClr>
              </a:gs>
              <a:gs pos="100000">
                <a:srgbClr val="4C8A7A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742855" y="104775"/>
            <a:ext cx="2705100" cy="381000"/>
          </a:xfrm>
          <a:custGeom>
            <a:avLst/>
            <a:gdLst/>
            <a:ahLst/>
            <a:cxnLst/>
            <a:rect l="l" t="t" r="r" b="b"/>
            <a:pathLst>
              <a:path w="2705100" h="381000">
                <a:moveTo>
                  <a:pt x="38100" y="0"/>
                </a:moveTo>
                <a:lnTo>
                  <a:pt x="2667000" y="0"/>
                </a:lnTo>
                <a:cubicBezTo>
                  <a:pt x="2688028" y="0"/>
                  <a:pt x="2705100" y="17072"/>
                  <a:pt x="2705100" y="38100"/>
                </a:cubicBezTo>
                <a:lnTo>
                  <a:pt x="2705100" y="342900"/>
                </a:lnTo>
                <a:cubicBezTo>
                  <a:pt x="2705100" y="363928"/>
                  <a:pt x="2688028" y="381000"/>
                  <a:pt x="26670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Text 2"/>
          <p:cNvSpPr/>
          <p:nvPr/>
        </p:nvSpPr>
        <p:spPr>
          <a:xfrm>
            <a:off x="4933355" y="18097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12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CIRDAP COMPETITION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2963" y="935533"/>
            <a:ext cx="100393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Building the Circular Frontier Together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3946" y="1657350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8" name="Text 5"/>
          <p:cNvSpPr/>
          <p:nvPr/>
        </p:nvSpPr>
        <p:spPr>
          <a:xfrm>
            <a:off x="1771596" y="2000250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GreenLoop 3.0 invites CIRDAP member countries to co-create a future where rural communities are not just beneficiaries but </a:t>
            </a:r>
            <a:r>
              <a:rPr lang="en-US" sz="1800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architects of their own prosperity</a:t>
            </a:r>
            <a:r>
              <a:rPr lang="en-US" sz="18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38400" y="3352800"/>
            <a:ext cx="1657350" cy="1447800"/>
          </a:xfrm>
          <a:custGeom>
            <a:avLst/>
            <a:gdLst/>
            <a:ahLst/>
            <a:cxnLst/>
            <a:rect l="l" t="t" r="r" b="b"/>
            <a:pathLst>
              <a:path w="1657350" h="1447800">
                <a:moveTo>
                  <a:pt x="38106" y="0"/>
                </a:moveTo>
                <a:lnTo>
                  <a:pt x="1619244" y="0"/>
                </a:lnTo>
                <a:cubicBezTo>
                  <a:pt x="1640289" y="0"/>
                  <a:pt x="1657350" y="17061"/>
                  <a:pt x="1657350" y="38106"/>
                </a:cubicBezTo>
                <a:lnTo>
                  <a:pt x="1657350" y="1409694"/>
                </a:lnTo>
                <a:cubicBezTo>
                  <a:pt x="1657350" y="1430739"/>
                  <a:pt x="1640289" y="1447800"/>
                  <a:pt x="1619244" y="1447800"/>
                </a:cubicBezTo>
                <a:lnTo>
                  <a:pt x="38106" y="1447800"/>
                </a:lnTo>
                <a:cubicBezTo>
                  <a:pt x="17061" y="1447800"/>
                  <a:pt x="0" y="1430739"/>
                  <a:pt x="0" y="1409694"/>
                </a:cubicBezTo>
                <a:lnTo>
                  <a:pt x="0" y="38106"/>
                </a:lnTo>
                <a:cubicBezTo>
                  <a:pt x="0" y="17075"/>
                  <a:pt x="17075" y="0"/>
                  <a:pt x="3810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095625" y="3543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42900" y="21431"/>
                </a:moveTo>
                <a:cubicBezTo>
                  <a:pt x="342900" y="93829"/>
                  <a:pt x="291599" y="154238"/>
                  <a:pt x="223421" y="168369"/>
                </a:cubicBezTo>
                <a:cubicBezTo>
                  <a:pt x="218130" y="129458"/>
                  <a:pt x="200650" y="94431"/>
                  <a:pt x="174866" y="67308"/>
                </a:cubicBezTo>
                <a:cubicBezTo>
                  <a:pt x="201722" y="26789"/>
                  <a:pt x="247732" y="0"/>
                  <a:pt x="300038" y="0"/>
                </a:cubicBezTo>
                <a:lnTo>
                  <a:pt x="321469" y="0"/>
                </a:lnTo>
                <a:cubicBezTo>
                  <a:pt x="333323" y="0"/>
                  <a:pt x="342900" y="9577"/>
                  <a:pt x="342900" y="21431"/>
                </a:cubicBezTo>
                <a:close/>
                <a:moveTo>
                  <a:pt x="0" y="64294"/>
                </a:moveTo>
                <a:cubicBezTo>
                  <a:pt x="0" y="52440"/>
                  <a:pt x="9577" y="42863"/>
                  <a:pt x="21431" y="42863"/>
                </a:cubicBezTo>
                <a:lnTo>
                  <a:pt x="42863" y="42863"/>
                </a:lnTo>
                <a:cubicBezTo>
                  <a:pt x="125708" y="42863"/>
                  <a:pt x="192881" y="110036"/>
                  <a:pt x="192881" y="192881"/>
                </a:cubicBezTo>
                <a:lnTo>
                  <a:pt x="192881" y="321469"/>
                </a:lnTo>
                <a:cubicBezTo>
                  <a:pt x="192881" y="333323"/>
                  <a:pt x="183304" y="342900"/>
                  <a:pt x="171450" y="342900"/>
                </a:cubicBezTo>
                <a:cubicBezTo>
                  <a:pt x="159596" y="342900"/>
                  <a:pt x="150019" y="333323"/>
                  <a:pt x="150019" y="321469"/>
                </a:cubicBezTo>
                <a:lnTo>
                  <a:pt x="150019" y="214313"/>
                </a:lnTo>
                <a:cubicBezTo>
                  <a:pt x="67174" y="214313"/>
                  <a:pt x="0" y="147139"/>
                  <a:pt x="0" y="64294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1" name="Text 8"/>
          <p:cNvSpPr/>
          <p:nvPr/>
        </p:nvSpPr>
        <p:spPr>
          <a:xfrm>
            <a:off x="2557463" y="4000500"/>
            <a:ext cx="1419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20-32%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590800" y="43815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Increase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24350" y="3352800"/>
            <a:ext cx="1657350" cy="1447800"/>
          </a:xfrm>
          <a:custGeom>
            <a:avLst/>
            <a:gdLst/>
            <a:ahLst/>
            <a:cxnLst/>
            <a:rect l="l" t="t" r="r" b="b"/>
            <a:pathLst>
              <a:path w="1657350" h="1447800">
                <a:moveTo>
                  <a:pt x="38106" y="0"/>
                </a:moveTo>
                <a:lnTo>
                  <a:pt x="1619244" y="0"/>
                </a:lnTo>
                <a:cubicBezTo>
                  <a:pt x="1640289" y="0"/>
                  <a:pt x="1657350" y="17061"/>
                  <a:pt x="1657350" y="38106"/>
                </a:cubicBezTo>
                <a:lnTo>
                  <a:pt x="1657350" y="1409694"/>
                </a:lnTo>
                <a:cubicBezTo>
                  <a:pt x="1657350" y="1430739"/>
                  <a:pt x="1640289" y="1447800"/>
                  <a:pt x="1619244" y="1447800"/>
                </a:cubicBezTo>
                <a:lnTo>
                  <a:pt x="38106" y="1447800"/>
                </a:lnTo>
                <a:cubicBezTo>
                  <a:pt x="17061" y="1447800"/>
                  <a:pt x="0" y="1430739"/>
                  <a:pt x="0" y="1409694"/>
                </a:cubicBezTo>
                <a:lnTo>
                  <a:pt x="0" y="38106"/>
                </a:lnTo>
                <a:cubicBezTo>
                  <a:pt x="0" y="17075"/>
                  <a:pt x="17075" y="0"/>
                  <a:pt x="3810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045869" y="3543300"/>
            <a:ext cx="214313" cy="342900"/>
          </a:xfrm>
          <a:custGeom>
            <a:avLst/>
            <a:gdLst/>
            <a:ahLst/>
            <a:cxnLst/>
            <a:rect l="l" t="t" r="r" b="b"/>
            <a:pathLst>
              <a:path w="214313" h="342900">
                <a:moveTo>
                  <a:pt x="91083" y="16073"/>
                </a:moveTo>
                <a:cubicBezTo>
                  <a:pt x="91083" y="7166"/>
                  <a:pt x="98249" y="0"/>
                  <a:pt x="107156" y="0"/>
                </a:cubicBezTo>
                <a:cubicBezTo>
                  <a:pt x="116064" y="0"/>
                  <a:pt x="123230" y="7166"/>
                  <a:pt x="123230" y="16073"/>
                </a:cubicBezTo>
                <a:lnTo>
                  <a:pt x="123230" y="42863"/>
                </a:lnTo>
                <a:lnTo>
                  <a:pt x="160734" y="42863"/>
                </a:lnTo>
                <a:cubicBezTo>
                  <a:pt x="172589" y="42863"/>
                  <a:pt x="182166" y="52440"/>
                  <a:pt x="182166" y="64294"/>
                </a:cubicBezTo>
                <a:cubicBezTo>
                  <a:pt x="182166" y="76148"/>
                  <a:pt x="172589" y="85725"/>
                  <a:pt x="160734" y="85725"/>
                </a:cubicBezTo>
                <a:lnTo>
                  <a:pt x="83783" y="85725"/>
                </a:lnTo>
                <a:cubicBezTo>
                  <a:pt x="67107" y="85725"/>
                  <a:pt x="53578" y="99253"/>
                  <a:pt x="53578" y="115930"/>
                </a:cubicBezTo>
                <a:cubicBezTo>
                  <a:pt x="53578" y="130999"/>
                  <a:pt x="64629" y="143723"/>
                  <a:pt x="79497" y="145866"/>
                </a:cubicBezTo>
                <a:lnTo>
                  <a:pt x="140843" y="154640"/>
                </a:lnTo>
                <a:cubicBezTo>
                  <a:pt x="176875" y="159797"/>
                  <a:pt x="203597" y="190604"/>
                  <a:pt x="203597" y="226970"/>
                </a:cubicBezTo>
                <a:cubicBezTo>
                  <a:pt x="203597" y="267355"/>
                  <a:pt x="170847" y="300038"/>
                  <a:pt x="130530" y="300038"/>
                </a:cubicBezTo>
                <a:lnTo>
                  <a:pt x="123230" y="300038"/>
                </a:lnTo>
                <a:lnTo>
                  <a:pt x="123230" y="326827"/>
                </a:lnTo>
                <a:cubicBezTo>
                  <a:pt x="123230" y="335734"/>
                  <a:pt x="116064" y="342900"/>
                  <a:pt x="107156" y="342900"/>
                </a:cubicBezTo>
                <a:cubicBezTo>
                  <a:pt x="98249" y="342900"/>
                  <a:pt x="91083" y="335734"/>
                  <a:pt x="91083" y="326827"/>
                </a:cubicBezTo>
                <a:lnTo>
                  <a:pt x="91083" y="300038"/>
                </a:lnTo>
                <a:lnTo>
                  <a:pt x="42863" y="300038"/>
                </a:lnTo>
                <a:cubicBezTo>
                  <a:pt x="31008" y="300038"/>
                  <a:pt x="21431" y="290460"/>
                  <a:pt x="21431" y="278606"/>
                </a:cubicBezTo>
                <a:cubicBezTo>
                  <a:pt x="21431" y="266752"/>
                  <a:pt x="31008" y="257175"/>
                  <a:pt x="42863" y="257175"/>
                </a:cubicBezTo>
                <a:lnTo>
                  <a:pt x="130530" y="257175"/>
                </a:lnTo>
                <a:cubicBezTo>
                  <a:pt x="147206" y="257175"/>
                  <a:pt x="160734" y="243647"/>
                  <a:pt x="160734" y="226970"/>
                </a:cubicBezTo>
                <a:cubicBezTo>
                  <a:pt x="160734" y="211901"/>
                  <a:pt x="149684" y="199177"/>
                  <a:pt x="134816" y="197034"/>
                </a:cubicBezTo>
                <a:lnTo>
                  <a:pt x="73469" y="188260"/>
                </a:lnTo>
                <a:cubicBezTo>
                  <a:pt x="37438" y="183170"/>
                  <a:pt x="10716" y="152296"/>
                  <a:pt x="10716" y="115930"/>
                </a:cubicBezTo>
                <a:cubicBezTo>
                  <a:pt x="10716" y="75612"/>
                  <a:pt x="43465" y="42863"/>
                  <a:pt x="83783" y="42863"/>
                </a:cubicBezTo>
                <a:lnTo>
                  <a:pt x="91083" y="42863"/>
                </a:lnTo>
                <a:lnTo>
                  <a:pt x="91083" y="16073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5" name="Text 12"/>
          <p:cNvSpPr/>
          <p:nvPr/>
        </p:nvSpPr>
        <p:spPr>
          <a:xfrm>
            <a:off x="4443413" y="4000500"/>
            <a:ext cx="1419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$72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76750" y="43815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Income Boost/Acre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0300" y="3352800"/>
            <a:ext cx="1657350" cy="1447800"/>
          </a:xfrm>
          <a:custGeom>
            <a:avLst/>
            <a:gdLst/>
            <a:ahLst/>
            <a:cxnLst/>
            <a:rect l="l" t="t" r="r" b="b"/>
            <a:pathLst>
              <a:path w="1657350" h="1447800">
                <a:moveTo>
                  <a:pt x="38106" y="0"/>
                </a:moveTo>
                <a:lnTo>
                  <a:pt x="1619244" y="0"/>
                </a:lnTo>
                <a:cubicBezTo>
                  <a:pt x="1640289" y="0"/>
                  <a:pt x="1657350" y="17061"/>
                  <a:pt x="1657350" y="38106"/>
                </a:cubicBezTo>
                <a:lnTo>
                  <a:pt x="1657350" y="1409694"/>
                </a:lnTo>
                <a:cubicBezTo>
                  <a:pt x="1657350" y="1430739"/>
                  <a:pt x="1640289" y="1447800"/>
                  <a:pt x="1619244" y="1447800"/>
                </a:cubicBezTo>
                <a:lnTo>
                  <a:pt x="38106" y="1447800"/>
                </a:lnTo>
                <a:cubicBezTo>
                  <a:pt x="17061" y="1447800"/>
                  <a:pt x="0" y="1430739"/>
                  <a:pt x="0" y="1409694"/>
                </a:cubicBezTo>
                <a:lnTo>
                  <a:pt x="0" y="38106"/>
                </a:lnTo>
                <a:cubicBezTo>
                  <a:pt x="0" y="17075"/>
                  <a:pt x="17075" y="0"/>
                  <a:pt x="3810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824663" y="3543300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14313" y="10716"/>
                </a:moveTo>
                <a:cubicBezTo>
                  <a:pt x="252754" y="10716"/>
                  <a:pt x="283964" y="41925"/>
                  <a:pt x="283964" y="80367"/>
                </a:cubicBezTo>
                <a:cubicBezTo>
                  <a:pt x="283964" y="118809"/>
                  <a:pt x="252754" y="150019"/>
                  <a:pt x="214313" y="150019"/>
                </a:cubicBezTo>
                <a:cubicBezTo>
                  <a:pt x="175871" y="150019"/>
                  <a:pt x="144661" y="118809"/>
                  <a:pt x="144661" y="80367"/>
                </a:cubicBezTo>
                <a:cubicBezTo>
                  <a:pt x="144661" y="41925"/>
                  <a:pt x="175871" y="10716"/>
                  <a:pt x="214313" y="10716"/>
                </a:cubicBezTo>
                <a:close/>
                <a:moveTo>
                  <a:pt x="64294" y="58936"/>
                </a:moveTo>
                <a:cubicBezTo>
                  <a:pt x="90907" y="58936"/>
                  <a:pt x="112514" y="80543"/>
                  <a:pt x="112514" y="107156"/>
                </a:cubicBezTo>
                <a:cubicBezTo>
                  <a:pt x="112514" y="133770"/>
                  <a:pt x="90907" y="155377"/>
                  <a:pt x="64294" y="155377"/>
                </a:cubicBezTo>
                <a:cubicBezTo>
                  <a:pt x="37680" y="155377"/>
                  <a:pt x="16073" y="133770"/>
                  <a:pt x="16073" y="107156"/>
                </a:cubicBezTo>
                <a:cubicBezTo>
                  <a:pt x="16073" y="80543"/>
                  <a:pt x="37680" y="58936"/>
                  <a:pt x="64294" y="58936"/>
                </a:cubicBezTo>
                <a:close/>
                <a:moveTo>
                  <a:pt x="0" y="278606"/>
                </a:moveTo>
                <a:cubicBezTo>
                  <a:pt x="0" y="231257"/>
                  <a:pt x="38375" y="192881"/>
                  <a:pt x="85725" y="192881"/>
                </a:cubicBezTo>
                <a:cubicBezTo>
                  <a:pt x="94298" y="192881"/>
                  <a:pt x="102602" y="194154"/>
                  <a:pt x="110438" y="196498"/>
                </a:cubicBezTo>
                <a:cubicBezTo>
                  <a:pt x="88404" y="221144"/>
                  <a:pt x="75009" y="253692"/>
                  <a:pt x="75009" y="289322"/>
                </a:cubicBezTo>
                <a:lnTo>
                  <a:pt x="75009" y="300038"/>
                </a:lnTo>
                <a:cubicBezTo>
                  <a:pt x="75009" y="307672"/>
                  <a:pt x="76617" y="314905"/>
                  <a:pt x="79497" y="321469"/>
                </a:cubicBezTo>
                <a:lnTo>
                  <a:pt x="21431" y="321469"/>
                </a:lnTo>
                <a:cubicBezTo>
                  <a:pt x="9577" y="321469"/>
                  <a:pt x="0" y="311892"/>
                  <a:pt x="0" y="300038"/>
                </a:cubicBezTo>
                <a:lnTo>
                  <a:pt x="0" y="278606"/>
                </a:lnTo>
                <a:close/>
                <a:moveTo>
                  <a:pt x="349128" y="321469"/>
                </a:moveTo>
                <a:cubicBezTo>
                  <a:pt x="352008" y="314905"/>
                  <a:pt x="353616" y="307672"/>
                  <a:pt x="353616" y="300038"/>
                </a:cubicBezTo>
                <a:lnTo>
                  <a:pt x="353616" y="289322"/>
                </a:lnTo>
                <a:cubicBezTo>
                  <a:pt x="353616" y="253692"/>
                  <a:pt x="340221" y="221144"/>
                  <a:pt x="318187" y="196498"/>
                </a:cubicBezTo>
                <a:cubicBezTo>
                  <a:pt x="326023" y="194154"/>
                  <a:pt x="334328" y="192881"/>
                  <a:pt x="342900" y="192881"/>
                </a:cubicBezTo>
                <a:cubicBezTo>
                  <a:pt x="390250" y="192881"/>
                  <a:pt x="428625" y="231257"/>
                  <a:pt x="428625" y="278606"/>
                </a:cubicBezTo>
                <a:lnTo>
                  <a:pt x="428625" y="300038"/>
                </a:lnTo>
                <a:cubicBezTo>
                  <a:pt x="428625" y="311892"/>
                  <a:pt x="419048" y="321469"/>
                  <a:pt x="407194" y="321469"/>
                </a:cubicBezTo>
                <a:lnTo>
                  <a:pt x="349128" y="321469"/>
                </a:lnTo>
                <a:close/>
                <a:moveTo>
                  <a:pt x="316111" y="107156"/>
                </a:moveTo>
                <a:cubicBezTo>
                  <a:pt x="316111" y="80543"/>
                  <a:pt x="337718" y="58936"/>
                  <a:pt x="364331" y="58936"/>
                </a:cubicBezTo>
                <a:cubicBezTo>
                  <a:pt x="390945" y="58936"/>
                  <a:pt x="412552" y="80543"/>
                  <a:pt x="412552" y="107156"/>
                </a:cubicBezTo>
                <a:cubicBezTo>
                  <a:pt x="412552" y="133770"/>
                  <a:pt x="390945" y="155377"/>
                  <a:pt x="364331" y="155377"/>
                </a:cubicBezTo>
                <a:cubicBezTo>
                  <a:pt x="337718" y="155377"/>
                  <a:pt x="316111" y="133770"/>
                  <a:pt x="316111" y="107156"/>
                </a:cubicBezTo>
                <a:close/>
                <a:moveTo>
                  <a:pt x="107156" y="289322"/>
                </a:moveTo>
                <a:cubicBezTo>
                  <a:pt x="107156" y="230118"/>
                  <a:pt x="155109" y="182166"/>
                  <a:pt x="214313" y="182166"/>
                </a:cubicBezTo>
                <a:cubicBezTo>
                  <a:pt x="273516" y="182166"/>
                  <a:pt x="321469" y="230118"/>
                  <a:pt x="321469" y="289322"/>
                </a:cubicBezTo>
                <a:lnTo>
                  <a:pt x="321469" y="300038"/>
                </a:lnTo>
                <a:cubicBezTo>
                  <a:pt x="321469" y="311892"/>
                  <a:pt x="311892" y="321469"/>
                  <a:pt x="300038" y="321469"/>
                </a:cubicBezTo>
                <a:lnTo>
                  <a:pt x="128588" y="321469"/>
                </a:lnTo>
                <a:cubicBezTo>
                  <a:pt x="116733" y="321469"/>
                  <a:pt x="107156" y="311892"/>
                  <a:pt x="107156" y="300038"/>
                </a:cubicBezTo>
                <a:lnTo>
                  <a:pt x="107156" y="289322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9" name="Text 16"/>
          <p:cNvSpPr/>
          <p:nvPr/>
        </p:nvSpPr>
        <p:spPr>
          <a:xfrm>
            <a:off x="6329363" y="4000500"/>
            <a:ext cx="1419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62700" y="43815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 Countries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096250" y="3352800"/>
            <a:ext cx="1657350" cy="1447800"/>
          </a:xfrm>
          <a:custGeom>
            <a:avLst/>
            <a:gdLst/>
            <a:ahLst/>
            <a:cxnLst/>
            <a:rect l="l" t="t" r="r" b="b"/>
            <a:pathLst>
              <a:path w="1657350" h="1447800">
                <a:moveTo>
                  <a:pt x="38106" y="0"/>
                </a:moveTo>
                <a:lnTo>
                  <a:pt x="1619244" y="0"/>
                </a:lnTo>
                <a:cubicBezTo>
                  <a:pt x="1640289" y="0"/>
                  <a:pt x="1657350" y="17061"/>
                  <a:pt x="1657350" y="38106"/>
                </a:cubicBezTo>
                <a:lnTo>
                  <a:pt x="1657350" y="1409694"/>
                </a:lnTo>
                <a:cubicBezTo>
                  <a:pt x="1657350" y="1430739"/>
                  <a:pt x="1640289" y="1447800"/>
                  <a:pt x="1619244" y="1447800"/>
                </a:cubicBezTo>
                <a:lnTo>
                  <a:pt x="38106" y="1447800"/>
                </a:lnTo>
                <a:cubicBezTo>
                  <a:pt x="17061" y="1447800"/>
                  <a:pt x="0" y="1430739"/>
                  <a:pt x="0" y="1409694"/>
                </a:cubicBezTo>
                <a:lnTo>
                  <a:pt x="0" y="38106"/>
                </a:lnTo>
                <a:cubicBezTo>
                  <a:pt x="0" y="17075"/>
                  <a:pt x="17075" y="0"/>
                  <a:pt x="3810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753475" y="3543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3486" y="190738"/>
                </a:moveTo>
                <a:cubicBezTo>
                  <a:pt x="36299" y="192145"/>
                  <a:pt x="39514" y="192881"/>
                  <a:pt x="42863" y="192881"/>
                </a:cubicBezTo>
                <a:lnTo>
                  <a:pt x="76818" y="192881"/>
                </a:lnTo>
                <a:cubicBezTo>
                  <a:pt x="82510" y="192881"/>
                  <a:pt x="87935" y="195158"/>
                  <a:pt x="91953" y="199177"/>
                </a:cubicBezTo>
                <a:lnTo>
                  <a:pt x="100861" y="208084"/>
                </a:lnTo>
                <a:cubicBezTo>
                  <a:pt x="104879" y="212102"/>
                  <a:pt x="110304" y="214379"/>
                  <a:pt x="115997" y="214379"/>
                </a:cubicBezTo>
                <a:lnTo>
                  <a:pt x="128521" y="214379"/>
                </a:lnTo>
                <a:cubicBezTo>
                  <a:pt x="140375" y="214379"/>
                  <a:pt x="149952" y="204802"/>
                  <a:pt x="149952" y="192948"/>
                </a:cubicBezTo>
                <a:lnTo>
                  <a:pt x="149952" y="166159"/>
                </a:lnTo>
                <a:cubicBezTo>
                  <a:pt x="149952" y="157252"/>
                  <a:pt x="157118" y="150086"/>
                  <a:pt x="166025" y="150086"/>
                </a:cubicBezTo>
                <a:cubicBezTo>
                  <a:pt x="174933" y="150086"/>
                  <a:pt x="182099" y="142920"/>
                  <a:pt x="182099" y="134012"/>
                </a:cubicBezTo>
                <a:lnTo>
                  <a:pt x="182099" y="105415"/>
                </a:lnTo>
                <a:cubicBezTo>
                  <a:pt x="182099" y="99722"/>
                  <a:pt x="184376" y="94297"/>
                  <a:pt x="188394" y="90279"/>
                </a:cubicBezTo>
                <a:lnTo>
                  <a:pt x="197301" y="81372"/>
                </a:lnTo>
                <a:cubicBezTo>
                  <a:pt x="201320" y="77353"/>
                  <a:pt x="203597" y="71929"/>
                  <a:pt x="203597" y="66236"/>
                </a:cubicBezTo>
                <a:lnTo>
                  <a:pt x="203597" y="38174"/>
                </a:lnTo>
                <a:cubicBezTo>
                  <a:pt x="203597" y="37371"/>
                  <a:pt x="203530" y="36634"/>
                  <a:pt x="203463" y="35830"/>
                </a:cubicBezTo>
                <a:cubicBezTo>
                  <a:pt x="193149" y="33419"/>
                  <a:pt x="182434" y="32147"/>
                  <a:pt x="171450" y="32147"/>
                </a:cubicBezTo>
                <a:cubicBezTo>
                  <a:pt x="94498" y="32147"/>
                  <a:pt x="32147" y="94498"/>
                  <a:pt x="32147" y="171450"/>
                </a:cubicBezTo>
                <a:cubicBezTo>
                  <a:pt x="32147" y="178013"/>
                  <a:pt x="32616" y="184443"/>
                  <a:pt x="33486" y="190738"/>
                </a:cubicBezTo>
                <a:close/>
                <a:moveTo>
                  <a:pt x="303587" y="215719"/>
                </a:moveTo>
                <a:cubicBezTo>
                  <a:pt x="301444" y="214781"/>
                  <a:pt x="299100" y="214313"/>
                  <a:pt x="296555" y="214313"/>
                </a:cubicBezTo>
                <a:lnTo>
                  <a:pt x="289322" y="214313"/>
                </a:lnTo>
                <a:cubicBezTo>
                  <a:pt x="283428" y="214313"/>
                  <a:pt x="278606" y="209490"/>
                  <a:pt x="278606" y="203597"/>
                </a:cubicBezTo>
                <a:cubicBezTo>
                  <a:pt x="278606" y="197703"/>
                  <a:pt x="273784" y="192881"/>
                  <a:pt x="267891" y="192881"/>
                </a:cubicBezTo>
                <a:lnTo>
                  <a:pt x="244651" y="192881"/>
                </a:lnTo>
                <a:cubicBezTo>
                  <a:pt x="238958" y="192881"/>
                  <a:pt x="233534" y="195158"/>
                  <a:pt x="229515" y="199177"/>
                </a:cubicBezTo>
                <a:lnTo>
                  <a:pt x="199177" y="229515"/>
                </a:lnTo>
                <a:cubicBezTo>
                  <a:pt x="195158" y="233534"/>
                  <a:pt x="192881" y="238958"/>
                  <a:pt x="192881" y="244651"/>
                </a:cubicBezTo>
                <a:lnTo>
                  <a:pt x="192881" y="257175"/>
                </a:lnTo>
                <a:cubicBezTo>
                  <a:pt x="192881" y="269029"/>
                  <a:pt x="202458" y="278606"/>
                  <a:pt x="214313" y="278606"/>
                </a:cubicBezTo>
                <a:lnTo>
                  <a:pt x="226836" y="278606"/>
                </a:lnTo>
                <a:cubicBezTo>
                  <a:pt x="232529" y="278606"/>
                  <a:pt x="237954" y="280883"/>
                  <a:pt x="241972" y="284902"/>
                </a:cubicBezTo>
                <a:cubicBezTo>
                  <a:pt x="243446" y="286375"/>
                  <a:pt x="245120" y="287648"/>
                  <a:pt x="246861" y="288585"/>
                </a:cubicBezTo>
                <a:cubicBezTo>
                  <a:pt x="273181" y="271574"/>
                  <a:pt x="293407" y="245991"/>
                  <a:pt x="303520" y="215719"/>
                </a:cubicBez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85725" y="246459"/>
                </a:moveTo>
                <a:cubicBezTo>
                  <a:pt x="85725" y="252353"/>
                  <a:pt x="90547" y="257175"/>
                  <a:pt x="96441" y="257175"/>
                </a:cubicBezTo>
                <a:lnTo>
                  <a:pt x="117872" y="257175"/>
                </a:lnTo>
                <a:cubicBezTo>
                  <a:pt x="123765" y="257175"/>
                  <a:pt x="128588" y="252353"/>
                  <a:pt x="128588" y="246459"/>
                </a:cubicBezTo>
                <a:cubicBezTo>
                  <a:pt x="128588" y="240566"/>
                  <a:pt x="123765" y="235744"/>
                  <a:pt x="117872" y="235744"/>
                </a:cubicBezTo>
                <a:lnTo>
                  <a:pt x="96441" y="235744"/>
                </a:lnTo>
                <a:cubicBezTo>
                  <a:pt x="90547" y="235744"/>
                  <a:pt x="85725" y="240566"/>
                  <a:pt x="85725" y="246459"/>
                </a:cubicBezTo>
                <a:close/>
                <a:moveTo>
                  <a:pt x="182166" y="171450"/>
                </a:moveTo>
                <a:cubicBezTo>
                  <a:pt x="176272" y="171450"/>
                  <a:pt x="171450" y="176272"/>
                  <a:pt x="171450" y="182166"/>
                </a:cubicBezTo>
                <a:lnTo>
                  <a:pt x="171450" y="203597"/>
                </a:lnTo>
                <a:cubicBezTo>
                  <a:pt x="171450" y="209490"/>
                  <a:pt x="176272" y="214313"/>
                  <a:pt x="182166" y="214313"/>
                </a:cubicBezTo>
                <a:cubicBezTo>
                  <a:pt x="188059" y="214313"/>
                  <a:pt x="192881" y="209490"/>
                  <a:pt x="192881" y="203597"/>
                </a:cubicBezTo>
                <a:lnTo>
                  <a:pt x="192881" y="182166"/>
                </a:lnTo>
                <a:cubicBezTo>
                  <a:pt x="192881" y="176272"/>
                  <a:pt x="188059" y="171450"/>
                  <a:pt x="182166" y="171450"/>
                </a:cubicBezTo>
                <a:close/>
                <a:moveTo>
                  <a:pt x="214313" y="96441"/>
                </a:moveTo>
                <a:lnTo>
                  <a:pt x="214313" y="117872"/>
                </a:lnTo>
                <a:cubicBezTo>
                  <a:pt x="214313" y="123765"/>
                  <a:pt x="219135" y="128588"/>
                  <a:pt x="225028" y="128588"/>
                </a:cubicBezTo>
                <a:cubicBezTo>
                  <a:pt x="230922" y="128588"/>
                  <a:pt x="235744" y="123765"/>
                  <a:pt x="235744" y="117872"/>
                </a:cubicBezTo>
                <a:lnTo>
                  <a:pt x="235744" y="96441"/>
                </a:lnTo>
                <a:cubicBezTo>
                  <a:pt x="235744" y="90547"/>
                  <a:pt x="230922" y="85725"/>
                  <a:pt x="225028" y="85725"/>
                </a:cubicBezTo>
                <a:cubicBezTo>
                  <a:pt x="219135" y="85725"/>
                  <a:pt x="214313" y="90547"/>
                  <a:pt x="214313" y="96441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3" name="Text 20"/>
          <p:cNvSpPr/>
          <p:nvPr/>
        </p:nvSpPr>
        <p:spPr>
          <a:xfrm>
            <a:off x="8215313" y="4000500"/>
            <a:ext cx="1419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2030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48650" y="43815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 Target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828800" y="5105400"/>
            <a:ext cx="8534400" cy="1076325"/>
          </a:xfrm>
          <a:custGeom>
            <a:avLst/>
            <a:gdLst/>
            <a:ahLst/>
            <a:cxnLst/>
            <a:rect l="l" t="t" r="r" b="b"/>
            <a:pathLst>
              <a:path w="8534400" h="1076325">
                <a:moveTo>
                  <a:pt x="38102" y="0"/>
                </a:moveTo>
                <a:lnTo>
                  <a:pt x="8496298" y="0"/>
                </a:lnTo>
                <a:cubicBezTo>
                  <a:pt x="8517341" y="0"/>
                  <a:pt x="8534400" y="17059"/>
                  <a:pt x="8534400" y="38102"/>
                </a:cubicBezTo>
                <a:lnTo>
                  <a:pt x="8534400" y="1038223"/>
                </a:lnTo>
                <a:cubicBezTo>
                  <a:pt x="8534400" y="1059266"/>
                  <a:pt x="8517341" y="1076325"/>
                  <a:pt x="8496298" y="1076325"/>
                </a:cubicBezTo>
                <a:lnTo>
                  <a:pt x="38102" y="1076325"/>
                </a:lnTo>
                <a:cubicBezTo>
                  <a:pt x="17059" y="1076325"/>
                  <a:pt x="0" y="1059266"/>
                  <a:pt x="0" y="1038223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C8A7A">
              <a:alpha val="30196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294659" y="538596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7" name="Text 24"/>
          <p:cNvSpPr/>
          <p:nvPr/>
        </p:nvSpPr>
        <p:spPr>
          <a:xfrm>
            <a:off x="2305050" y="5334000"/>
            <a:ext cx="78771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Together, we scale the circular frontier—transforming farmers from passive consumers of advice into sophisticated </a:t>
            </a:r>
            <a:r>
              <a:rPr lang="en-US" sz="1500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producers of knowledge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809838" y="648652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GreenLoop 3.0 | Circular Agriculture for Rural Empowerment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GreenLoop 3.0 - Circular Agriculture for Rural Empowerment</dc:title>
  <dc:subject>GreenLoop 3.0 - Circular Agriculture for Rural Empowerment</dc:subject>
  <dc:creator>Kimi</dc:creator>
  <cp:lastModifiedBy>Abu Md Moniruzjaman</cp:lastModifiedBy>
  <cp:revision>2</cp:revision>
  <dcterms:created xsi:type="dcterms:W3CDTF">2026-03-25T11:22:42Z</dcterms:created>
  <dcterms:modified xsi:type="dcterms:W3CDTF">2026-03-25T11:37:32Z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{"Label":"GreenLoop 3.0 - Circular Agriculture for Rural Empowerment","ContentProducer":"001191110108MACG2KBH8F10000","ProduceID":"19d24b18-4712-8d3b-8000-00004e556ff4","ReservedCode1":"","ContentPropagator":"001191110108MACG2KBH8F20000","PropagateID":"19d24b18-4712-8d3b-8000-00004e556ff4","ReservedCode2":""}</vt:lpwstr>
  </property>
</Properties>
</file>